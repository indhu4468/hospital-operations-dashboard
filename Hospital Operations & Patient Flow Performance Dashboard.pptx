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6"/>
  </p:notesMasterIdLst>
  <p:sldIdLst>
    <p:sldId id="256" r:id="rId4"/>
    <p:sldId id="269" r:id="rId5"/>
    <p:sldId id="270" r:id="rId7"/>
    <p:sldId id="263" r:id="rId8"/>
    <p:sldId id="272" r:id="rId9"/>
    <p:sldId id="290" r:id="rId10"/>
    <p:sldId id="273" r:id="rId11"/>
    <p:sldId id="286" r:id="rId12"/>
    <p:sldId id="264" r:id="rId13"/>
    <p:sldId id="282" r:id="rId14"/>
    <p:sldId id="278" r:id="rId15"/>
    <p:sldId id="285" r:id="rId16"/>
    <p:sldId id="289" r:id="rId17"/>
    <p:sldId id="287" r:id="rId18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Full" cryptAlgorithmClass="hash" cryptAlgorithmType="typeAny" cryptAlgorithmSid="4" spinCount="100000" saltData="FfGntbujMIWLXC2EeKBDbg==" hashData="Oek3VwVIbmWxLKc66oOTX2Sf9uE="/>
  <p:extLst>
    <p:ext uri="{521415D9-36F7-43E2-AB2F-B90AF26B5E84}">
      <p14:sectionLst xmlns:p14="http://schemas.microsoft.com/office/powerpoint/2010/main">
        <p14:section name="Default Section" id="{e31497aa-fa33-4791-9534-098c7bced603}">
          <p14:sldIdLst>
            <p14:sldId id="256"/>
            <p14:sldId id="269"/>
            <p14:sldId id="270"/>
            <p14:sldId id="263"/>
            <p14:sldId id="272"/>
            <p14:sldId id="290"/>
            <p14:sldId id="273"/>
            <p14:sldId id="286"/>
            <p14:sldId id="264"/>
            <p14:sldId id="282"/>
            <p14:sldId id="278"/>
            <p14:sldId id="285"/>
            <p14:sldId id="289"/>
            <p14:sldId id="2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0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08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01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gs" Target="tags/tag195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image" Target="../media/image3.svg"/><Relationship Id="rId12" Type="http://schemas.openxmlformats.org/officeDocument/2006/relationships/image" Target="../media/image2.png"/><Relationship Id="rId11" Type="http://schemas.openxmlformats.org/officeDocument/2006/relationships/tags" Target="../tags/tag13.xml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9" Type="http://schemas.openxmlformats.org/officeDocument/2006/relationships/tags" Target="../tags/tag47.xml"/><Relationship Id="rId18" Type="http://schemas.openxmlformats.org/officeDocument/2006/relationships/tags" Target="../tags/tag46.xml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image" Target="../media/image4.png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5" Type="http://schemas.openxmlformats.org/officeDocument/2006/relationships/tags" Target="../tags/tag90.xml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 wrap="square" lIns="0" tIns="0" rIns="0" bIns="0">
            <a:normAutofit/>
          </a:bodyPr>
          <a:lstStyle>
            <a:lvl1pPr algn="ctr" fontAlgn="base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单圆角矩形 2"/>
          <p:cNvSpPr/>
          <p:nvPr>
            <p:custDataLst>
              <p:tags r:id="rId2"/>
            </p:custDataLst>
          </p:nvPr>
        </p:nvSpPr>
        <p:spPr>
          <a:xfrm flipH="1">
            <a:off x="6553199" y="2958823"/>
            <a:ext cx="5649373" cy="2935322"/>
          </a:xfrm>
          <a:prstGeom prst="round1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5" name="矩形 174"/>
          <p:cNvSpPr/>
          <p:nvPr>
            <p:custDataLst>
              <p:tags r:id="rId3"/>
            </p:custDataLst>
          </p:nvPr>
        </p:nvSpPr>
        <p:spPr>
          <a:xfrm>
            <a:off x="-6779" y="5897328"/>
            <a:ext cx="12191999" cy="9606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58165" y="423545"/>
            <a:ext cx="71755" cy="71755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椭圆 2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737870" y="423545"/>
            <a:ext cx="71755" cy="71755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椭圆 24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916940" y="423545"/>
            <a:ext cx="71755" cy="71755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椭圆 2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096010" y="424180"/>
            <a:ext cx="71755" cy="71755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4" hasCustomPrompt="1"/>
            <p:custDataLst>
              <p:tags r:id="rId8"/>
            </p:custDataLst>
          </p:nvPr>
        </p:nvSpPr>
        <p:spPr>
          <a:xfrm>
            <a:off x="731731" y="1858058"/>
            <a:ext cx="7044679" cy="260164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9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MiSans Normal" panose="00000500000000000000" charset="-122"/>
              </a:defRPr>
            </a:lvl1pPr>
          </a:lstStyle>
          <a:p>
            <a:pPr lvl="0"/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480" y="661491"/>
            <a:ext cx="4565220" cy="6196509"/>
          </a:xfrm>
          <a:prstGeom prst="rect">
            <a:avLst/>
          </a:prstGeom>
        </p:spPr>
      </p:pic>
      <p:pic>
        <p:nvPicPr>
          <p:cNvPr id="15" name="图形 1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69480" y="661491"/>
            <a:ext cx="4565220" cy="6196509"/>
          </a:xfrm>
          <a:prstGeom prst="rect">
            <a:avLst/>
          </a:prstGeom>
        </p:spPr>
      </p:pic>
      <p:sp>
        <p:nvSpPr>
          <p:cNvPr id="7" name="副标题"/>
          <p:cNvSpPr txBox="1">
            <a:spLocks noGrp="1"/>
          </p:cNvSpPr>
          <p:nvPr>
            <p:ph type="body" idx="1" hasCustomPrompt="1"/>
            <p:custDataLst>
              <p:tags r:id="rId14"/>
            </p:custDataLst>
          </p:nvPr>
        </p:nvSpPr>
        <p:spPr>
          <a:xfrm>
            <a:off x="731732" y="531582"/>
            <a:ext cx="6862868" cy="127068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MiSans Normal" panose="00000500000000000000" charset="-122"/>
              </a:defRPr>
            </a:lvl1pPr>
          </a:lstStyle>
          <a:p>
            <a:pPr lvl="0" algn="l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17" name="署名占位符 10"/>
          <p:cNvSpPr>
            <a:spLocks noGrp="1"/>
          </p:cNvSpPr>
          <p:nvPr>
            <p:ph type="body" sz="quarter" idx="17" hasCustomPrompt="1"/>
            <p:custDataLst>
              <p:tags r:id="rId18"/>
            </p:custDataLst>
          </p:nvPr>
        </p:nvSpPr>
        <p:spPr>
          <a:xfrm>
            <a:off x="731520" y="4518171"/>
            <a:ext cx="375031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spc="0" baseline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4" hasCustomPrompt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u="none" strike="noStrike" kern="1200" cap="none" spc="0" normalizeH="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>
              <a:defRPr dirty="0">
                <a:latin typeface="+mn-lt"/>
                <a:sym typeface="+mn-ea"/>
              </a:defRPr>
            </a:lvl2pPr>
            <a:lvl3pPr>
              <a:defRPr dirty="0">
                <a:latin typeface="+mn-lt"/>
                <a:sym typeface="+mn-ea"/>
              </a:defRPr>
            </a:lvl3pPr>
            <a:lvl4pPr>
              <a:defRPr dirty="0">
                <a:latin typeface="+mn-lt"/>
                <a:sym typeface="+mn-ea"/>
              </a:defRPr>
            </a:lvl4pPr>
            <a:lvl5pPr>
              <a:defRPr dirty="0">
                <a:latin typeface="+mn-lt"/>
                <a:sym typeface="+mn-ea"/>
              </a:defRPr>
            </a:lvl5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3" hasCustomPrompt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MiSans Normal" panose="00000500000000000000" charset="-122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>
            <p:custDataLst>
              <p:tags r:id="rId2"/>
            </p:custDataLst>
          </p:nvPr>
        </p:nvSpPr>
        <p:spPr>
          <a:xfrm>
            <a:off x="-6779" y="5897328"/>
            <a:ext cx="12191999" cy="9606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矩形: 圆角 1"/>
          <p:cNvSpPr/>
          <p:nvPr userDrawn="1">
            <p:custDataLst>
              <p:tags r:id="rId3"/>
            </p:custDataLst>
          </p:nvPr>
        </p:nvSpPr>
        <p:spPr>
          <a:xfrm>
            <a:off x="509157" y="1973939"/>
            <a:ext cx="11160125" cy="4403725"/>
          </a:xfrm>
          <a:prstGeom prst="roundRect">
            <a:avLst>
              <a:gd name="adj" fmla="val 4433"/>
            </a:avLst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reflection blurRad="6350" stA="20000" endPos="7000" dist="127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1089298" y="397644"/>
            <a:ext cx="9999842" cy="12158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7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MiSans Normal" panose="00000500000000000000" charset="-122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矩形: 圆角 1"/>
          <p:cNvSpPr/>
          <p:nvPr userDrawn="1">
            <p:custDataLst>
              <p:tags r:id="rId8"/>
            </p:custDataLst>
          </p:nvPr>
        </p:nvSpPr>
        <p:spPr>
          <a:xfrm>
            <a:off x="509157" y="1973939"/>
            <a:ext cx="11160125" cy="4403725"/>
          </a:xfrm>
          <a:prstGeom prst="roundRect">
            <a:avLst>
              <a:gd name="adj" fmla="val 4433"/>
            </a:avLst>
          </a:prstGeom>
          <a:solidFill>
            <a:schemeClr val="bg2">
              <a:alpha val="85000"/>
            </a:schemeClr>
          </a:solidFill>
          <a:ln w="3175">
            <a:noFill/>
          </a:ln>
          <a:effectLst>
            <a:reflection blurRad="6350" stA="20000" endPos="7000" dist="127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单圆角矩形 12"/>
          <p:cNvSpPr/>
          <p:nvPr>
            <p:custDataLst>
              <p:tags r:id="rId2"/>
            </p:custDataLst>
          </p:nvPr>
        </p:nvSpPr>
        <p:spPr>
          <a:xfrm>
            <a:off x="0" y="3146425"/>
            <a:ext cx="4393565" cy="2282825"/>
          </a:xfrm>
          <a:prstGeom prst="round1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矩形 31"/>
          <p:cNvSpPr/>
          <p:nvPr>
            <p:custDataLst>
              <p:tags r:id="rId3"/>
            </p:custDataLst>
          </p:nvPr>
        </p:nvSpPr>
        <p:spPr>
          <a:xfrm>
            <a:off x="0" y="5428615"/>
            <a:ext cx="12192000" cy="14293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任意多边形: 形状 22"/>
          <p:cNvSpPr/>
          <p:nvPr>
            <p:custDataLst>
              <p:tags r:id="rId4"/>
            </p:custDataLst>
          </p:nvPr>
        </p:nvSpPr>
        <p:spPr>
          <a:xfrm>
            <a:off x="5297170" y="3322228"/>
            <a:ext cx="6212840" cy="578485"/>
          </a:xfrm>
          <a:custGeom>
            <a:avLst/>
            <a:gdLst>
              <a:gd name="connsiteX0" fmla="*/ 0 w 6099858"/>
              <a:gd name="connsiteY0" fmla="*/ 196769 h 578734"/>
              <a:gd name="connsiteX1" fmla="*/ 4514127 w 6099858"/>
              <a:gd name="connsiteY1" fmla="*/ 196769 h 578734"/>
              <a:gd name="connsiteX2" fmla="*/ 4641448 w 6099858"/>
              <a:gd name="connsiteY2" fmla="*/ 0 h 578734"/>
              <a:gd name="connsiteX3" fmla="*/ 4745620 w 6099858"/>
              <a:gd name="connsiteY3" fmla="*/ 578734 h 578734"/>
              <a:gd name="connsiteX4" fmla="*/ 4872942 w 6099858"/>
              <a:gd name="connsiteY4" fmla="*/ 196769 h 578734"/>
              <a:gd name="connsiteX5" fmla="*/ 6099858 w 6099858"/>
              <a:gd name="connsiteY5" fmla="*/ 196769 h 578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858" h="578734">
                <a:moveTo>
                  <a:pt x="0" y="196769"/>
                </a:moveTo>
                <a:lnTo>
                  <a:pt x="4514127" y="196769"/>
                </a:lnTo>
                <a:lnTo>
                  <a:pt x="4641448" y="0"/>
                </a:lnTo>
                <a:lnTo>
                  <a:pt x="4745620" y="578734"/>
                </a:lnTo>
                <a:lnTo>
                  <a:pt x="4872942" y="196769"/>
                </a:lnTo>
                <a:lnTo>
                  <a:pt x="6099858" y="196769"/>
                </a:lnTo>
              </a:path>
            </a:pathLst>
          </a:cu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4" hasCustomPrompt="1"/>
            <p:custDataLst>
              <p:tags r:id="rId5"/>
            </p:custDataLst>
          </p:nvPr>
        </p:nvSpPr>
        <p:spPr>
          <a:xfrm>
            <a:off x="4725670" y="810895"/>
            <a:ext cx="6953250" cy="251142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MiSans Normal" panose="00000500000000000000" charset="-122"/>
              </a:defRPr>
            </a:lvl1pPr>
          </a:lstStyle>
          <a:p>
            <a:pPr lvl="0"/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7" name="节编号"/>
          <p:cNvSpPr txBox="1">
            <a:spLocks noGrp="1"/>
          </p:cNvSpPr>
          <p:nvPr>
            <p:ph type="body" idx="13" hasCustomPrompt="1"/>
            <p:custDataLst>
              <p:tags r:id="rId6"/>
            </p:custDataLst>
          </p:nvPr>
        </p:nvSpPr>
        <p:spPr>
          <a:xfrm>
            <a:off x="4887358" y="4637552"/>
            <a:ext cx="7115956" cy="155696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8800" b="0" i="0" u="none" strike="noStrike" kern="1200" cap="none" spc="0" normalizeH="0" baseline="0" noProof="1" dirty="0">
                <a:ln>
                  <a:solidFill>
                    <a:schemeClr val="accent1"/>
                  </a:solidFill>
                </a:ln>
                <a:solidFill>
                  <a:schemeClr val="bg1"/>
                </a:solidFill>
                <a:latin typeface="+mn-lt"/>
                <a:sym typeface="MiSans Normal" panose="00000500000000000000" charset="-122"/>
              </a:defRPr>
            </a:lvl1pPr>
          </a:lstStyle>
          <a:p>
            <a:pPr lvl="0" algn="l"/>
            <a:r>
              <a:rPr dirty="0">
                <a:latin typeface="+mn-lt"/>
                <a:sym typeface="+mn-ea"/>
              </a:rPr>
              <a:t> text</a:t>
            </a:r>
            <a:endParaRPr dirty="0">
              <a:sym typeface="+mn-ea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031220" y="452755"/>
            <a:ext cx="71755" cy="71755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210290" y="452755"/>
            <a:ext cx="71755" cy="71755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389360" y="452755"/>
            <a:ext cx="71755" cy="71755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568430" y="453390"/>
            <a:ext cx="71755" cy="71755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6"/>
          <a:stretch>
            <a:fillRect/>
          </a:stretch>
        </p:blipFill>
        <p:spPr>
          <a:xfrm>
            <a:off x="971926" y="508996"/>
            <a:ext cx="3851926" cy="6360795"/>
          </a:xfrm>
          <a:prstGeom prst="rect">
            <a:avLst/>
          </a:prstGeom>
        </p:spPr>
      </p:pic>
      <p:sp>
        <p:nvSpPr>
          <p:cNvPr id="29" name="任意多边形: 形状 28"/>
          <p:cNvSpPr/>
          <p:nvPr>
            <p:custDataLst>
              <p:tags r:id="rId13"/>
            </p:custDataLst>
          </p:nvPr>
        </p:nvSpPr>
        <p:spPr>
          <a:xfrm>
            <a:off x="1169095" y="1682126"/>
            <a:ext cx="2742286" cy="4324127"/>
          </a:xfrm>
          <a:custGeom>
            <a:avLst/>
            <a:gdLst>
              <a:gd name="connsiteX0" fmla="*/ 1569638 w 2742286"/>
              <a:gd name="connsiteY0" fmla="*/ 91613 h 4324127"/>
              <a:gd name="connsiteX1" fmla="*/ 1594068 w 2742286"/>
              <a:gd name="connsiteY1" fmla="*/ 91613 h 4324127"/>
              <a:gd name="connsiteX2" fmla="*/ 1667359 w 2742286"/>
              <a:gd name="connsiteY2" fmla="*/ 293161 h 4324127"/>
              <a:gd name="connsiteX3" fmla="*/ 1649036 w 2742286"/>
              <a:gd name="connsiteY3" fmla="*/ 299269 h 4324127"/>
              <a:gd name="connsiteX4" fmla="*/ 1642929 w 2742286"/>
              <a:gd name="connsiteY4" fmla="*/ 433634 h 4324127"/>
              <a:gd name="connsiteX5" fmla="*/ 1636821 w 2742286"/>
              <a:gd name="connsiteY5" fmla="*/ 433634 h 4324127"/>
              <a:gd name="connsiteX6" fmla="*/ 1630714 w 2742286"/>
              <a:gd name="connsiteY6" fmla="*/ 427527 h 4324127"/>
              <a:gd name="connsiteX7" fmla="*/ 1539100 w 2742286"/>
              <a:gd name="connsiteY7" fmla="*/ 274839 h 4324127"/>
              <a:gd name="connsiteX8" fmla="*/ 1526885 w 2742286"/>
              <a:gd name="connsiteY8" fmla="*/ 280946 h 4324127"/>
              <a:gd name="connsiteX9" fmla="*/ 1465810 w 2742286"/>
              <a:gd name="connsiteY9" fmla="*/ 519140 h 4324127"/>
              <a:gd name="connsiteX10" fmla="*/ 1166540 w 2742286"/>
              <a:gd name="connsiteY10" fmla="*/ 280946 h 4324127"/>
              <a:gd name="connsiteX11" fmla="*/ 1166540 w 2742286"/>
              <a:gd name="connsiteY11" fmla="*/ 293161 h 4324127"/>
              <a:gd name="connsiteX12" fmla="*/ 1484133 w 2742286"/>
              <a:gd name="connsiteY12" fmla="*/ 543570 h 4324127"/>
              <a:gd name="connsiteX13" fmla="*/ 1539100 w 2742286"/>
              <a:gd name="connsiteY13" fmla="*/ 311484 h 4324127"/>
              <a:gd name="connsiteX14" fmla="*/ 1539100 w 2742286"/>
              <a:gd name="connsiteY14" fmla="*/ 317591 h 4324127"/>
              <a:gd name="connsiteX15" fmla="*/ 1642929 w 2742286"/>
              <a:gd name="connsiteY15" fmla="*/ 482494 h 4324127"/>
              <a:gd name="connsiteX16" fmla="*/ 1655144 w 2742286"/>
              <a:gd name="connsiteY16" fmla="*/ 476387 h 4324127"/>
              <a:gd name="connsiteX17" fmla="*/ 1673466 w 2742286"/>
              <a:gd name="connsiteY17" fmla="*/ 293161 h 4324127"/>
              <a:gd name="connsiteX18" fmla="*/ 1697897 w 2742286"/>
              <a:gd name="connsiteY18" fmla="*/ 622967 h 4324127"/>
              <a:gd name="connsiteX19" fmla="*/ 1716219 w 2742286"/>
              <a:gd name="connsiteY19" fmla="*/ 1074924 h 4324127"/>
              <a:gd name="connsiteX20" fmla="*/ 1728434 w 2742286"/>
              <a:gd name="connsiteY20" fmla="*/ 1074924 h 4324127"/>
              <a:gd name="connsiteX21" fmla="*/ 1887230 w 2742286"/>
              <a:gd name="connsiteY21" fmla="*/ 677935 h 4324127"/>
              <a:gd name="connsiteX22" fmla="*/ 1801725 w 2742286"/>
              <a:gd name="connsiteY22" fmla="*/ 586322 h 4324127"/>
              <a:gd name="connsiteX23" fmla="*/ 1807832 w 2742286"/>
              <a:gd name="connsiteY23" fmla="*/ 580215 h 4324127"/>
              <a:gd name="connsiteX24" fmla="*/ 1844478 w 2742286"/>
              <a:gd name="connsiteY24" fmla="*/ 574107 h 4324127"/>
              <a:gd name="connsiteX25" fmla="*/ 1887230 w 2742286"/>
              <a:gd name="connsiteY25" fmla="*/ 586322 h 4324127"/>
              <a:gd name="connsiteX26" fmla="*/ 1813940 w 2742286"/>
              <a:gd name="connsiteY26" fmla="*/ 171011 h 4324127"/>
              <a:gd name="connsiteX27" fmla="*/ 1826155 w 2742286"/>
              <a:gd name="connsiteY27" fmla="*/ 171011 h 4324127"/>
              <a:gd name="connsiteX28" fmla="*/ 1826155 w 2742286"/>
              <a:gd name="connsiteY28" fmla="*/ 177118 h 4324127"/>
              <a:gd name="connsiteX29" fmla="*/ 1905553 w 2742286"/>
              <a:gd name="connsiteY29" fmla="*/ 598537 h 4324127"/>
              <a:gd name="connsiteX30" fmla="*/ 1856693 w 2742286"/>
              <a:gd name="connsiteY30" fmla="*/ 604645 h 4324127"/>
              <a:gd name="connsiteX31" fmla="*/ 1844478 w 2742286"/>
              <a:gd name="connsiteY31" fmla="*/ 598537 h 4324127"/>
              <a:gd name="connsiteX32" fmla="*/ 1844478 w 2742286"/>
              <a:gd name="connsiteY32" fmla="*/ 604645 h 4324127"/>
              <a:gd name="connsiteX33" fmla="*/ 1911660 w 2742286"/>
              <a:gd name="connsiteY33" fmla="*/ 677935 h 4324127"/>
              <a:gd name="connsiteX34" fmla="*/ 1740649 w 2742286"/>
              <a:gd name="connsiteY34" fmla="*/ 1105462 h 4324127"/>
              <a:gd name="connsiteX35" fmla="*/ 1765079 w 2742286"/>
              <a:gd name="connsiteY35" fmla="*/ 1307010 h 4324127"/>
              <a:gd name="connsiteX36" fmla="*/ 1783402 w 2742286"/>
              <a:gd name="connsiteY36" fmla="*/ 1850580 h 4324127"/>
              <a:gd name="connsiteX37" fmla="*/ 1844478 w 2742286"/>
              <a:gd name="connsiteY37" fmla="*/ 4324127 h 4324127"/>
              <a:gd name="connsiteX38" fmla="*/ 1820047 w 2742286"/>
              <a:gd name="connsiteY38" fmla="*/ 4324127 h 4324127"/>
              <a:gd name="connsiteX39" fmla="*/ 1777295 w 2742286"/>
              <a:gd name="connsiteY39" fmla="*/ 2424687 h 4324127"/>
              <a:gd name="connsiteX40" fmla="*/ 1752864 w 2742286"/>
              <a:gd name="connsiteY40" fmla="*/ 1435268 h 4324127"/>
              <a:gd name="connsiteX41" fmla="*/ 1410842 w 2742286"/>
              <a:gd name="connsiteY41" fmla="*/ 1038279 h 4324127"/>
              <a:gd name="connsiteX42" fmla="*/ 1209293 w 2742286"/>
              <a:gd name="connsiteY42" fmla="*/ 824516 h 4324127"/>
              <a:gd name="connsiteX43" fmla="*/ 1258154 w 2742286"/>
              <a:gd name="connsiteY43" fmla="*/ 684043 h 4324127"/>
              <a:gd name="connsiteX44" fmla="*/ 1239831 w 2742286"/>
              <a:gd name="connsiteY44" fmla="*/ 684043 h 4324127"/>
              <a:gd name="connsiteX45" fmla="*/ 1117680 w 2742286"/>
              <a:gd name="connsiteY45" fmla="*/ 714580 h 4324127"/>
              <a:gd name="connsiteX46" fmla="*/ 885594 w 2742286"/>
              <a:gd name="connsiteY46" fmla="*/ 366451 h 4324127"/>
              <a:gd name="connsiteX47" fmla="*/ 806195 w 2742286"/>
              <a:gd name="connsiteY47" fmla="*/ 250408 h 4324127"/>
              <a:gd name="connsiteX48" fmla="*/ 812303 w 2742286"/>
              <a:gd name="connsiteY48" fmla="*/ 244301 h 4324127"/>
              <a:gd name="connsiteX49" fmla="*/ 818411 w 2742286"/>
              <a:gd name="connsiteY49" fmla="*/ 250408 h 4324127"/>
              <a:gd name="connsiteX50" fmla="*/ 1050497 w 2742286"/>
              <a:gd name="connsiteY50" fmla="*/ 574107 h 4324127"/>
              <a:gd name="connsiteX51" fmla="*/ 1160433 w 2742286"/>
              <a:gd name="connsiteY51" fmla="*/ 690150 h 4324127"/>
              <a:gd name="connsiteX52" fmla="*/ 1270369 w 2742286"/>
              <a:gd name="connsiteY52" fmla="*/ 665720 h 4324127"/>
              <a:gd name="connsiteX53" fmla="*/ 1276476 w 2742286"/>
              <a:gd name="connsiteY53" fmla="*/ 696258 h 4324127"/>
              <a:gd name="connsiteX54" fmla="*/ 1233723 w 2742286"/>
              <a:gd name="connsiteY54" fmla="*/ 812301 h 4324127"/>
              <a:gd name="connsiteX55" fmla="*/ 1331444 w 2742286"/>
              <a:gd name="connsiteY55" fmla="*/ 922236 h 4324127"/>
              <a:gd name="connsiteX56" fmla="*/ 1740649 w 2742286"/>
              <a:gd name="connsiteY56" fmla="*/ 1361978 h 4324127"/>
              <a:gd name="connsiteX57" fmla="*/ 1746757 w 2742286"/>
              <a:gd name="connsiteY57" fmla="*/ 1361978 h 4324127"/>
              <a:gd name="connsiteX58" fmla="*/ 1746757 w 2742286"/>
              <a:gd name="connsiteY58" fmla="*/ 1252042 h 4324127"/>
              <a:gd name="connsiteX59" fmla="*/ 1734542 w 2742286"/>
              <a:gd name="connsiteY59" fmla="*/ 1142107 h 4324127"/>
              <a:gd name="connsiteX60" fmla="*/ 1569638 w 2742286"/>
              <a:gd name="connsiteY60" fmla="*/ 891699 h 4324127"/>
              <a:gd name="connsiteX61" fmla="*/ 1282584 w 2742286"/>
              <a:gd name="connsiteY61" fmla="*/ 464172 h 4324127"/>
              <a:gd name="connsiteX62" fmla="*/ 1056605 w 2742286"/>
              <a:gd name="connsiteY62" fmla="*/ 122150 h 4324127"/>
              <a:gd name="connsiteX63" fmla="*/ 1166540 w 2742286"/>
              <a:gd name="connsiteY63" fmla="*/ 0 h 4324127"/>
              <a:gd name="connsiteX64" fmla="*/ 1166540 w 2742286"/>
              <a:gd name="connsiteY64" fmla="*/ 54968 h 4324127"/>
              <a:gd name="connsiteX65" fmla="*/ 1532993 w 2742286"/>
              <a:gd name="connsiteY65" fmla="*/ 262624 h 4324127"/>
              <a:gd name="connsiteX66" fmla="*/ 1569638 w 2742286"/>
              <a:gd name="connsiteY66" fmla="*/ 91613 h 4324127"/>
              <a:gd name="connsiteX67" fmla="*/ 2638458 w 2742286"/>
              <a:gd name="connsiteY67" fmla="*/ 372559 h 4324127"/>
              <a:gd name="connsiteX68" fmla="*/ 2662888 w 2742286"/>
              <a:gd name="connsiteY68" fmla="*/ 372559 h 4324127"/>
              <a:gd name="connsiteX69" fmla="*/ 2742286 w 2742286"/>
              <a:gd name="connsiteY69" fmla="*/ 519140 h 4324127"/>
              <a:gd name="connsiteX70" fmla="*/ 2711748 w 2742286"/>
              <a:gd name="connsiteY70" fmla="*/ 525247 h 4324127"/>
              <a:gd name="connsiteX71" fmla="*/ 2650673 w 2742286"/>
              <a:gd name="connsiteY71" fmla="*/ 451957 h 4324127"/>
              <a:gd name="connsiteX72" fmla="*/ 2650673 w 2742286"/>
              <a:gd name="connsiteY72" fmla="*/ 458064 h 4324127"/>
              <a:gd name="connsiteX73" fmla="*/ 2675103 w 2742286"/>
              <a:gd name="connsiteY73" fmla="*/ 531355 h 4324127"/>
              <a:gd name="connsiteX74" fmla="*/ 2668996 w 2742286"/>
              <a:gd name="connsiteY74" fmla="*/ 537462 h 4324127"/>
              <a:gd name="connsiteX75" fmla="*/ 2656781 w 2742286"/>
              <a:gd name="connsiteY75" fmla="*/ 531355 h 4324127"/>
              <a:gd name="connsiteX76" fmla="*/ 2607920 w 2742286"/>
              <a:gd name="connsiteY76" fmla="*/ 403097 h 4324127"/>
              <a:gd name="connsiteX77" fmla="*/ 2632350 w 2742286"/>
              <a:gd name="connsiteY77" fmla="*/ 396989 h 4324127"/>
              <a:gd name="connsiteX78" fmla="*/ 2717856 w 2742286"/>
              <a:gd name="connsiteY78" fmla="*/ 494709 h 4324127"/>
              <a:gd name="connsiteX79" fmla="*/ 2717856 w 2742286"/>
              <a:gd name="connsiteY79" fmla="*/ 476387 h 4324127"/>
              <a:gd name="connsiteX80" fmla="*/ 2638458 w 2742286"/>
              <a:gd name="connsiteY80" fmla="*/ 372559 h 4324127"/>
              <a:gd name="connsiteX81" fmla="*/ 2168177 w 2742286"/>
              <a:gd name="connsiteY81" fmla="*/ 1007742 h 4324127"/>
              <a:gd name="connsiteX82" fmla="*/ 2125424 w 2742286"/>
              <a:gd name="connsiteY82" fmla="*/ 586322 h 4324127"/>
              <a:gd name="connsiteX83" fmla="*/ 2131532 w 2742286"/>
              <a:gd name="connsiteY83" fmla="*/ 580215 h 4324127"/>
              <a:gd name="connsiteX84" fmla="*/ 2143747 w 2742286"/>
              <a:gd name="connsiteY84" fmla="*/ 586322 h 4324127"/>
              <a:gd name="connsiteX85" fmla="*/ 2186500 w 2742286"/>
              <a:gd name="connsiteY85" fmla="*/ 897806 h 4324127"/>
              <a:gd name="connsiteX86" fmla="*/ 2241468 w 2742286"/>
              <a:gd name="connsiteY86" fmla="*/ 1013849 h 4324127"/>
              <a:gd name="connsiteX87" fmla="*/ 2192607 w 2742286"/>
              <a:gd name="connsiteY87" fmla="*/ 1013849 h 4324127"/>
              <a:gd name="connsiteX88" fmla="*/ 830626 w 2742286"/>
              <a:gd name="connsiteY88" fmla="*/ 1032172 h 4324127"/>
              <a:gd name="connsiteX89" fmla="*/ 848948 w 2742286"/>
              <a:gd name="connsiteY89" fmla="*/ 1038279 h 4324127"/>
              <a:gd name="connsiteX90" fmla="*/ 720690 w 2742286"/>
              <a:gd name="connsiteY90" fmla="*/ 1331440 h 4324127"/>
              <a:gd name="connsiteX91" fmla="*/ 684045 w 2742286"/>
              <a:gd name="connsiteY91" fmla="*/ 1539096 h 4324127"/>
              <a:gd name="connsiteX92" fmla="*/ 647399 w 2742286"/>
              <a:gd name="connsiteY92" fmla="*/ 1392516 h 4324127"/>
              <a:gd name="connsiteX93" fmla="*/ 830626 w 2742286"/>
              <a:gd name="connsiteY93" fmla="*/ 1032172 h 4324127"/>
              <a:gd name="connsiteX94" fmla="*/ 311485 w 2742286"/>
              <a:gd name="connsiteY94" fmla="*/ 1868902 h 4324127"/>
              <a:gd name="connsiteX95" fmla="*/ 311485 w 2742286"/>
              <a:gd name="connsiteY95" fmla="*/ 1844472 h 4324127"/>
              <a:gd name="connsiteX96" fmla="*/ 421420 w 2742286"/>
              <a:gd name="connsiteY96" fmla="*/ 1801720 h 4324127"/>
              <a:gd name="connsiteX97" fmla="*/ 415313 w 2742286"/>
              <a:gd name="connsiteY97" fmla="*/ 1801720 h 4324127"/>
              <a:gd name="connsiteX98" fmla="*/ 238194 w 2742286"/>
              <a:gd name="connsiteY98" fmla="*/ 1838365 h 4324127"/>
              <a:gd name="connsiteX99" fmla="*/ 232087 w 2742286"/>
              <a:gd name="connsiteY99" fmla="*/ 1820042 h 4324127"/>
              <a:gd name="connsiteX100" fmla="*/ 451958 w 2742286"/>
              <a:gd name="connsiteY100" fmla="*/ 1789505 h 4324127"/>
              <a:gd name="connsiteX101" fmla="*/ 458066 w 2742286"/>
              <a:gd name="connsiteY101" fmla="*/ 1813935 h 4324127"/>
              <a:gd name="connsiteX102" fmla="*/ 366452 w 2742286"/>
              <a:gd name="connsiteY102" fmla="*/ 1850580 h 4324127"/>
              <a:gd name="connsiteX103" fmla="*/ 464173 w 2742286"/>
              <a:gd name="connsiteY103" fmla="*/ 1850580 h 4324127"/>
              <a:gd name="connsiteX104" fmla="*/ 458066 w 2742286"/>
              <a:gd name="connsiteY104" fmla="*/ 1862795 h 4324127"/>
              <a:gd name="connsiteX105" fmla="*/ 458066 w 2742286"/>
              <a:gd name="connsiteY105" fmla="*/ 1868902 h 4324127"/>
              <a:gd name="connsiteX106" fmla="*/ 311485 w 2742286"/>
              <a:gd name="connsiteY106" fmla="*/ 1868902 h 4324127"/>
              <a:gd name="connsiteX107" fmla="*/ 745120 w 2742286"/>
              <a:gd name="connsiteY107" fmla="*/ 2791139 h 4324127"/>
              <a:gd name="connsiteX108" fmla="*/ 1074927 w 2742286"/>
              <a:gd name="connsiteY108" fmla="*/ 2815569 h 4324127"/>
              <a:gd name="connsiteX109" fmla="*/ 1252046 w 2742286"/>
              <a:gd name="connsiteY109" fmla="*/ 2809461 h 4324127"/>
              <a:gd name="connsiteX110" fmla="*/ 1258154 w 2742286"/>
              <a:gd name="connsiteY110" fmla="*/ 2827784 h 4324127"/>
              <a:gd name="connsiteX111" fmla="*/ 1215401 w 2742286"/>
              <a:gd name="connsiteY111" fmla="*/ 2827784 h 4324127"/>
              <a:gd name="connsiteX112" fmla="*/ 739013 w 2742286"/>
              <a:gd name="connsiteY112" fmla="*/ 2809461 h 4324127"/>
              <a:gd name="connsiteX113" fmla="*/ 1252046 w 2742286"/>
              <a:gd name="connsiteY113" fmla="*/ 2901074 h 4324127"/>
              <a:gd name="connsiteX114" fmla="*/ 1270369 w 2742286"/>
              <a:gd name="connsiteY114" fmla="*/ 2907182 h 4324127"/>
              <a:gd name="connsiteX115" fmla="*/ 1239831 w 2742286"/>
              <a:gd name="connsiteY115" fmla="*/ 3401891 h 4324127"/>
              <a:gd name="connsiteX116" fmla="*/ 1227616 w 2742286"/>
              <a:gd name="connsiteY116" fmla="*/ 3401891 h 4324127"/>
              <a:gd name="connsiteX117" fmla="*/ 793980 w 2742286"/>
              <a:gd name="connsiteY117" fmla="*/ 3395784 h 4324127"/>
              <a:gd name="connsiteX118" fmla="*/ 787873 w 2742286"/>
              <a:gd name="connsiteY118" fmla="*/ 3383568 h 4324127"/>
              <a:gd name="connsiteX119" fmla="*/ 812303 w 2742286"/>
              <a:gd name="connsiteY119" fmla="*/ 3377461 h 4324127"/>
              <a:gd name="connsiteX120" fmla="*/ 1227616 w 2742286"/>
              <a:gd name="connsiteY120" fmla="*/ 3383568 h 4324127"/>
              <a:gd name="connsiteX121" fmla="*/ 1245938 w 2742286"/>
              <a:gd name="connsiteY121" fmla="*/ 3224773 h 4324127"/>
              <a:gd name="connsiteX122" fmla="*/ 1252046 w 2742286"/>
              <a:gd name="connsiteY122" fmla="*/ 2901074 h 4324127"/>
              <a:gd name="connsiteX123" fmla="*/ 128258 w 2742286"/>
              <a:gd name="connsiteY123" fmla="*/ 2949934 h 4324127"/>
              <a:gd name="connsiteX124" fmla="*/ 311485 w 2742286"/>
              <a:gd name="connsiteY124" fmla="*/ 2974364 h 4324127"/>
              <a:gd name="connsiteX125" fmla="*/ 317592 w 2742286"/>
              <a:gd name="connsiteY125" fmla="*/ 2992687 h 4324127"/>
              <a:gd name="connsiteX126" fmla="*/ 299270 w 2742286"/>
              <a:gd name="connsiteY126" fmla="*/ 2992687 h 4324127"/>
              <a:gd name="connsiteX127" fmla="*/ 6108 w 2742286"/>
              <a:gd name="connsiteY127" fmla="*/ 2992687 h 4324127"/>
              <a:gd name="connsiteX128" fmla="*/ 0 w 2742286"/>
              <a:gd name="connsiteY128" fmla="*/ 2974364 h 4324127"/>
              <a:gd name="connsiteX129" fmla="*/ 12215 w 2742286"/>
              <a:gd name="connsiteY129" fmla="*/ 2974364 h 4324127"/>
              <a:gd name="connsiteX130" fmla="*/ 128258 w 2742286"/>
              <a:gd name="connsiteY130" fmla="*/ 2949934 h 4324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</a:cxnLst>
            <a:rect l="l" t="t" r="r" b="b"/>
            <a:pathLst>
              <a:path w="2742286" h="4324127">
                <a:moveTo>
                  <a:pt x="1569638" y="91613"/>
                </a:moveTo>
                <a:lnTo>
                  <a:pt x="1594068" y="91613"/>
                </a:lnTo>
                <a:cubicBezTo>
                  <a:pt x="1622615" y="154417"/>
                  <a:pt x="1662888" y="209433"/>
                  <a:pt x="1667359" y="293161"/>
                </a:cubicBezTo>
                <a:cubicBezTo>
                  <a:pt x="1648108" y="294725"/>
                  <a:pt x="1662119" y="285063"/>
                  <a:pt x="1649036" y="299269"/>
                </a:cubicBezTo>
                <a:cubicBezTo>
                  <a:pt x="1647002" y="344055"/>
                  <a:pt x="1644963" y="388848"/>
                  <a:pt x="1642929" y="433634"/>
                </a:cubicBezTo>
                <a:lnTo>
                  <a:pt x="1636821" y="433634"/>
                </a:lnTo>
                <a:lnTo>
                  <a:pt x="1630714" y="427527"/>
                </a:lnTo>
                <a:lnTo>
                  <a:pt x="1539100" y="274839"/>
                </a:lnTo>
                <a:lnTo>
                  <a:pt x="1526885" y="280946"/>
                </a:lnTo>
                <a:cubicBezTo>
                  <a:pt x="1495853" y="338516"/>
                  <a:pt x="1515391" y="479752"/>
                  <a:pt x="1465810" y="519140"/>
                </a:cubicBezTo>
                <a:cubicBezTo>
                  <a:pt x="1430759" y="471098"/>
                  <a:pt x="1223884" y="295763"/>
                  <a:pt x="1166540" y="280946"/>
                </a:cubicBezTo>
                <a:lnTo>
                  <a:pt x="1166540" y="293161"/>
                </a:lnTo>
                <a:cubicBezTo>
                  <a:pt x="1233791" y="340024"/>
                  <a:pt x="1426764" y="539398"/>
                  <a:pt x="1484133" y="543570"/>
                </a:cubicBezTo>
                <a:cubicBezTo>
                  <a:pt x="1502455" y="466206"/>
                  <a:pt x="1520778" y="388848"/>
                  <a:pt x="1539100" y="311484"/>
                </a:cubicBezTo>
                <a:lnTo>
                  <a:pt x="1539100" y="317591"/>
                </a:lnTo>
                <a:lnTo>
                  <a:pt x="1642929" y="482494"/>
                </a:lnTo>
                <a:lnTo>
                  <a:pt x="1655144" y="476387"/>
                </a:lnTo>
                <a:cubicBezTo>
                  <a:pt x="1677369" y="428357"/>
                  <a:pt x="1649830" y="336445"/>
                  <a:pt x="1673466" y="293161"/>
                </a:cubicBezTo>
                <a:cubicBezTo>
                  <a:pt x="1681608" y="403097"/>
                  <a:pt x="1689755" y="513032"/>
                  <a:pt x="1697897" y="622967"/>
                </a:cubicBezTo>
                <a:cubicBezTo>
                  <a:pt x="1723847" y="770409"/>
                  <a:pt x="1680148" y="952523"/>
                  <a:pt x="1716219" y="1074924"/>
                </a:cubicBezTo>
                <a:lnTo>
                  <a:pt x="1728434" y="1074924"/>
                </a:lnTo>
                <a:cubicBezTo>
                  <a:pt x="1753255" y="932546"/>
                  <a:pt x="1866239" y="826733"/>
                  <a:pt x="1887230" y="677935"/>
                </a:cubicBezTo>
                <a:lnTo>
                  <a:pt x="1801725" y="586322"/>
                </a:lnTo>
                <a:lnTo>
                  <a:pt x="1807832" y="580215"/>
                </a:lnTo>
                <a:lnTo>
                  <a:pt x="1844478" y="574107"/>
                </a:lnTo>
                <a:cubicBezTo>
                  <a:pt x="1857230" y="582658"/>
                  <a:pt x="1865701" y="584295"/>
                  <a:pt x="1887230" y="586322"/>
                </a:cubicBezTo>
                <a:cubicBezTo>
                  <a:pt x="1888201" y="425878"/>
                  <a:pt x="1827010" y="305217"/>
                  <a:pt x="1813940" y="171011"/>
                </a:cubicBezTo>
                <a:lnTo>
                  <a:pt x="1826155" y="171011"/>
                </a:lnTo>
                <a:lnTo>
                  <a:pt x="1826155" y="177118"/>
                </a:lnTo>
                <a:cubicBezTo>
                  <a:pt x="1893686" y="261585"/>
                  <a:pt x="1905309" y="456275"/>
                  <a:pt x="1905553" y="598537"/>
                </a:cubicBezTo>
                <a:lnTo>
                  <a:pt x="1856693" y="604645"/>
                </a:lnTo>
                <a:lnTo>
                  <a:pt x="1844478" y="598537"/>
                </a:lnTo>
                <a:lnTo>
                  <a:pt x="1844478" y="604645"/>
                </a:lnTo>
                <a:lnTo>
                  <a:pt x="1911660" y="677935"/>
                </a:lnTo>
                <a:cubicBezTo>
                  <a:pt x="1877568" y="837122"/>
                  <a:pt x="1773459" y="951778"/>
                  <a:pt x="1740649" y="1105462"/>
                </a:cubicBezTo>
                <a:cubicBezTo>
                  <a:pt x="1784349" y="1147952"/>
                  <a:pt x="1750996" y="1231417"/>
                  <a:pt x="1765079" y="1307010"/>
                </a:cubicBezTo>
                <a:cubicBezTo>
                  <a:pt x="1771187" y="1488202"/>
                  <a:pt x="1777295" y="1669388"/>
                  <a:pt x="1783402" y="1850580"/>
                </a:cubicBezTo>
                <a:lnTo>
                  <a:pt x="1844478" y="4324127"/>
                </a:lnTo>
                <a:lnTo>
                  <a:pt x="1820047" y="4324127"/>
                </a:lnTo>
                <a:cubicBezTo>
                  <a:pt x="1805798" y="3691046"/>
                  <a:pt x="1791544" y="3057897"/>
                  <a:pt x="1777295" y="2424687"/>
                </a:cubicBezTo>
                <a:cubicBezTo>
                  <a:pt x="1769153" y="2094911"/>
                  <a:pt x="1761006" y="1765105"/>
                  <a:pt x="1752864" y="1435268"/>
                </a:cubicBezTo>
                <a:cubicBezTo>
                  <a:pt x="1707455" y="1255829"/>
                  <a:pt x="1538606" y="1138443"/>
                  <a:pt x="1410842" y="1038279"/>
                </a:cubicBezTo>
                <a:lnTo>
                  <a:pt x="1209293" y="824516"/>
                </a:lnTo>
                <a:cubicBezTo>
                  <a:pt x="1210557" y="765969"/>
                  <a:pt x="1237180" y="725739"/>
                  <a:pt x="1258154" y="684043"/>
                </a:cubicBezTo>
                <a:lnTo>
                  <a:pt x="1239831" y="684043"/>
                </a:lnTo>
                <a:lnTo>
                  <a:pt x="1117680" y="714580"/>
                </a:lnTo>
                <a:cubicBezTo>
                  <a:pt x="1046081" y="597963"/>
                  <a:pt x="965468" y="480186"/>
                  <a:pt x="885594" y="366451"/>
                </a:cubicBezTo>
                <a:cubicBezTo>
                  <a:pt x="859942" y="329904"/>
                  <a:pt x="819186" y="298866"/>
                  <a:pt x="806195" y="250408"/>
                </a:cubicBezTo>
                <a:lnTo>
                  <a:pt x="812303" y="244301"/>
                </a:lnTo>
                <a:lnTo>
                  <a:pt x="818411" y="250408"/>
                </a:lnTo>
                <a:lnTo>
                  <a:pt x="1050497" y="574107"/>
                </a:lnTo>
                <a:cubicBezTo>
                  <a:pt x="1080009" y="618344"/>
                  <a:pt x="1091589" y="684928"/>
                  <a:pt x="1160433" y="690150"/>
                </a:cubicBezTo>
                <a:cubicBezTo>
                  <a:pt x="1187819" y="671357"/>
                  <a:pt x="1240442" y="662898"/>
                  <a:pt x="1270369" y="665720"/>
                </a:cubicBezTo>
                <a:cubicBezTo>
                  <a:pt x="1272402" y="675895"/>
                  <a:pt x="1283915" y="683493"/>
                  <a:pt x="1276476" y="696258"/>
                </a:cubicBezTo>
                <a:cubicBezTo>
                  <a:pt x="1258825" y="720224"/>
                  <a:pt x="1227005" y="788799"/>
                  <a:pt x="1233723" y="812301"/>
                </a:cubicBezTo>
                <a:cubicBezTo>
                  <a:pt x="1252626" y="861234"/>
                  <a:pt x="1297352" y="888144"/>
                  <a:pt x="1331444" y="922236"/>
                </a:cubicBezTo>
                <a:cubicBezTo>
                  <a:pt x="1433843" y="1024641"/>
                  <a:pt x="1704700" y="1225493"/>
                  <a:pt x="1740649" y="1361978"/>
                </a:cubicBezTo>
                <a:lnTo>
                  <a:pt x="1746757" y="1361978"/>
                </a:lnTo>
                <a:lnTo>
                  <a:pt x="1746757" y="1252042"/>
                </a:lnTo>
                <a:cubicBezTo>
                  <a:pt x="1742683" y="1215397"/>
                  <a:pt x="1738615" y="1178752"/>
                  <a:pt x="1734542" y="1142107"/>
                </a:cubicBezTo>
                <a:cubicBezTo>
                  <a:pt x="1697603" y="1049370"/>
                  <a:pt x="1624123" y="968953"/>
                  <a:pt x="1569638" y="891699"/>
                </a:cubicBezTo>
                <a:lnTo>
                  <a:pt x="1282584" y="464172"/>
                </a:lnTo>
                <a:cubicBezTo>
                  <a:pt x="1226730" y="384774"/>
                  <a:pt x="1069919" y="220842"/>
                  <a:pt x="1056605" y="122150"/>
                </a:cubicBezTo>
                <a:cubicBezTo>
                  <a:pt x="1091900" y="80424"/>
                  <a:pt x="1092780" y="3952"/>
                  <a:pt x="1166540" y="0"/>
                </a:cubicBezTo>
                <a:lnTo>
                  <a:pt x="1166540" y="54968"/>
                </a:lnTo>
                <a:cubicBezTo>
                  <a:pt x="1268164" y="121937"/>
                  <a:pt x="1395421" y="243745"/>
                  <a:pt x="1532993" y="262624"/>
                </a:cubicBezTo>
                <a:cubicBezTo>
                  <a:pt x="1556348" y="198250"/>
                  <a:pt x="1576931" y="165642"/>
                  <a:pt x="1569638" y="91613"/>
                </a:cubicBezTo>
                <a:close/>
                <a:moveTo>
                  <a:pt x="2638458" y="372559"/>
                </a:moveTo>
                <a:lnTo>
                  <a:pt x="2662888" y="372559"/>
                </a:lnTo>
                <a:cubicBezTo>
                  <a:pt x="2700407" y="415495"/>
                  <a:pt x="2739397" y="439229"/>
                  <a:pt x="2742286" y="519140"/>
                </a:cubicBezTo>
                <a:cubicBezTo>
                  <a:pt x="2739232" y="533504"/>
                  <a:pt x="2727017" y="536851"/>
                  <a:pt x="2711748" y="525247"/>
                </a:cubicBezTo>
                <a:lnTo>
                  <a:pt x="2650673" y="451957"/>
                </a:lnTo>
                <a:lnTo>
                  <a:pt x="2650673" y="458064"/>
                </a:lnTo>
                <a:cubicBezTo>
                  <a:pt x="2666253" y="476442"/>
                  <a:pt x="2672660" y="499174"/>
                  <a:pt x="2675103" y="531355"/>
                </a:cubicBezTo>
                <a:lnTo>
                  <a:pt x="2668996" y="537462"/>
                </a:lnTo>
                <a:lnTo>
                  <a:pt x="2656781" y="531355"/>
                </a:lnTo>
                <a:cubicBezTo>
                  <a:pt x="2640364" y="485121"/>
                  <a:pt x="2614950" y="451780"/>
                  <a:pt x="2607920" y="403097"/>
                </a:cubicBezTo>
                <a:lnTo>
                  <a:pt x="2632350" y="396989"/>
                </a:lnTo>
                <a:lnTo>
                  <a:pt x="2717856" y="494709"/>
                </a:lnTo>
                <a:lnTo>
                  <a:pt x="2717856" y="476387"/>
                </a:lnTo>
                <a:cubicBezTo>
                  <a:pt x="2694067" y="448524"/>
                  <a:pt x="2652890" y="403952"/>
                  <a:pt x="2638458" y="372559"/>
                </a:cubicBezTo>
                <a:close/>
                <a:moveTo>
                  <a:pt x="2168177" y="1007742"/>
                </a:moveTo>
                <a:cubicBezTo>
                  <a:pt x="2170706" y="866071"/>
                  <a:pt x="2156353" y="724603"/>
                  <a:pt x="2125424" y="586322"/>
                </a:cubicBezTo>
                <a:lnTo>
                  <a:pt x="2131532" y="580215"/>
                </a:lnTo>
                <a:lnTo>
                  <a:pt x="2143747" y="586322"/>
                </a:lnTo>
                <a:cubicBezTo>
                  <a:pt x="2190048" y="669159"/>
                  <a:pt x="2159059" y="792952"/>
                  <a:pt x="2186500" y="897806"/>
                </a:cubicBezTo>
                <a:lnTo>
                  <a:pt x="2241468" y="1013849"/>
                </a:lnTo>
                <a:lnTo>
                  <a:pt x="2192607" y="1013849"/>
                </a:lnTo>
                <a:close/>
                <a:moveTo>
                  <a:pt x="830626" y="1032172"/>
                </a:moveTo>
                <a:lnTo>
                  <a:pt x="848948" y="1038279"/>
                </a:lnTo>
                <a:lnTo>
                  <a:pt x="720690" y="1331440"/>
                </a:lnTo>
                <a:cubicBezTo>
                  <a:pt x="708475" y="1400657"/>
                  <a:pt x="696260" y="1469880"/>
                  <a:pt x="684045" y="1539096"/>
                </a:cubicBezTo>
                <a:lnTo>
                  <a:pt x="647399" y="1392516"/>
                </a:lnTo>
                <a:cubicBezTo>
                  <a:pt x="728263" y="1293824"/>
                  <a:pt x="773942" y="1152832"/>
                  <a:pt x="830626" y="1032172"/>
                </a:cubicBezTo>
                <a:close/>
                <a:moveTo>
                  <a:pt x="311485" y="1868902"/>
                </a:moveTo>
                <a:cubicBezTo>
                  <a:pt x="297053" y="1863467"/>
                  <a:pt x="311485" y="1852614"/>
                  <a:pt x="311485" y="1844472"/>
                </a:cubicBezTo>
                <a:cubicBezTo>
                  <a:pt x="341283" y="1832257"/>
                  <a:pt x="399274" y="1823804"/>
                  <a:pt x="421420" y="1801720"/>
                </a:cubicBezTo>
                <a:lnTo>
                  <a:pt x="415313" y="1801720"/>
                </a:lnTo>
                <a:lnTo>
                  <a:pt x="238194" y="1838365"/>
                </a:lnTo>
                <a:cubicBezTo>
                  <a:pt x="226236" y="1835867"/>
                  <a:pt x="234120" y="1826150"/>
                  <a:pt x="232087" y="1820042"/>
                </a:cubicBezTo>
                <a:cubicBezTo>
                  <a:pt x="297663" y="1803668"/>
                  <a:pt x="374075" y="1774950"/>
                  <a:pt x="451958" y="1789505"/>
                </a:cubicBezTo>
                <a:cubicBezTo>
                  <a:pt x="453992" y="1797646"/>
                  <a:pt x="466854" y="1802184"/>
                  <a:pt x="458066" y="1813935"/>
                </a:cubicBezTo>
                <a:lnTo>
                  <a:pt x="366452" y="1850580"/>
                </a:lnTo>
                <a:lnTo>
                  <a:pt x="464173" y="1850580"/>
                </a:lnTo>
                <a:lnTo>
                  <a:pt x="458066" y="1862795"/>
                </a:lnTo>
                <a:lnTo>
                  <a:pt x="458066" y="1868902"/>
                </a:lnTo>
                <a:lnTo>
                  <a:pt x="311485" y="1868902"/>
                </a:lnTo>
                <a:close/>
                <a:moveTo>
                  <a:pt x="745120" y="2791139"/>
                </a:moveTo>
                <a:cubicBezTo>
                  <a:pt x="846463" y="2803787"/>
                  <a:pt x="950865" y="2815569"/>
                  <a:pt x="1074927" y="2815569"/>
                </a:cubicBezTo>
                <a:lnTo>
                  <a:pt x="1252046" y="2809461"/>
                </a:lnTo>
                <a:cubicBezTo>
                  <a:pt x="1254080" y="2815569"/>
                  <a:pt x="1262740" y="2820296"/>
                  <a:pt x="1258154" y="2827784"/>
                </a:cubicBezTo>
                <a:lnTo>
                  <a:pt x="1215401" y="2827784"/>
                </a:lnTo>
                <a:cubicBezTo>
                  <a:pt x="1122475" y="2873969"/>
                  <a:pt x="824518" y="2828681"/>
                  <a:pt x="739013" y="2809461"/>
                </a:cubicBezTo>
                <a:close/>
                <a:moveTo>
                  <a:pt x="1252046" y="2901074"/>
                </a:moveTo>
                <a:cubicBezTo>
                  <a:pt x="1263815" y="2895577"/>
                  <a:pt x="1269300" y="2897593"/>
                  <a:pt x="1270369" y="2907182"/>
                </a:cubicBezTo>
                <a:cubicBezTo>
                  <a:pt x="1272268" y="3080635"/>
                  <a:pt x="1272201" y="3262029"/>
                  <a:pt x="1239831" y="3401891"/>
                </a:cubicBezTo>
                <a:lnTo>
                  <a:pt x="1227616" y="3401891"/>
                </a:lnTo>
                <a:cubicBezTo>
                  <a:pt x="1136742" y="3455509"/>
                  <a:pt x="888983" y="3418046"/>
                  <a:pt x="793980" y="3395784"/>
                </a:cubicBezTo>
                <a:cubicBezTo>
                  <a:pt x="791947" y="3391710"/>
                  <a:pt x="789907" y="3387642"/>
                  <a:pt x="787873" y="3383568"/>
                </a:cubicBezTo>
                <a:lnTo>
                  <a:pt x="812303" y="3377461"/>
                </a:lnTo>
                <a:cubicBezTo>
                  <a:pt x="869103" y="3407919"/>
                  <a:pt x="1160934" y="3407388"/>
                  <a:pt x="1227616" y="3383568"/>
                </a:cubicBezTo>
                <a:lnTo>
                  <a:pt x="1245938" y="3224773"/>
                </a:lnTo>
                <a:cubicBezTo>
                  <a:pt x="1247972" y="3116871"/>
                  <a:pt x="1250012" y="3008976"/>
                  <a:pt x="1252046" y="2901074"/>
                </a:cubicBezTo>
                <a:close/>
                <a:moveTo>
                  <a:pt x="128258" y="2949934"/>
                </a:moveTo>
                <a:cubicBezTo>
                  <a:pt x="185889" y="2948407"/>
                  <a:pt x="274711" y="2949714"/>
                  <a:pt x="311485" y="2974364"/>
                </a:cubicBezTo>
                <a:lnTo>
                  <a:pt x="317592" y="2992687"/>
                </a:lnTo>
                <a:lnTo>
                  <a:pt x="299270" y="2992687"/>
                </a:lnTo>
                <a:cubicBezTo>
                  <a:pt x="233180" y="2949214"/>
                  <a:pt x="76698" y="2980319"/>
                  <a:pt x="6108" y="2992687"/>
                </a:cubicBezTo>
                <a:lnTo>
                  <a:pt x="0" y="2974364"/>
                </a:lnTo>
                <a:lnTo>
                  <a:pt x="12215" y="2974364"/>
                </a:lnTo>
                <a:cubicBezTo>
                  <a:pt x="40921" y="2956689"/>
                  <a:pt x="95162" y="2966248"/>
                  <a:pt x="128258" y="2949934"/>
                </a:cubicBezTo>
                <a:close/>
              </a:path>
            </a:pathLst>
          </a:custGeom>
          <a:solidFill>
            <a:schemeClr val="accent1"/>
          </a:solidFill>
          <a:ln w="609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6" name="任意多边形: 形状 55"/>
          <p:cNvSpPr/>
          <p:nvPr>
            <p:custDataLst>
              <p:tags r:id="rId14"/>
            </p:custDataLst>
          </p:nvPr>
        </p:nvSpPr>
        <p:spPr>
          <a:xfrm>
            <a:off x="4202000" y="759346"/>
            <a:ext cx="523814" cy="906747"/>
          </a:xfrm>
          <a:custGeom>
            <a:avLst/>
            <a:gdLst>
              <a:gd name="connsiteX0" fmla="*/ 113660 w 523814"/>
              <a:gd name="connsiteY0" fmla="*/ 1897 h 906747"/>
              <a:gd name="connsiteX1" fmla="*/ 120301 w 523814"/>
              <a:gd name="connsiteY1" fmla="*/ 14897 h 906747"/>
              <a:gd name="connsiteX2" fmla="*/ 137046 w 523814"/>
              <a:gd name="connsiteY2" fmla="*/ 21962 h 906747"/>
              <a:gd name="connsiteX3" fmla="*/ 186502 w 523814"/>
              <a:gd name="connsiteY3" fmla="*/ 21962 h 906747"/>
              <a:gd name="connsiteX4" fmla="*/ 186502 w 523814"/>
              <a:gd name="connsiteY4" fmla="*/ 382994 h 906747"/>
              <a:gd name="connsiteX5" fmla="*/ -231 w 523814"/>
              <a:gd name="connsiteY5" fmla="*/ 644406 h 906747"/>
              <a:gd name="connsiteX6" fmla="*/ 261676 w 523814"/>
              <a:gd name="connsiteY6" fmla="*/ 906384 h 906747"/>
              <a:gd name="connsiteX7" fmla="*/ 523583 w 523814"/>
              <a:gd name="connsiteY7" fmla="*/ 644406 h 906747"/>
              <a:gd name="connsiteX8" fmla="*/ 337062 w 523814"/>
              <a:gd name="connsiteY8" fmla="*/ 382994 h 906747"/>
              <a:gd name="connsiteX9" fmla="*/ 337061 w 523814"/>
              <a:gd name="connsiteY9" fmla="*/ 21821 h 906747"/>
              <a:gd name="connsiteX10" fmla="*/ 386518 w 523814"/>
              <a:gd name="connsiteY10" fmla="*/ 21821 h 906747"/>
              <a:gd name="connsiteX11" fmla="*/ 410116 w 523814"/>
              <a:gd name="connsiteY11" fmla="*/ -364 h 906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3814" h="906747">
                <a:moveTo>
                  <a:pt x="113660" y="1897"/>
                </a:moveTo>
                <a:cubicBezTo>
                  <a:pt x="114453" y="6820"/>
                  <a:pt x="116777" y="11369"/>
                  <a:pt x="120301" y="14897"/>
                </a:cubicBezTo>
                <a:cubicBezTo>
                  <a:pt x="124711" y="19400"/>
                  <a:pt x="130743" y="21945"/>
                  <a:pt x="137046" y="21962"/>
                </a:cubicBezTo>
                <a:lnTo>
                  <a:pt x="186502" y="21962"/>
                </a:lnTo>
                <a:lnTo>
                  <a:pt x="186502" y="382994"/>
                </a:lnTo>
                <a:cubicBezTo>
                  <a:pt x="74780" y="421261"/>
                  <a:pt x="-261" y="526313"/>
                  <a:pt x="-231" y="644406"/>
                </a:cubicBezTo>
                <a:cubicBezTo>
                  <a:pt x="-231" y="796661"/>
                  <a:pt x="109491" y="906384"/>
                  <a:pt x="261676" y="906384"/>
                </a:cubicBezTo>
                <a:cubicBezTo>
                  <a:pt x="413860" y="906384"/>
                  <a:pt x="523583" y="796661"/>
                  <a:pt x="523583" y="644406"/>
                </a:cubicBezTo>
                <a:cubicBezTo>
                  <a:pt x="523643" y="526369"/>
                  <a:pt x="448699" y="421333"/>
                  <a:pt x="337062" y="382994"/>
                </a:cubicBezTo>
                <a:lnTo>
                  <a:pt x="337061" y="21821"/>
                </a:lnTo>
                <a:lnTo>
                  <a:pt x="386518" y="21821"/>
                </a:lnTo>
                <a:cubicBezTo>
                  <a:pt x="399018" y="21843"/>
                  <a:pt x="409367" y="12114"/>
                  <a:pt x="410116" y="-364"/>
                </a:cubicBezTo>
                <a:close/>
              </a:path>
            </a:pathLst>
          </a:custGeom>
          <a:solidFill>
            <a:srgbClr val="FFFFFF"/>
          </a:solidFill>
          <a:ln w="69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7" name="任意多边形: 形状 56"/>
          <p:cNvSpPr/>
          <p:nvPr>
            <p:custDataLst>
              <p:tags r:id="rId15"/>
            </p:custDataLst>
          </p:nvPr>
        </p:nvSpPr>
        <p:spPr>
          <a:xfrm>
            <a:off x="4271683" y="1338551"/>
            <a:ext cx="384681" cy="248837"/>
          </a:xfrm>
          <a:custGeom>
            <a:avLst/>
            <a:gdLst>
              <a:gd name="connsiteX0" fmla="*/ 8298 w 384681"/>
              <a:gd name="connsiteY0" fmla="*/ -364 h 248837"/>
              <a:gd name="connsiteX1" fmla="*/ 135662 w 384681"/>
              <a:gd name="connsiteY1" fmla="*/ 239945 h 248837"/>
              <a:gd name="connsiteX2" fmla="*/ 375971 w 384681"/>
              <a:gd name="connsiteY2" fmla="*/ 112580 h 248837"/>
              <a:gd name="connsiteX3" fmla="*/ 384450 w 384681"/>
              <a:gd name="connsiteY3" fmla="*/ 56158 h 248837"/>
              <a:gd name="connsiteX4" fmla="*/ 375971 w 384681"/>
              <a:gd name="connsiteY4" fmla="*/ -364 h 248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4681" h="248837">
                <a:moveTo>
                  <a:pt x="8298" y="-364"/>
                </a:moveTo>
                <a:cubicBezTo>
                  <a:pt x="-22891" y="101166"/>
                  <a:pt x="34132" y="208756"/>
                  <a:pt x="135662" y="239945"/>
                </a:cubicBezTo>
                <a:cubicBezTo>
                  <a:pt x="237193" y="271133"/>
                  <a:pt x="344782" y="214110"/>
                  <a:pt x="375971" y="112580"/>
                </a:cubicBezTo>
                <a:cubicBezTo>
                  <a:pt x="381587" y="94299"/>
                  <a:pt x="384445" y="75282"/>
                  <a:pt x="384450" y="56158"/>
                </a:cubicBezTo>
                <a:cubicBezTo>
                  <a:pt x="384478" y="36998"/>
                  <a:pt x="381620" y="17944"/>
                  <a:pt x="375971" y="-364"/>
                </a:cubicBezTo>
                <a:close/>
              </a:path>
            </a:pathLst>
          </a:custGeom>
          <a:solidFill>
            <a:schemeClr val="accent1"/>
          </a:solidFill>
          <a:ln w="69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8" name="任意多边形: 形状 57"/>
          <p:cNvSpPr/>
          <p:nvPr>
            <p:custDataLst>
              <p:tags r:id="rId16"/>
            </p:custDataLst>
          </p:nvPr>
        </p:nvSpPr>
        <p:spPr>
          <a:xfrm>
            <a:off x="4201930" y="748324"/>
            <a:ext cx="523814" cy="917628"/>
          </a:xfrm>
          <a:custGeom>
            <a:avLst/>
            <a:gdLst>
              <a:gd name="connsiteX0" fmla="*/ 337273 w 523814"/>
              <a:gd name="connsiteY0" fmla="*/ 393945 h 917628"/>
              <a:gd name="connsiteX1" fmla="*/ 337273 w 523814"/>
              <a:gd name="connsiteY1" fmla="*/ 32843 h 917628"/>
              <a:gd name="connsiteX2" fmla="*/ 394643 w 523814"/>
              <a:gd name="connsiteY2" fmla="*/ 32843 h 917628"/>
              <a:gd name="connsiteX3" fmla="*/ 411246 w 523814"/>
              <a:gd name="connsiteY3" fmla="*/ 16239 h 917628"/>
              <a:gd name="connsiteX4" fmla="*/ 411246 w 523814"/>
              <a:gd name="connsiteY4" fmla="*/ 16239 h 917628"/>
              <a:gd name="connsiteX5" fmla="*/ 394643 w 523814"/>
              <a:gd name="connsiteY5" fmla="*/ -364 h 917628"/>
              <a:gd name="connsiteX6" fmla="*/ 129980 w 523814"/>
              <a:gd name="connsiteY6" fmla="*/ -364 h 917628"/>
              <a:gd name="connsiteX7" fmla="*/ 113377 w 523814"/>
              <a:gd name="connsiteY7" fmla="*/ 16239 h 917628"/>
              <a:gd name="connsiteX8" fmla="*/ 113377 w 523814"/>
              <a:gd name="connsiteY8" fmla="*/ 16239 h 917628"/>
              <a:gd name="connsiteX9" fmla="*/ 129980 w 523814"/>
              <a:gd name="connsiteY9" fmla="*/ 32843 h 917628"/>
              <a:gd name="connsiteX10" fmla="*/ 186502 w 523814"/>
              <a:gd name="connsiteY10" fmla="*/ 32843 h 917628"/>
              <a:gd name="connsiteX11" fmla="*/ 186502 w 523814"/>
              <a:gd name="connsiteY11" fmla="*/ 393874 h 917628"/>
              <a:gd name="connsiteX12" fmla="*/ -231 w 523814"/>
              <a:gd name="connsiteY12" fmla="*/ 655286 h 917628"/>
              <a:gd name="connsiteX13" fmla="*/ 261676 w 523814"/>
              <a:gd name="connsiteY13" fmla="*/ 917264 h 917628"/>
              <a:gd name="connsiteX14" fmla="*/ 523583 w 523814"/>
              <a:gd name="connsiteY14" fmla="*/ 655286 h 917628"/>
              <a:gd name="connsiteX15" fmla="*/ 337273 w 523814"/>
              <a:gd name="connsiteY15" fmla="*/ 393945 h 917628"/>
              <a:gd name="connsiteX16" fmla="*/ 261887 w 523814"/>
              <a:gd name="connsiteY16" fmla="*/ 890770 h 917628"/>
              <a:gd name="connsiteX17" fmla="*/ 26192 w 523814"/>
              <a:gd name="connsiteY17" fmla="*/ 655004 h 917628"/>
              <a:gd name="connsiteX18" fmla="*/ 195757 w 523814"/>
              <a:gd name="connsiteY18" fmla="*/ 427081 h 917628"/>
              <a:gd name="connsiteX19" fmla="*/ 212714 w 523814"/>
              <a:gd name="connsiteY19" fmla="*/ 399173 h 917628"/>
              <a:gd name="connsiteX20" fmla="*/ 219779 w 523814"/>
              <a:gd name="connsiteY20" fmla="*/ 32843 h 917628"/>
              <a:gd name="connsiteX21" fmla="*/ 303996 w 523814"/>
              <a:gd name="connsiteY21" fmla="*/ 32843 h 917628"/>
              <a:gd name="connsiteX22" fmla="*/ 311061 w 523814"/>
              <a:gd name="connsiteY22" fmla="*/ 398608 h 917628"/>
              <a:gd name="connsiteX23" fmla="*/ 328018 w 523814"/>
              <a:gd name="connsiteY23" fmla="*/ 426869 h 917628"/>
              <a:gd name="connsiteX24" fmla="*/ 497583 w 523814"/>
              <a:gd name="connsiteY24" fmla="*/ 654792 h 917628"/>
              <a:gd name="connsiteX25" fmla="*/ 261887 w 523814"/>
              <a:gd name="connsiteY25" fmla="*/ 890770 h 917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523814" h="917628">
                <a:moveTo>
                  <a:pt x="337273" y="393945"/>
                </a:moveTo>
                <a:lnTo>
                  <a:pt x="337273" y="32843"/>
                </a:lnTo>
                <a:lnTo>
                  <a:pt x="394643" y="32843"/>
                </a:lnTo>
                <a:cubicBezTo>
                  <a:pt x="403796" y="32804"/>
                  <a:pt x="411207" y="25393"/>
                  <a:pt x="411246" y="16239"/>
                </a:cubicBezTo>
                <a:lnTo>
                  <a:pt x="411246" y="16239"/>
                </a:lnTo>
                <a:cubicBezTo>
                  <a:pt x="411207" y="7086"/>
                  <a:pt x="403796" y="-325"/>
                  <a:pt x="394643" y="-364"/>
                </a:cubicBezTo>
                <a:lnTo>
                  <a:pt x="129980" y="-364"/>
                </a:lnTo>
                <a:cubicBezTo>
                  <a:pt x="120827" y="-325"/>
                  <a:pt x="113416" y="7086"/>
                  <a:pt x="113377" y="16239"/>
                </a:cubicBezTo>
                <a:lnTo>
                  <a:pt x="113377" y="16239"/>
                </a:lnTo>
                <a:cubicBezTo>
                  <a:pt x="113416" y="25393"/>
                  <a:pt x="120827" y="32804"/>
                  <a:pt x="129980" y="32843"/>
                </a:cubicBezTo>
                <a:lnTo>
                  <a:pt x="186502" y="32843"/>
                </a:lnTo>
                <a:lnTo>
                  <a:pt x="186502" y="393874"/>
                </a:lnTo>
                <a:cubicBezTo>
                  <a:pt x="74780" y="432141"/>
                  <a:pt x="-261" y="537193"/>
                  <a:pt x="-231" y="655286"/>
                </a:cubicBezTo>
                <a:cubicBezTo>
                  <a:pt x="-231" y="807542"/>
                  <a:pt x="109491" y="917264"/>
                  <a:pt x="261676" y="917264"/>
                </a:cubicBezTo>
                <a:cubicBezTo>
                  <a:pt x="413860" y="917264"/>
                  <a:pt x="523583" y="807542"/>
                  <a:pt x="523583" y="655286"/>
                </a:cubicBezTo>
                <a:cubicBezTo>
                  <a:pt x="523644" y="537330"/>
                  <a:pt x="448803" y="432348"/>
                  <a:pt x="337273" y="393945"/>
                </a:cubicBezTo>
                <a:close/>
                <a:moveTo>
                  <a:pt x="261887" y="890770"/>
                </a:moveTo>
                <a:cubicBezTo>
                  <a:pt x="135774" y="890770"/>
                  <a:pt x="26192" y="781118"/>
                  <a:pt x="26192" y="655004"/>
                </a:cubicBezTo>
                <a:cubicBezTo>
                  <a:pt x="26192" y="551499"/>
                  <a:pt x="95926" y="453646"/>
                  <a:pt x="195757" y="427081"/>
                </a:cubicBezTo>
                <a:cubicBezTo>
                  <a:pt x="207926" y="423760"/>
                  <a:pt x="215374" y="411503"/>
                  <a:pt x="212714" y="399173"/>
                </a:cubicBezTo>
                <a:lnTo>
                  <a:pt x="219779" y="32843"/>
                </a:lnTo>
                <a:lnTo>
                  <a:pt x="303996" y="32843"/>
                </a:lnTo>
                <a:lnTo>
                  <a:pt x="311061" y="398608"/>
                </a:lnTo>
                <a:cubicBezTo>
                  <a:pt x="308227" y="411050"/>
                  <a:pt x="315706" y="423514"/>
                  <a:pt x="328018" y="426869"/>
                </a:cubicBezTo>
                <a:cubicBezTo>
                  <a:pt x="427849" y="453434"/>
                  <a:pt x="497583" y="551357"/>
                  <a:pt x="497583" y="654792"/>
                </a:cubicBezTo>
                <a:cubicBezTo>
                  <a:pt x="497583" y="781118"/>
                  <a:pt x="388001" y="890770"/>
                  <a:pt x="261887" y="890770"/>
                </a:cubicBezTo>
                <a:close/>
              </a:path>
            </a:pathLst>
          </a:custGeom>
          <a:solidFill>
            <a:schemeClr val="accent1"/>
          </a:solidFill>
          <a:ln w="69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3" hasCustomPrompt="1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 hasCustomPrompt="1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+mn-ea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"/>
          <p:cNvSpPr txBox="1">
            <a:spLocks noGrp="1"/>
          </p:cNvSpPr>
          <p:nvPr>
            <p:ph type="title" idx="5" hasCustomPrompt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+mn-ea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 hasCustomPrompt="1"/>
            <p:custDataLst>
              <p:tags r:id="rId3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MiSans Normal" panose="00000500000000000000" charset="-122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正文"/>
          <p:cNvSpPr txBox="1">
            <a:spLocks noGrp="1"/>
          </p:cNvSpPr>
          <p:nvPr>
            <p:ph idx="2" hasCustomPrompt="1"/>
            <p:custDataLst>
              <p:tags r:id="rId5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sym typeface="MiSans Normal" panose="00000500000000000000" charset="-122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+mn-ea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sym typeface="MiSans Normal" panose="00000500000000000000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608400" y="608400"/>
            <a:ext cx="10969200" cy="68837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lt"/>
                <a:sym typeface="+mn-ea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6" name="副标题"/>
          <p:cNvSpPr txBox="1"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330" y="1301750"/>
            <a:ext cx="10968990" cy="40576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  <a:sym typeface="MiSans Normal" panose="00000500000000000000" charset="-122"/>
              </a:defRPr>
            </a:lvl1pPr>
          </a:lstStyle>
          <a:p>
            <a:pPr lvl="0" algn="l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单圆角矩形 2"/>
          <p:cNvSpPr/>
          <p:nvPr>
            <p:custDataLst>
              <p:tags r:id="rId2"/>
            </p:custDataLst>
          </p:nvPr>
        </p:nvSpPr>
        <p:spPr>
          <a:xfrm>
            <a:off x="0" y="2958823"/>
            <a:ext cx="5585584" cy="2935322"/>
          </a:xfrm>
          <a:prstGeom prst="round1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5" name="矩形 174"/>
          <p:cNvSpPr/>
          <p:nvPr>
            <p:custDataLst>
              <p:tags r:id="rId3"/>
            </p:custDataLst>
          </p:nvPr>
        </p:nvSpPr>
        <p:spPr>
          <a:xfrm>
            <a:off x="-6779" y="5897328"/>
            <a:ext cx="12191999" cy="9606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58165" y="423545"/>
            <a:ext cx="71755" cy="71755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737870" y="423545"/>
            <a:ext cx="71755" cy="71755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916940" y="423545"/>
            <a:ext cx="71755" cy="71755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096010" y="424180"/>
            <a:ext cx="71755" cy="71755"/>
          </a:xfrm>
          <a:prstGeom prst="ellipse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3" hasCustomPrompt="1"/>
            <p:custDataLst>
              <p:tags r:id="rId8"/>
            </p:custDataLst>
          </p:nvPr>
        </p:nvSpPr>
        <p:spPr>
          <a:xfrm>
            <a:off x="5585460" y="1564005"/>
            <a:ext cx="6035675" cy="234569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4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MiSans Normal" panose="00000500000000000000" charset="-122"/>
              </a:defRPr>
            </a:lvl1pPr>
          </a:lstStyle>
          <a:p>
            <a:pPr lvl="0" algn="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70" y="594440"/>
            <a:ext cx="5366057" cy="6263560"/>
          </a:xfrm>
          <a:prstGeom prst="rect">
            <a:avLst/>
          </a:prstGeom>
        </p:spPr>
      </p:pic>
      <p:sp>
        <p:nvSpPr>
          <p:cNvPr id="7" name="图形 4"/>
          <p:cNvSpPr/>
          <p:nvPr>
            <p:custDataLst>
              <p:tags r:id="rId11"/>
            </p:custDataLst>
          </p:nvPr>
        </p:nvSpPr>
        <p:spPr>
          <a:xfrm>
            <a:off x="1294069" y="1997578"/>
            <a:ext cx="4455913" cy="4860421"/>
          </a:xfrm>
          <a:custGeom>
            <a:avLst/>
            <a:gdLst>
              <a:gd name="connsiteX0" fmla="*/ 1384177 w 4455913"/>
              <a:gd name="connsiteY0" fmla="*/ 0 h 4860421"/>
              <a:gd name="connsiteX1" fmla="*/ 1384177 w 4455913"/>
              <a:gd name="connsiteY1" fmla="*/ 50564 h 4860421"/>
              <a:gd name="connsiteX2" fmla="*/ 1845570 w 4455913"/>
              <a:gd name="connsiteY2" fmla="*/ 334984 h 4860421"/>
              <a:gd name="connsiteX3" fmla="*/ 1896133 w 4455913"/>
              <a:gd name="connsiteY3" fmla="*/ 113768 h 4860421"/>
              <a:gd name="connsiteX4" fmla="*/ 1927735 w 4455913"/>
              <a:gd name="connsiteY4" fmla="*/ 113768 h 4860421"/>
              <a:gd name="connsiteX5" fmla="*/ 2022542 w 4455913"/>
              <a:gd name="connsiteY5" fmla="*/ 372906 h 4860421"/>
              <a:gd name="connsiteX6" fmla="*/ 1997260 w 4455913"/>
              <a:gd name="connsiteY6" fmla="*/ 372906 h 4860421"/>
              <a:gd name="connsiteX7" fmla="*/ 1990940 w 4455913"/>
              <a:gd name="connsiteY7" fmla="*/ 556199 h 4860421"/>
              <a:gd name="connsiteX8" fmla="*/ 1978299 w 4455913"/>
              <a:gd name="connsiteY8" fmla="*/ 556199 h 4860421"/>
              <a:gd name="connsiteX9" fmla="*/ 1978299 w 4455913"/>
              <a:gd name="connsiteY9" fmla="*/ 543558 h 4860421"/>
              <a:gd name="connsiteX10" fmla="*/ 1845570 w 4455913"/>
              <a:gd name="connsiteY10" fmla="*/ 353945 h 4860421"/>
              <a:gd name="connsiteX11" fmla="*/ 1845570 w 4455913"/>
              <a:gd name="connsiteY11" fmla="*/ 360265 h 4860421"/>
              <a:gd name="connsiteX12" fmla="*/ 1776045 w 4455913"/>
              <a:gd name="connsiteY12" fmla="*/ 663647 h 4860421"/>
              <a:gd name="connsiteX13" fmla="*/ 1384177 w 4455913"/>
              <a:gd name="connsiteY13" fmla="*/ 360265 h 4860421"/>
              <a:gd name="connsiteX14" fmla="*/ 1396818 w 4455913"/>
              <a:gd name="connsiteY14" fmla="*/ 372906 h 4860421"/>
              <a:gd name="connsiteX15" fmla="*/ 1795006 w 4455913"/>
              <a:gd name="connsiteY15" fmla="*/ 695249 h 4860421"/>
              <a:gd name="connsiteX16" fmla="*/ 1795006 w 4455913"/>
              <a:gd name="connsiteY16" fmla="*/ 682608 h 4860421"/>
              <a:gd name="connsiteX17" fmla="*/ 1851890 w 4455913"/>
              <a:gd name="connsiteY17" fmla="*/ 404508 h 4860421"/>
              <a:gd name="connsiteX18" fmla="*/ 1864531 w 4455913"/>
              <a:gd name="connsiteY18" fmla="*/ 410829 h 4860421"/>
              <a:gd name="connsiteX19" fmla="*/ 2009901 w 4455913"/>
              <a:gd name="connsiteY19" fmla="*/ 613083 h 4860421"/>
              <a:gd name="connsiteX20" fmla="*/ 2009901 w 4455913"/>
              <a:gd name="connsiteY20" fmla="*/ 543558 h 4860421"/>
              <a:gd name="connsiteX21" fmla="*/ 2022542 w 4455913"/>
              <a:gd name="connsiteY21" fmla="*/ 391868 h 4860421"/>
              <a:gd name="connsiteX22" fmla="*/ 2035183 w 4455913"/>
              <a:gd name="connsiteY22" fmla="*/ 391868 h 4860421"/>
              <a:gd name="connsiteX23" fmla="*/ 2047824 w 4455913"/>
              <a:gd name="connsiteY23" fmla="*/ 644685 h 4860421"/>
              <a:gd name="connsiteX24" fmla="*/ 2085747 w 4455913"/>
              <a:gd name="connsiteY24" fmla="*/ 1365216 h 4860421"/>
              <a:gd name="connsiteX25" fmla="*/ 2098388 w 4455913"/>
              <a:gd name="connsiteY25" fmla="*/ 1365216 h 4860421"/>
              <a:gd name="connsiteX26" fmla="*/ 2300642 w 4455913"/>
              <a:gd name="connsiteY26" fmla="*/ 865901 h 4860421"/>
              <a:gd name="connsiteX27" fmla="*/ 2193194 w 4455913"/>
              <a:gd name="connsiteY27" fmla="*/ 752133 h 4860421"/>
              <a:gd name="connsiteX28" fmla="*/ 2193194 w 4455913"/>
              <a:gd name="connsiteY28" fmla="*/ 739492 h 4860421"/>
              <a:gd name="connsiteX29" fmla="*/ 2231117 w 4455913"/>
              <a:gd name="connsiteY29" fmla="*/ 726851 h 4860421"/>
              <a:gd name="connsiteX30" fmla="*/ 2294321 w 4455913"/>
              <a:gd name="connsiteY30" fmla="*/ 739492 h 4860421"/>
              <a:gd name="connsiteX31" fmla="*/ 2269040 w 4455913"/>
              <a:gd name="connsiteY31" fmla="*/ 353945 h 4860421"/>
              <a:gd name="connsiteX32" fmla="*/ 2288001 w 4455913"/>
              <a:gd name="connsiteY32" fmla="*/ 347624 h 4860421"/>
              <a:gd name="connsiteX33" fmla="*/ 2300642 w 4455913"/>
              <a:gd name="connsiteY33" fmla="*/ 391868 h 4860421"/>
              <a:gd name="connsiteX34" fmla="*/ 2325924 w 4455913"/>
              <a:gd name="connsiteY34" fmla="*/ 764774 h 4860421"/>
              <a:gd name="connsiteX35" fmla="*/ 2275360 w 4455913"/>
              <a:gd name="connsiteY35" fmla="*/ 777415 h 4860421"/>
              <a:gd name="connsiteX36" fmla="*/ 2250078 w 4455913"/>
              <a:gd name="connsiteY36" fmla="*/ 771094 h 4860421"/>
              <a:gd name="connsiteX37" fmla="*/ 2332244 w 4455913"/>
              <a:gd name="connsiteY37" fmla="*/ 891183 h 4860421"/>
              <a:gd name="connsiteX38" fmla="*/ 2111028 w 4455913"/>
              <a:gd name="connsiteY38" fmla="*/ 1403139 h 4860421"/>
              <a:gd name="connsiteX39" fmla="*/ 2148951 w 4455913"/>
              <a:gd name="connsiteY39" fmla="*/ 1542188 h 4860421"/>
              <a:gd name="connsiteX40" fmla="*/ 2174233 w 4455913"/>
              <a:gd name="connsiteY40" fmla="*/ 2142631 h 4860421"/>
              <a:gd name="connsiteX41" fmla="*/ 2231117 w 4455913"/>
              <a:gd name="connsiteY41" fmla="*/ 4860422 h 4860421"/>
              <a:gd name="connsiteX42" fmla="*/ 2205835 w 4455913"/>
              <a:gd name="connsiteY42" fmla="*/ 4860422 h 4860421"/>
              <a:gd name="connsiteX43" fmla="*/ 2148951 w 4455913"/>
              <a:gd name="connsiteY43" fmla="*/ 2648266 h 4860421"/>
              <a:gd name="connsiteX44" fmla="*/ 2129990 w 4455913"/>
              <a:gd name="connsiteY44" fmla="*/ 1927735 h 4860421"/>
              <a:gd name="connsiteX45" fmla="*/ 2123669 w 4455913"/>
              <a:gd name="connsiteY45" fmla="*/ 1813967 h 4860421"/>
              <a:gd name="connsiteX46" fmla="*/ 1820288 w 4455913"/>
              <a:gd name="connsiteY46" fmla="*/ 1441061 h 4860421"/>
              <a:gd name="connsiteX47" fmla="*/ 1662277 w 4455913"/>
              <a:gd name="connsiteY47" fmla="*/ 1283050 h 4860421"/>
              <a:gd name="connsiteX48" fmla="*/ 1434741 w 4455913"/>
              <a:gd name="connsiteY48" fmla="*/ 1023912 h 4860421"/>
              <a:gd name="connsiteX49" fmla="*/ 1491625 w 4455913"/>
              <a:gd name="connsiteY49" fmla="*/ 878542 h 4860421"/>
              <a:gd name="connsiteX50" fmla="*/ 1460023 w 4455913"/>
              <a:gd name="connsiteY50" fmla="*/ 878542 h 4860421"/>
              <a:gd name="connsiteX51" fmla="*/ 1327293 w 4455913"/>
              <a:gd name="connsiteY51" fmla="*/ 916464 h 4860421"/>
              <a:gd name="connsiteX52" fmla="*/ 1011271 w 4455913"/>
              <a:gd name="connsiteY52" fmla="*/ 492995 h 4860421"/>
              <a:gd name="connsiteX53" fmla="*/ 884862 w 4455913"/>
              <a:gd name="connsiteY53" fmla="*/ 328663 h 4860421"/>
              <a:gd name="connsiteX54" fmla="*/ 910144 w 4455913"/>
              <a:gd name="connsiteY54" fmla="*/ 328663 h 4860421"/>
              <a:gd name="connsiteX55" fmla="*/ 1339934 w 4455913"/>
              <a:gd name="connsiteY55" fmla="*/ 884862 h 4860421"/>
              <a:gd name="connsiteX56" fmla="*/ 1516907 w 4455913"/>
              <a:gd name="connsiteY56" fmla="*/ 846940 h 4860421"/>
              <a:gd name="connsiteX57" fmla="*/ 1466343 w 4455913"/>
              <a:gd name="connsiteY57" fmla="*/ 1042873 h 4860421"/>
              <a:gd name="connsiteX58" fmla="*/ 1782365 w 4455913"/>
              <a:gd name="connsiteY58" fmla="*/ 1365216 h 4860421"/>
              <a:gd name="connsiteX59" fmla="*/ 2060465 w 4455913"/>
              <a:gd name="connsiteY59" fmla="*/ 1605393 h 4860421"/>
              <a:gd name="connsiteX60" fmla="*/ 2123669 w 4455913"/>
              <a:gd name="connsiteY60" fmla="*/ 1738122 h 4860421"/>
              <a:gd name="connsiteX61" fmla="*/ 1706520 w 4455913"/>
              <a:gd name="connsiteY61" fmla="*/ 865901 h 4860421"/>
              <a:gd name="connsiteX62" fmla="*/ 1238807 w 4455913"/>
              <a:gd name="connsiteY62" fmla="*/ 183293 h 4860421"/>
              <a:gd name="connsiteX63" fmla="*/ 1346255 w 4455913"/>
              <a:gd name="connsiteY63" fmla="*/ 6320 h 4860421"/>
              <a:gd name="connsiteX64" fmla="*/ 4234698 w 4455913"/>
              <a:gd name="connsiteY64" fmla="*/ 587801 h 4860421"/>
              <a:gd name="connsiteX65" fmla="*/ 4253659 w 4455913"/>
              <a:gd name="connsiteY65" fmla="*/ 587801 h 4860421"/>
              <a:gd name="connsiteX66" fmla="*/ 4253659 w 4455913"/>
              <a:gd name="connsiteY66" fmla="*/ 600442 h 4860421"/>
              <a:gd name="connsiteX67" fmla="*/ 4266300 w 4455913"/>
              <a:gd name="connsiteY67" fmla="*/ 663647 h 4860421"/>
              <a:gd name="connsiteX68" fmla="*/ 4455913 w 4455913"/>
              <a:gd name="connsiteY68" fmla="*/ 897503 h 4860421"/>
              <a:gd name="connsiteX69" fmla="*/ 4449593 w 4455913"/>
              <a:gd name="connsiteY69" fmla="*/ 910144 h 4860421"/>
              <a:gd name="connsiteX70" fmla="*/ 4430632 w 4455913"/>
              <a:gd name="connsiteY70" fmla="*/ 916464 h 4860421"/>
              <a:gd name="connsiteX71" fmla="*/ 4234698 w 4455913"/>
              <a:gd name="connsiteY71" fmla="*/ 587801 h 4860421"/>
              <a:gd name="connsiteX72" fmla="*/ 2534498 w 4455913"/>
              <a:gd name="connsiteY72" fmla="*/ 809017 h 4860421"/>
              <a:gd name="connsiteX73" fmla="*/ 2559780 w 4455913"/>
              <a:gd name="connsiteY73" fmla="*/ 809017 h 4860421"/>
              <a:gd name="connsiteX74" fmla="*/ 2629305 w 4455913"/>
              <a:gd name="connsiteY74" fmla="*/ 1030232 h 4860421"/>
              <a:gd name="connsiteX75" fmla="*/ 2717791 w 4455913"/>
              <a:gd name="connsiteY75" fmla="*/ 1934056 h 4860421"/>
              <a:gd name="connsiteX76" fmla="*/ 2711471 w 4455913"/>
              <a:gd name="connsiteY76" fmla="*/ 1934056 h 4860421"/>
              <a:gd name="connsiteX77" fmla="*/ 2616664 w 4455913"/>
              <a:gd name="connsiteY77" fmla="*/ 1750763 h 4860421"/>
              <a:gd name="connsiteX78" fmla="*/ 2622984 w 4455913"/>
              <a:gd name="connsiteY78" fmla="*/ 1516907 h 4860421"/>
              <a:gd name="connsiteX79" fmla="*/ 2591382 w 4455913"/>
              <a:gd name="connsiteY79" fmla="*/ 1004951 h 4860421"/>
              <a:gd name="connsiteX80" fmla="*/ 2534498 w 4455913"/>
              <a:gd name="connsiteY80" fmla="*/ 809017 h 4860421"/>
              <a:gd name="connsiteX81" fmla="*/ 3318233 w 4455913"/>
              <a:gd name="connsiteY81" fmla="*/ 1264089 h 4860421"/>
              <a:gd name="connsiteX82" fmla="*/ 3337195 w 4455913"/>
              <a:gd name="connsiteY82" fmla="*/ 1270409 h 4860421"/>
              <a:gd name="connsiteX83" fmla="*/ 3330874 w 4455913"/>
              <a:gd name="connsiteY83" fmla="*/ 1478984 h 4860421"/>
              <a:gd name="connsiteX84" fmla="*/ 3292951 w 4455913"/>
              <a:gd name="connsiteY84" fmla="*/ 1466343 h 4860421"/>
              <a:gd name="connsiteX85" fmla="*/ 3236067 w 4455913"/>
              <a:gd name="connsiteY85" fmla="*/ 1453702 h 4860421"/>
              <a:gd name="connsiteX86" fmla="*/ 3236067 w 4455913"/>
              <a:gd name="connsiteY86" fmla="*/ 1447382 h 4860421"/>
              <a:gd name="connsiteX87" fmla="*/ 3229747 w 4455913"/>
              <a:gd name="connsiteY87" fmla="*/ 1434741 h 4860421"/>
              <a:gd name="connsiteX88" fmla="*/ 3273990 w 4455913"/>
              <a:gd name="connsiteY88" fmla="*/ 1270409 h 4860421"/>
              <a:gd name="connsiteX89" fmla="*/ 3292951 w 4455913"/>
              <a:gd name="connsiteY89" fmla="*/ 1283050 h 4860421"/>
              <a:gd name="connsiteX90" fmla="*/ 3318233 w 4455913"/>
              <a:gd name="connsiteY90" fmla="*/ 1453702 h 4860421"/>
              <a:gd name="connsiteX91" fmla="*/ 3324554 w 4455913"/>
              <a:gd name="connsiteY91" fmla="*/ 1447382 h 4860421"/>
              <a:gd name="connsiteX92" fmla="*/ 3318233 w 4455913"/>
              <a:gd name="connsiteY92" fmla="*/ 1264089 h 4860421"/>
              <a:gd name="connsiteX93" fmla="*/ 897503 w 4455913"/>
              <a:gd name="connsiteY93" fmla="*/ 1396818 h 4860421"/>
              <a:gd name="connsiteX94" fmla="*/ 922785 w 4455913"/>
              <a:gd name="connsiteY94" fmla="*/ 1409459 h 4860421"/>
              <a:gd name="connsiteX95" fmla="*/ 777415 w 4455913"/>
              <a:gd name="connsiteY95" fmla="*/ 1674918 h 4860421"/>
              <a:gd name="connsiteX96" fmla="*/ 733172 w 4455913"/>
              <a:gd name="connsiteY96" fmla="*/ 1832929 h 4860421"/>
              <a:gd name="connsiteX97" fmla="*/ 707890 w 4455913"/>
              <a:gd name="connsiteY97" fmla="*/ 1681238 h 4860421"/>
              <a:gd name="connsiteX98" fmla="*/ 897503 w 4455913"/>
              <a:gd name="connsiteY98" fmla="*/ 1396818 h 4860421"/>
              <a:gd name="connsiteX99" fmla="*/ 189613 w 4455913"/>
              <a:gd name="connsiteY99" fmla="*/ 2174233 h 4860421"/>
              <a:gd name="connsiteX100" fmla="*/ 284420 w 4455913"/>
              <a:gd name="connsiteY100" fmla="*/ 2186874 h 4860421"/>
              <a:gd name="connsiteX101" fmla="*/ 290740 w 4455913"/>
              <a:gd name="connsiteY101" fmla="*/ 2212156 h 4860421"/>
              <a:gd name="connsiteX102" fmla="*/ 208575 w 4455913"/>
              <a:gd name="connsiteY102" fmla="*/ 2250078 h 4860421"/>
              <a:gd name="connsiteX103" fmla="*/ 297061 w 4455913"/>
              <a:gd name="connsiteY103" fmla="*/ 2275360 h 4860421"/>
              <a:gd name="connsiteX104" fmla="*/ 290740 w 4455913"/>
              <a:gd name="connsiteY104" fmla="*/ 2275360 h 4860421"/>
              <a:gd name="connsiteX105" fmla="*/ 107448 w 4455913"/>
              <a:gd name="connsiteY105" fmla="*/ 2288001 h 4860421"/>
              <a:gd name="connsiteX106" fmla="*/ 94807 w 4455913"/>
              <a:gd name="connsiteY106" fmla="*/ 2262719 h 4860421"/>
              <a:gd name="connsiteX107" fmla="*/ 101127 w 4455913"/>
              <a:gd name="connsiteY107" fmla="*/ 2262719 h 4860421"/>
              <a:gd name="connsiteX108" fmla="*/ 227536 w 4455913"/>
              <a:gd name="connsiteY108" fmla="*/ 2205835 h 4860421"/>
              <a:gd name="connsiteX109" fmla="*/ 6320 w 4455913"/>
              <a:gd name="connsiteY109" fmla="*/ 2243758 h 4860421"/>
              <a:gd name="connsiteX110" fmla="*/ 0 w 4455913"/>
              <a:gd name="connsiteY110" fmla="*/ 2218476 h 4860421"/>
              <a:gd name="connsiteX111" fmla="*/ 12641 w 4455913"/>
              <a:gd name="connsiteY111" fmla="*/ 2218476 h 4860421"/>
              <a:gd name="connsiteX112" fmla="*/ 189613 w 4455913"/>
              <a:gd name="connsiteY112" fmla="*/ 2174233 h 4860421"/>
              <a:gd name="connsiteX113" fmla="*/ 720531 w 4455913"/>
              <a:gd name="connsiteY113" fmla="*/ 2673548 h 4860421"/>
              <a:gd name="connsiteX114" fmla="*/ 739492 w 4455913"/>
              <a:gd name="connsiteY114" fmla="*/ 2673548 h 4860421"/>
              <a:gd name="connsiteX115" fmla="*/ 834299 w 4455913"/>
              <a:gd name="connsiteY115" fmla="*/ 2780995 h 4860421"/>
              <a:gd name="connsiteX116" fmla="*/ 809017 w 4455913"/>
              <a:gd name="connsiteY116" fmla="*/ 2787316 h 4860421"/>
              <a:gd name="connsiteX117" fmla="*/ 714210 w 4455913"/>
              <a:gd name="connsiteY117" fmla="*/ 2692509 h 4860421"/>
              <a:gd name="connsiteX118" fmla="*/ 764774 w 4455913"/>
              <a:gd name="connsiteY118" fmla="*/ 2793636 h 4860421"/>
              <a:gd name="connsiteX119" fmla="*/ 783735 w 4455913"/>
              <a:gd name="connsiteY119" fmla="*/ 2799957 h 4860421"/>
              <a:gd name="connsiteX120" fmla="*/ 790056 w 4455913"/>
              <a:gd name="connsiteY120" fmla="*/ 2818918 h 4860421"/>
              <a:gd name="connsiteX121" fmla="*/ 758453 w 4455913"/>
              <a:gd name="connsiteY121" fmla="*/ 3153902 h 4860421"/>
              <a:gd name="connsiteX122" fmla="*/ 790056 w 4455913"/>
              <a:gd name="connsiteY122" fmla="*/ 3185504 h 4860421"/>
              <a:gd name="connsiteX123" fmla="*/ 758453 w 4455913"/>
              <a:gd name="connsiteY123" fmla="*/ 3191824 h 4860421"/>
              <a:gd name="connsiteX124" fmla="*/ 745812 w 4455913"/>
              <a:gd name="connsiteY124" fmla="*/ 3185504 h 4860421"/>
              <a:gd name="connsiteX125" fmla="*/ 764774 w 4455913"/>
              <a:gd name="connsiteY125" fmla="*/ 2793636 h 4860421"/>
              <a:gd name="connsiteX126" fmla="*/ 872221 w 4455913"/>
              <a:gd name="connsiteY126" fmla="*/ 3097018 h 4860421"/>
              <a:gd name="connsiteX127" fmla="*/ 651006 w 4455913"/>
              <a:gd name="connsiteY127" fmla="*/ 3248708 h 4860421"/>
              <a:gd name="connsiteX128" fmla="*/ 651006 w 4455913"/>
              <a:gd name="connsiteY128" fmla="*/ 3223427 h 4860421"/>
              <a:gd name="connsiteX129" fmla="*/ 872221 w 4455913"/>
              <a:gd name="connsiteY129" fmla="*/ 3097018 h 4860421"/>
              <a:gd name="connsiteX130" fmla="*/ 840619 w 4455913"/>
              <a:gd name="connsiteY130" fmla="*/ 3558410 h 4860421"/>
              <a:gd name="connsiteX131" fmla="*/ 1150321 w 4455913"/>
              <a:gd name="connsiteY131" fmla="*/ 3590012 h 4860421"/>
              <a:gd name="connsiteX132" fmla="*/ 1497945 w 4455913"/>
              <a:gd name="connsiteY132" fmla="*/ 3577371 h 4860421"/>
              <a:gd name="connsiteX133" fmla="*/ 1504266 w 4455913"/>
              <a:gd name="connsiteY133" fmla="*/ 3583692 h 4860421"/>
              <a:gd name="connsiteX134" fmla="*/ 1504266 w 4455913"/>
              <a:gd name="connsiteY134" fmla="*/ 3596333 h 4860421"/>
              <a:gd name="connsiteX135" fmla="*/ 1403139 w 4455913"/>
              <a:gd name="connsiteY135" fmla="*/ 3608974 h 4860421"/>
              <a:gd name="connsiteX136" fmla="*/ 853260 w 4455913"/>
              <a:gd name="connsiteY136" fmla="*/ 3590012 h 4860421"/>
              <a:gd name="connsiteX137" fmla="*/ 840619 w 4455913"/>
              <a:gd name="connsiteY137" fmla="*/ 3558410 h 4860421"/>
              <a:gd name="connsiteX138" fmla="*/ 1491625 w 4455913"/>
              <a:gd name="connsiteY138" fmla="*/ 3697460 h 4860421"/>
              <a:gd name="connsiteX139" fmla="*/ 1510586 w 4455913"/>
              <a:gd name="connsiteY139" fmla="*/ 3703780 h 4860421"/>
              <a:gd name="connsiteX140" fmla="*/ 1516907 w 4455913"/>
              <a:gd name="connsiteY140" fmla="*/ 4026123 h 4860421"/>
              <a:gd name="connsiteX141" fmla="*/ 1472664 w 4455913"/>
              <a:gd name="connsiteY141" fmla="*/ 4342145 h 4860421"/>
              <a:gd name="connsiteX142" fmla="*/ 910144 w 4455913"/>
              <a:gd name="connsiteY142" fmla="*/ 4329504 h 4860421"/>
              <a:gd name="connsiteX143" fmla="*/ 903824 w 4455913"/>
              <a:gd name="connsiteY143" fmla="*/ 4304223 h 4860421"/>
              <a:gd name="connsiteX144" fmla="*/ 948067 w 4455913"/>
              <a:gd name="connsiteY144" fmla="*/ 4304223 h 4860421"/>
              <a:gd name="connsiteX145" fmla="*/ 1460023 w 4455913"/>
              <a:gd name="connsiteY145" fmla="*/ 4310543 h 4860421"/>
              <a:gd name="connsiteX146" fmla="*/ 1485304 w 4455913"/>
              <a:gd name="connsiteY146" fmla="*/ 3994521 h 4860421"/>
              <a:gd name="connsiteX147" fmla="*/ 1491625 w 4455913"/>
              <a:gd name="connsiteY147" fmla="*/ 3697460 h 4860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4455913" h="4860421">
                <a:moveTo>
                  <a:pt x="1384177" y="0"/>
                </a:moveTo>
                <a:lnTo>
                  <a:pt x="1384177" y="50564"/>
                </a:lnTo>
                <a:cubicBezTo>
                  <a:pt x="1412341" y="121106"/>
                  <a:pt x="1752343" y="321331"/>
                  <a:pt x="1845570" y="334984"/>
                </a:cubicBezTo>
                <a:cubicBezTo>
                  <a:pt x="1885262" y="270035"/>
                  <a:pt x="1915815" y="206451"/>
                  <a:pt x="1896133" y="113768"/>
                </a:cubicBezTo>
                <a:lnTo>
                  <a:pt x="1927735" y="113768"/>
                </a:lnTo>
                <a:cubicBezTo>
                  <a:pt x="1964129" y="193462"/>
                  <a:pt x="2018345" y="265092"/>
                  <a:pt x="2022542" y="372906"/>
                </a:cubicBezTo>
                <a:lnTo>
                  <a:pt x="1997260" y="372906"/>
                </a:lnTo>
                <a:cubicBezTo>
                  <a:pt x="1995154" y="434004"/>
                  <a:pt x="1993047" y="495102"/>
                  <a:pt x="1990940" y="556199"/>
                </a:cubicBezTo>
                <a:lnTo>
                  <a:pt x="1978299" y="556199"/>
                </a:lnTo>
                <a:lnTo>
                  <a:pt x="1978299" y="543558"/>
                </a:lnTo>
                <a:cubicBezTo>
                  <a:pt x="1935282" y="494613"/>
                  <a:pt x="1905778" y="381831"/>
                  <a:pt x="1845570" y="353945"/>
                </a:cubicBezTo>
                <a:lnTo>
                  <a:pt x="1845570" y="360265"/>
                </a:lnTo>
                <a:lnTo>
                  <a:pt x="1776045" y="663647"/>
                </a:lnTo>
                <a:cubicBezTo>
                  <a:pt x="1664950" y="602420"/>
                  <a:pt x="1495228" y="385256"/>
                  <a:pt x="1384177" y="360265"/>
                </a:cubicBezTo>
                <a:cubicBezTo>
                  <a:pt x="1384177" y="366586"/>
                  <a:pt x="1396818" y="366586"/>
                  <a:pt x="1396818" y="372906"/>
                </a:cubicBezTo>
                <a:cubicBezTo>
                  <a:pt x="1529048" y="465185"/>
                  <a:pt x="1663813" y="662079"/>
                  <a:pt x="1795006" y="695249"/>
                </a:cubicBezTo>
                <a:lnTo>
                  <a:pt x="1795006" y="682608"/>
                </a:lnTo>
                <a:cubicBezTo>
                  <a:pt x="1813968" y="589908"/>
                  <a:pt x="1832929" y="497208"/>
                  <a:pt x="1851890" y="404508"/>
                </a:cubicBezTo>
                <a:cubicBezTo>
                  <a:pt x="1868747" y="404508"/>
                  <a:pt x="1864531" y="402404"/>
                  <a:pt x="1864531" y="410829"/>
                </a:cubicBezTo>
                <a:cubicBezTo>
                  <a:pt x="1909021" y="461020"/>
                  <a:pt x="1943998" y="589874"/>
                  <a:pt x="2009901" y="613083"/>
                </a:cubicBezTo>
                <a:lnTo>
                  <a:pt x="2009901" y="543558"/>
                </a:lnTo>
                <a:cubicBezTo>
                  <a:pt x="2014115" y="492995"/>
                  <a:pt x="2018329" y="442431"/>
                  <a:pt x="2022542" y="391868"/>
                </a:cubicBezTo>
                <a:lnTo>
                  <a:pt x="2035183" y="391868"/>
                </a:lnTo>
                <a:cubicBezTo>
                  <a:pt x="2035183" y="386647"/>
                  <a:pt x="2031587" y="553266"/>
                  <a:pt x="2047824" y="644685"/>
                </a:cubicBezTo>
                <a:cubicBezTo>
                  <a:pt x="2081322" y="833142"/>
                  <a:pt x="2023465" y="1228530"/>
                  <a:pt x="2085747" y="1365216"/>
                </a:cubicBezTo>
                <a:lnTo>
                  <a:pt x="2098388" y="1365216"/>
                </a:lnTo>
                <a:cubicBezTo>
                  <a:pt x="2144299" y="1194564"/>
                  <a:pt x="2282395" y="1050610"/>
                  <a:pt x="2300642" y="865901"/>
                </a:cubicBezTo>
                <a:lnTo>
                  <a:pt x="2193194" y="752133"/>
                </a:lnTo>
                <a:lnTo>
                  <a:pt x="2193194" y="739492"/>
                </a:lnTo>
                <a:cubicBezTo>
                  <a:pt x="2210702" y="732729"/>
                  <a:pt x="2206966" y="730814"/>
                  <a:pt x="2231117" y="726851"/>
                </a:cubicBezTo>
                <a:cubicBezTo>
                  <a:pt x="2245951" y="738999"/>
                  <a:pt x="2280195" y="745029"/>
                  <a:pt x="2294321" y="739492"/>
                </a:cubicBezTo>
                <a:cubicBezTo>
                  <a:pt x="2334361" y="659854"/>
                  <a:pt x="2277307" y="432318"/>
                  <a:pt x="2269040" y="353945"/>
                </a:cubicBezTo>
                <a:cubicBezTo>
                  <a:pt x="2277465" y="345520"/>
                  <a:pt x="2271144" y="347624"/>
                  <a:pt x="2288001" y="347624"/>
                </a:cubicBezTo>
                <a:cubicBezTo>
                  <a:pt x="2296066" y="363204"/>
                  <a:pt x="2298569" y="365549"/>
                  <a:pt x="2300642" y="391868"/>
                </a:cubicBezTo>
                <a:cubicBezTo>
                  <a:pt x="2349233" y="468863"/>
                  <a:pt x="2332396" y="663242"/>
                  <a:pt x="2325924" y="764774"/>
                </a:cubicBezTo>
                <a:cubicBezTo>
                  <a:pt x="2309560" y="773262"/>
                  <a:pt x="2303853" y="776252"/>
                  <a:pt x="2275360" y="777415"/>
                </a:cubicBezTo>
                <a:cubicBezTo>
                  <a:pt x="2241653" y="760558"/>
                  <a:pt x="2250078" y="762669"/>
                  <a:pt x="2250078" y="771094"/>
                </a:cubicBezTo>
                <a:cubicBezTo>
                  <a:pt x="2284322" y="800630"/>
                  <a:pt x="2326214" y="833806"/>
                  <a:pt x="2332244" y="891183"/>
                </a:cubicBezTo>
                <a:cubicBezTo>
                  <a:pt x="2258506" y="1061835"/>
                  <a:pt x="2184767" y="1232487"/>
                  <a:pt x="2111028" y="1403139"/>
                </a:cubicBezTo>
                <a:cubicBezTo>
                  <a:pt x="2111028" y="1403139"/>
                  <a:pt x="2145715" y="1519485"/>
                  <a:pt x="2148951" y="1542188"/>
                </a:cubicBezTo>
                <a:cubicBezTo>
                  <a:pt x="2157378" y="1742315"/>
                  <a:pt x="2165806" y="1942462"/>
                  <a:pt x="2174233" y="2142631"/>
                </a:cubicBezTo>
                <a:cubicBezTo>
                  <a:pt x="2193194" y="3048468"/>
                  <a:pt x="2212156" y="3954398"/>
                  <a:pt x="2231117" y="4860422"/>
                </a:cubicBezTo>
                <a:lnTo>
                  <a:pt x="2205835" y="4860422"/>
                </a:lnTo>
                <a:cubicBezTo>
                  <a:pt x="2186874" y="4123112"/>
                  <a:pt x="2167912" y="3385727"/>
                  <a:pt x="2148951" y="2648266"/>
                </a:cubicBezTo>
                <a:cubicBezTo>
                  <a:pt x="2142631" y="2408115"/>
                  <a:pt x="2136310" y="2167938"/>
                  <a:pt x="2129990" y="1927735"/>
                </a:cubicBezTo>
                <a:cubicBezTo>
                  <a:pt x="2127883" y="1889813"/>
                  <a:pt x="2125776" y="1851890"/>
                  <a:pt x="2123669" y="1813967"/>
                </a:cubicBezTo>
                <a:cubicBezTo>
                  <a:pt x="2056951" y="1638259"/>
                  <a:pt x="1954724" y="1546290"/>
                  <a:pt x="1820288" y="1441061"/>
                </a:cubicBezTo>
                <a:lnTo>
                  <a:pt x="1662277" y="1283050"/>
                </a:lnTo>
                <a:cubicBezTo>
                  <a:pt x="1588795" y="1225477"/>
                  <a:pt x="1454480" y="1128048"/>
                  <a:pt x="1434741" y="1023912"/>
                </a:cubicBezTo>
                <a:lnTo>
                  <a:pt x="1491625" y="878542"/>
                </a:lnTo>
                <a:lnTo>
                  <a:pt x="1460023" y="878542"/>
                </a:lnTo>
                <a:cubicBezTo>
                  <a:pt x="1428307" y="899545"/>
                  <a:pt x="1372801" y="913304"/>
                  <a:pt x="1327293" y="916464"/>
                </a:cubicBezTo>
                <a:cubicBezTo>
                  <a:pt x="1227013" y="774381"/>
                  <a:pt x="1116614" y="634415"/>
                  <a:pt x="1011271" y="492995"/>
                </a:cubicBezTo>
                <a:cubicBezTo>
                  <a:pt x="974499" y="443626"/>
                  <a:pt x="897434" y="397069"/>
                  <a:pt x="884862" y="328663"/>
                </a:cubicBezTo>
                <a:lnTo>
                  <a:pt x="910144" y="328663"/>
                </a:lnTo>
                <a:cubicBezTo>
                  <a:pt x="1040516" y="519541"/>
                  <a:pt x="1203944" y="696298"/>
                  <a:pt x="1339934" y="884862"/>
                </a:cubicBezTo>
                <a:cubicBezTo>
                  <a:pt x="1396281" y="865812"/>
                  <a:pt x="1444854" y="848381"/>
                  <a:pt x="1516907" y="846940"/>
                </a:cubicBezTo>
                <a:cubicBezTo>
                  <a:pt x="1539079" y="909752"/>
                  <a:pt x="1475369" y="969392"/>
                  <a:pt x="1466343" y="1042873"/>
                </a:cubicBezTo>
                <a:cubicBezTo>
                  <a:pt x="1579232" y="1139342"/>
                  <a:pt x="1664805" y="1273077"/>
                  <a:pt x="1782365" y="1365216"/>
                </a:cubicBezTo>
                <a:lnTo>
                  <a:pt x="2060465" y="1605393"/>
                </a:lnTo>
                <a:lnTo>
                  <a:pt x="2123669" y="1738122"/>
                </a:lnTo>
                <a:cubicBezTo>
                  <a:pt x="2133782" y="1326567"/>
                  <a:pt x="1884314" y="1114256"/>
                  <a:pt x="1706520" y="865901"/>
                </a:cubicBezTo>
                <a:cubicBezTo>
                  <a:pt x="1554147" y="653060"/>
                  <a:pt x="1412234" y="370536"/>
                  <a:pt x="1238807" y="183293"/>
                </a:cubicBezTo>
                <a:cubicBezTo>
                  <a:pt x="1251511" y="134272"/>
                  <a:pt x="1300311" y="22558"/>
                  <a:pt x="1346255" y="6320"/>
                </a:cubicBezTo>
                <a:close/>
                <a:moveTo>
                  <a:pt x="4234698" y="587801"/>
                </a:moveTo>
                <a:lnTo>
                  <a:pt x="4253659" y="587801"/>
                </a:lnTo>
                <a:lnTo>
                  <a:pt x="4253659" y="600442"/>
                </a:lnTo>
                <a:cubicBezTo>
                  <a:pt x="4257873" y="621510"/>
                  <a:pt x="4262086" y="642578"/>
                  <a:pt x="4266300" y="663647"/>
                </a:cubicBezTo>
                <a:cubicBezTo>
                  <a:pt x="4298427" y="750641"/>
                  <a:pt x="4388569" y="841485"/>
                  <a:pt x="4455913" y="897503"/>
                </a:cubicBezTo>
                <a:cubicBezTo>
                  <a:pt x="4453807" y="901717"/>
                  <a:pt x="4451700" y="905930"/>
                  <a:pt x="4449593" y="910144"/>
                </a:cubicBezTo>
                <a:lnTo>
                  <a:pt x="4430632" y="916464"/>
                </a:lnTo>
                <a:cubicBezTo>
                  <a:pt x="4370941" y="844772"/>
                  <a:pt x="4196560" y="721871"/>
                  <a:pt x="4234698" y="587801"/>
                </a:cubicBezTo>
                <a:close/>
                <a:moveTo>
                  <a:pt x="2534498" y="809017"/>
                </a:moveTo>
                <a:lnTo>
                  <a:pt x="2559780" y="809017"/>
                </a:lnTo>
                <a:cubicBezTo>
                  <a:pt x="2582955" y="882755"/>
                  <a:pt x="2606130" y="956494"/>
                  <a:pt x="2629305" y="1030232"/>
                </a:cubicBezTo>
                <a:cubicBezTo>
                  <a:pt x="2704518" y="1301379"/>
                  <a:pt x="2715927" y="1602865"/>
                  <a:pt x="2717791" y="1934056"/>
                </a:cubicBezTo>
                <a:lnTo>
                  <a:pt x="2711471" y="1934056"/>
                </a:lnTo>
                <a:cubicBezTo>
                  <a:pt x="2637174" y="1883436"/>
                  <a:pt x="2611905" y="1885806"/>
                  <a:pt x="2616664" y="1750763"/>
                </a:cubicBezTo>
                <a:cubicBezTo>
                  <a:pt x="2618771" y="1672811"/>
                  <a:pt x="2620878" y="1594859"/>
                  <a:pt x="2622984" y="1516907"/>
                </a:cubicBezTo>
                <a:cubicBezTo>
                  <a:pt x="2622984" y="1335952"/>
                  <a:pt x="2634178" y="1151585"/>
                  <a:pt x="2591382" y="1004951"/>
                </a:cubicBezTo>
                <a:cubicBezTo>
                  <a:pt x="2574715" y="947839"/>
                  <a:pt x="2528538" y="858689"/>
                  <a:pt x="2534498" y="809017"/>
                </a:cubicBezTo>
                <a:close/>
                <a:moveTo>
                  <a:pt x="3318233" y="1264089"/>
                </a:moveTo>
                <a:lnTo>
                  <a:pt x="3337195" y="1270409"/>
                </a:lnTo>
                <a:cubicBezTo>
                  <a:pt x="3370693" y="1309748"/>
                  <a:pt x="3379390" y="1449910"/>
                  <a:pt x="3330874" y="1478984"/>
                </a:cubicBezTo>
                <a:cubicBezTo>
                  <a:pt x="3288736" y="1487409"/>
                  <a:pt x="3301377" y="1491625"/>
                  <a:pt x="3292951" y="1466343"/>
                </a:cubicBezTo>
                <a:cubicBezTo>
                  <a:pt x="3278004" y="1137528"/>
                  <a:pt x="3293147" y="1428572"/>
                  <a:pt x="3236067" y="1453702"/>
                </a:cubicBezTo>
                <a:lnTo>
                  <a:pt x="3236067" y="1447382"/>
                </a:lnTo>
                <a:cubicBezTo>
                  <a:pt x="3233961" y="1443168"/>
                  <a:pt x="3231854" y="1438954"/>
                  <a:pt x="3229747" y="1434741"/>
                </a:cubicBezTo>
                <a:cubicBezTo>
                  <a:pt x="3258328" y="1398601"/>
                  <a:pt x="3254801" y="1314570"/>
                  <a:pt x="3273990" y="1270409"/>
                </a:cubicBezTo>
                <a:cubicBezTo>
                  <a:pt x="3290847" y="1270409"/>
                  <a:pt x="3284526" y="1266194"/>
                  <a:pt x="3292951" y="1283050"/>
                </a:cubicBezTo>
                <a:cubicBezTo>
                  <a:pt x="3318233" y="1323040"/>
                  <a:pt x="3303127" y="1401381"/>
                  <a:pt x="3318233" y="1453702"/>
                </a:cubicBezTo>
                <a:lnTo>
                  <a:pt x="3324554" y="1447382"/>
                </a:lnTo>
                <a:cubicBezTo>
                  <a:pt x="3362293" y="1396578"/>
                  <a:pt x="3316489" y="1297998"/>
                  <a:pt x="3318233" y="1264089"/>
                </a:cubicBezTo>
                <a:close/>
                <a:moveTo>
                  <a:pt x="897503" y="1396818"/>
                </a:moveTo>
                <a:lnTo>
                  <a:pt x="922785" y="1409459"/>
                </a:lnTo>
                <a:cubicBezTo>
                  <a:pt x="880046" y="1500669"/>
                  <a:pt x="809529" y="1571661"/>
                  <a:pt x="777415" y="1674918"/>
                </a:cubicBezTo>
                <a:cubicBezTo>
                  <a:pt x="762031" y="1724375"/>
                  <a:pt x="769615" y="1804569"/>
                  <a:pt x="733172" y="1832929"/>
                </a:cubicBezTo>
                <a:cubicBezTo>
                  <a:pt x="728747" y="1782782"/>
                  <a:pt x="690559" y="1724217"/>
                  <a:pt x="707890" y="1681238"/>
                </a:cubicBezTo>
                <a:cubicBezTo>
                  <a:pt x="749605" y="1593700"/>
                  <a:pt x="842022" y="1485159"/>
                  <a:pt x="897503" y="1396818"/>
                </a:cubicBezTo>
                <a:close/>
                <a:moveTo>
                  <a:pt x="189613" y="2174233"/>
                </a:moveTo>
                <a:cubicBezTo>
                  <a:pt x="229356" y="2173108"/>
                  <a:pt x="259182" y="2176761"/>
                  <a:pt x="284420" y="2186874"/>
                </a:cubicBezTo>
                <a:lnTo>
                  <a:pt x="290740" y="2212156"/>
                </a:lnTo>
                <a:lnTo>
                  <a:pt x="208575" y="2250078"/>
                </a:lnTo>
                <a:cubicBezTo>
                  <a:pt x="253949" y="2247139"/>
                  <a:pt x="282865" y="2244744"/>
                  <a:pt x="297061" y="2275360"/>
                </a:cubicBezTo>
                <a:lnTo>
                  <a:pt x="290740" y="2275360"/>
                </a:lnTo>
                <a:lnTo>
                  <a:pt x="107448" y="2288001"/>
                </a:lnTo>
                <a:cubicBezTo>
                  <a:pt x="103234" y="2279574"/>
                  <a:pt x="99020" y="2271146"/>
                  <a:pt x="94807" y="2262719"/>
                </a:cubicBezTo>
                <a:lnTo>
                  <a:pt x="101127" y="2262719"/>
                </a:lnTo>
                <a:cubicBezTo>
                  <a:pt x="125145" y="2224165"/>
                  <a:pt x="188583" y="2229094"/>
                  <a:pt x="227536" y="2205835"/>
                </a:cubicBezTo>
                <a:cubicBezTo>
                  <a:pt x="140535" y="2205488"/>
                  <a:pt x="84125" y="2234909"/>
                  <a:pt x="6320" y="2243758"/>
                </a:cubicBezTo>
                <a:lnTo>
                  <a:pt x="0" y="2218476"/>
                </a:lnTo>
                <a:lnTo>
                  <a:pt x="12641" y="2218476"/>
                </a:lnTo>
                <a:cubicBezTo>
                  <a:pt x="59539" y="2188605"/>
                  <a:pt x="136629" y="2201341"/>
                  <a:pt x="189613" y="2174233"/>
                </a:cubicBezTo>
                <a:close/>
                <a:moveTo>
                  <a:pt x="720531" y="2673548"/>
                </a:moveTo>
                <a:lnTo>
                  <a:pt x="739492" y="2673548"/>
                </a:lnTo>
                <a:cubicBezTo>
                  <a:pt x="752853" y="2692206"/>
                  <a:pt x="843602" y="2772507"/>
                  <a:pt x="834299" y="2780995"/>
                </a:cubicBezTo>
                <a:lnTo>
                  <a:pt x="809017" y="2787316"/>
                </a:lnTo>
                <a:lnTo>
                  <a:pt x="714210" y="2692509"/>
                </a:lnTo>
                <a:close/>
                <a:moveTo>
                  <a:pt x="764774" y="2793636"/>
                </a:moveTo>
                <a:lnTo>
                  <a:pt x="783735" y="2799957"/>
                </a:lnTo>
                <a:lnTo>
                  <a:pt x="790056" y="2818918"/>
                </a:lnTo>
                <a:cubicBezTo>
                  <a:pt x="738392" y="2897544"/>
                  <a:pt x="747759" y="3052143"/>
                  <a:pt x="758453" y="3153902"/>
                </a:cubicBezTo>
                <a:cubicBezTo>
                  <a:pt x="780916" y="3162074"/>
                  <a:pt x="782313" y="3161568"/>
                  <a:pt x="790056" y="3185504"/>
                </a:cubicBezTo>
                <a:lnTo>
                  <a:pt x="758453" y="3191824"/>
                </a:lnTo>
                <a:lnTo>
                  <a:pt x="745812" y="3185504"/>
                </a:lnTo>
                <a:cubicBezTo>
                  <a:pt x="690660" y="3075199"/>
                  <a:pt x="734865" y="2895768"/>
                  <a:pt x="764774" y="2793636"/>
                </a:cubicBezTo>
                <a:close/>
                <a:moveTo>
                  <a:pt x="872221" y="3097018"/>
                </a:moveTo>
                <a:cubicBezTo>
                  <a:pt x="870173" y="3216955"/>
                  <a:pt x="771271" y="3262803"/>
                  <a:pt x="651006" y="3248708"/>
                </a:cubicBezTo>
                <a:lnTo>
                  <a:pt x="651006" y="3223427"/>
                </a:lnTo>
                <a:cubicBezTo>
                  <a:pt x="857052" y="3224691"/>
                  <a:pt x="786320" y="3121712"/>
                  <a:pt x="872221" y="3097018"/>
                </a:cubicBezTo>
                <a:close/>
                <a:moveTo>
                  <a:pt x="840619" y="3558410"/>
                </a:moveTo>
                <a:lnTo>
                  <a:pt x="1150321" y="3590012"/>
                </a:lnTo>
                <a:lnTo>
                  <a:pt x="1497945" y="3577371"/>
                </a:lnTo>
                <a:lnTo>
                  <a:pt x="1504266" y="3583692"/>
                </a:lnTo>
                <a:lnTo>
                  <a:pt x="1504266" y="3596333"/>
                </a:lnTo>
                <a:cubicBezTo>
                  <a:pt x="1480362" y="3608601"/>
                  <a:pt x="1443823" y="3609960"/>
                  <a:pt x="1403139" y="3608974"/>
                </a:cubicBezTo>
                <a:cubicBezTo>
                  <a:pt x="1283335" y="3668563"/>
                  <a:pt x="972716" y="3598570"/>
                  <a:pt x="853260" y="3590012"/>
                </a:cubicBezTo>
                <a:cubicBezTo>
                  <a:pt x="846307" y="3576740"/>
                  <a:pt x="845043" y="3578003"/>
                  <a:pt x="840619" y="3558410"/>
                </a:cubicBezTo>
                <a:close/>
                <a:moveTo>
                  <a:pt x="1491625" y="3697460"/>
                </a:moveTo>
                <a:lnTo>
                  <a:pt x="1510586" y="3703780"/>
                </a:lnTo>
                <a:cubicBezTo>
                  <a:pt x="1512693" y="3811228"/>
                  <a:pt x="1514800" y="3918675"/>
                  <a:pt x="1516907" y="4026123"/>
                </a:cubicBezTo>
                <a:cubicBezTo>
                  <a:pt x="1481512" y="4102979"/>
                  <a:pt x="1512969" y="4256510"/>
                  <a:pt x="1472664" y="4342145"/>
                </a:cubicBezTo>
                <a:cubicBezTo>
                  <a:pt x="1300021" y="4363148"/>
                  <a:pt x="1071853" y="4369121"/>
                  <a:pt x="910144" y="4329504"/>
                </a:cubicBezTo>
                <a:lnTo>
                  <a:pt x="903824" y="4304223"/>
                </a:lnTo>
                <a:lnTo>
                  <a:pt x="948067" y="4304223"/>
                </a:lnTo>
                <a:cubicBezTo>
                  <a:pt x="1013483" y="4345900"/>
                  <a:pt x="1383672" y="4338012"/>
                  <a:pt x="1460023" y="4310543"/>
                </a:cubicBezTo>
                <a:cubicBezTo>
                  <a:pt x="1468450" y="4205202"/>
                  <a:pt x="1476877" y="4099862"/>
                  <a:pt x="1485304" y="3994521"/>
                </a:cubicBezTo>
                <a:cubicBezTo>
                  <a:pt x="1487411" y="3895500"/>
                  <a:pt x="1489518" y="3796480"/>
                  <a:pt x="1491625" y="3697460"/>
                </a:cubicBezTo>
                <a:close/>
              </a:path>
            </a:pathLst>
          </a:custGeom>
          <a:solidFill>
            <a:schemeClr val="accent1"/>
          </a:solidFill>
          <a:ln w="63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15" name="署名占位符 10"/>
          <p:cNvSpPr>
            <a:spLocks noGrp="1"/>
          </p:cNvSpPr>
          <p:nvPr>
            <p:ph type="body" sz="quarter" idx="17" hasCustomPrompt="1"/>
            <p:custDataLst>
              <p:tags r:id="rId15"/>
            </p:custDataLst>
          </p:nvPr>
        </p:nvSpPr>
        <p:spPr>
          <a:xfrm>
            <a:off x="5585460" y="4128126"/>
            <a:ext cx="6035674" cy="842653"/>
          </a:xfrm>
        </p:spPr>
        <p:txBody>
          <a:bodyPr wrap="square" anchor="t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spc="0" baseline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1" Type="http://schemas.openxmlformats.org/officeDocument/2006/relationships/theme" Target="../theme/theme2.xml"/><Relationship Id="rId20" Type="http://schemas.openxmlformats.org/officeDocument/2006/relationships/tags" Target="../tags/tag99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98.xml"/><Relationship Id="rId18" Type="http://schemas.openxmlformats.org/officeDocument/2006/relationships/tags" Target="../tags/tag97.xml"/><Relationship Id="rId17" Type="http://schemas.openxmlformats.org/officeDocument/2006/relationships/tags" Target="../tags/tag96.xml"/><Relationship Id="rId16" Type="http://schemas.openxmlformats.org/officeDocument/2006/relationships/tags" Target="../tags/tag95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2"/>
            </p:custDataLst>
          </p:nvPr>
        </p:nvSpPr>
        <p:spPr>
          <a:xfrm>
            <a:off x="4991815" y="6567170"/>
            <a:ext cx="7200000" cy="3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椭圆 8"/>
          <p:cNvSpPr/>
          <p:nvPr>
            <p:custDataLst>
              <p:tags r:id="rId13"/>
            </p:custDataLst>
          </p:nvPr>
        </p:nvSpPr>
        <p:spPr>
          <a:xfrm>
            <a:off x="547099" y="526399"/>
            <a:ext cx="564515" cy="564515"/>
          </a:xfrm>
          <a:prstGeom prst="ellipse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2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0" i="0" u="none" strike="noStrike" kern="1200" cap="none" spc="0" normalizeH="0" baseline="0" dirty="0" smtClean="0">
          <a:ln>
            <a:noFill/>
            <a:prstDash val="sysDot"/>
          </a:ln>
          <a:solidFill>
            <a:schemeClr val="accent1"/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sym typeface="MiSans Normal" panose="0000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sym typeface="MiSans Normal" panose="0000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sym typeface="MiSans Normal" panose="0000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sym typeface="MiSans Normal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03.xml"/><Relationship Id="rId4" Type="http://schemas.openxmlformats.org/officeDocument/2006/relationships/image" Target="../media/image7.png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image" Target="../media/image8.jpeg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114.xml"/><Relationship Id="rId7" Type="http://schemas.openxmlformats.org/officeDocument/2006/relationships/image" Target="../media/image9.jpeg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image" Target="../media/image10.jpeg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126.xml"/><Relationship Id="rId12" Type="http://schemas.openxmlformats.org/officeDocument/2006/relationships/tags" Target="../tags/tag125.xml"/><Relationship Id="rId11" Type="http://schemas.openxmlformats.org/officeDocument/2006/relationships/tags" Target="../tags/tag124.xml"/><Relationship Id="rId10" Type="http://schemas.openxmlformats.org/officeDocument/2006/relationships/tags" Target="../tags/tag123.xml"/><Relationship Id="rId1" Type="http://schemas.openxmlformats.org/officeDocument/2006/relationships/tags" Target="../tags/tag1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8.xml"/><Relationship Id="rId1" Type="http://schemas.openxmlformats.org/officeDocument/2006/relationships/tags" Target="../tags/tag12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36.xml"/><Relationship Id="rId8" Type="http://schemas.openxmlformats.org/officeDocument/2006/relationships/tags" Target="../tags/tag135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image" Target="../media/image11.jpe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137.xml"/><Relationship Id="rId1" Type="http://schemas.openxmlformats.org/officeDocument/2006/relationships/tags" Target="../tags/tag12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45.xml"/><Relationship Id="rId8" Type="http://schemas.openxmlformats.org/officeDocument/2006/relationships/tags" Target="../tags/tag144.xml"/><Relationship Id="rId7" Type="http://schemas.openxmlformats.org/officeDocument/2006/relationships/tags" Target="../tags/tag143.xml"/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image" Target="../media/image12.jpeg"/><Relationship Id="rId2" Type="http://schemas.openxmlformats.org/officeDocument/2006/relationships/tags" Target="../tags/tag139.xml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148.xml"/><Relationship Id="rId11" Type="http://schemas.openxmlformats.org/officeDocument/2006/relationships/tags" Target="../tags/tag147.xml"/><Relationship Id="rId10" Type="http://schemas.openxmlformats.org/officeDocument/2006/relationships/tags" Target="../tags/tag146.xml"/><Relationship Id="rId1" Type="http://schemas.openxmlformats.org/officeDocument/2006/relationships/tags" Target="../tags/tag13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57.xml"/><Relationship Id="rId8" Type="http://schemas.openxmlformats.org/officeDocument/2006/relationships/tags" Target="../tags/tag156.xml"/><Relationship Id="rId7" Type="http://schemas.openxmlformats.org/officeDocument/2006/relationships/tags" Target="../tags/tag155.xml"/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14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" Type="http://schemas.openxmlformats.org/officeDocument/2006/relationships/tags" Target="../tags/tag158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68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tags" Target="../tags/tag16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image" Target="../media/image13.png"/><Relationship Id="rId1" Type="http://schemas.openxmlformats.org/officeDocument/2006/relationships/tags" Target="../tags/tag169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jpeg"/><Relationship Id="rId8" Type="http://schemas.openxmlformats.org/officeDocument/2006/relationships/tags" Target="../tags/tag179.xml"/><Relationship Id="rId7" Type="http://schemas.openxmlformats.org/officeDocument/2006/relationships/image" Target="../media/image16.jpeg"/><Relationship Id="rId6" Type="http://schemas.openxmlformats.org/officeDocument/2006/relationships/tags" Target="../tags/tag178.xml"/><Relationship Id="rId5" Type="http://schemas.openxmlformats.org/officeDocument/2006/relationships/image" Target="../media/image15.jpeg"/><Relationship Id="rId4" Type="http://schemas.openxmlformats.org/officeDocument/2006/relationships/tags" Target="../tags/tag177.xml"/><Relationship Id="rId3" Type="http://schemas.openxmlformats.org/officeDocument/2006/relationships/image" Target="../media/image14.jpeg"/><Relationship Id="rId24" Type="http://schemas.openxmlformats.org/officeDocument/2006/relationships/notesSlide" Target="../notesSlides/notesSlide4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192.xml"/><Relationship Id="rId21" Type="http://schemas.openxmlformats.org/officeDocument/2006/relationships/tags" Target="../tags/tag191.xml"/><Relationship Id="rId20" Type="http://schemas.openxmlformats.org/officeDocument/2006/relationships/tags" Target="../tags/tag190.xml"/><Relationship Id="rId2" Type="http://schemas.openxmlformats.org/officeDocument/2006/relationships/tags" Target="../tags/tag176.xml"/><Relationship Id="rId19" Type="http://schemas.openxmlformats.org/officeDocument/2006/relationships/tags" Target="../tags/tag189.xml"/><Relationship Id="rId18" Type="http://schemas.openxmlformats.org/officeDocument/2006/relationships/tags" Target="../tags/tag188.xml"/><Relationship Id="rId17" Type="http://schemas.openxmlformats.org/officeDocument/2006/relationships/tags" Target="../tags/tag187.xml"/><Relationship Id="rId16" Type="http://schemas.openxmlformats.org/officeDocument/2006/relationships/tags" Target="../tags/tag186.xml"/><Relationship Id="rId15" Type="http://schemas.openxmlformats.org/officeDocument/2006/relationships/tags" Target="../tags/tag185.xml"/><Relationship Id="rId14" Type="http://schemas.openxmlformats.org/officeDocument/2006/relationships/tags" Target="../tags/tag184.xml"/><Relationship Id="rId13" Type="http://schemas.openxmlformats.org/officeDocument/2006/relationships/tags" Target="../tags/tag183.xml"/><Relationship Id="rId12" Type="http://schemas.openxmlformats.org/officeDocument/2006/relationships/tags" Target="../tags/tag182.xml"/><Relationship Id="rId11" Type="http://schemas.openxmlformats.org/officeDocument/2006/relationships/tags" Target="../tags/tag181.xml"/><Relationship Id="rId10" Type="http://schemas.openxmlformats.org/officeDocument/2006/relationships/tags" Target="../tags/tag180.xml"/><Relationship Id="rId1" Type="http://schemas.openxmlformats.org/officeDocument/2006/relationships/tags" Target="../tags/tag17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194.xml"/><Relationship Id="rId1" Type="http://schemas.openxmlformats.org/officeDocument/2006/relationships/tags" Target="../tags/tag19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16800" y="3429000"/>
            <a:ext cx="3992880" cy="498475"/>
          </a:xfrm>
          <a:solidFill>
            <a:schemeClr val="accent1"/>
          </a:solidFill>
          <a:ln>
            <a:noFill/>
          </a:ln>
        </p:spPr>
        <p:txBody>
          <a:bodyPr>
            <a:noAutofit/>
          </a:bodyPr>
          <a:p>
            <a:r>
              <a:rPr lang="en-US" altLang="en-US" sz="1600" b="1" i="1">
                <a:solidFill>
                  <a:schemeClr val="bg1"/>
                </a:solidFill>
              </a:rPr>
              <a:t>Power BI Project – End-to-End Analytics &amp; Security (RLS)</a:t>
            </a:r>
            <a:endParaRPr lang="en-US" altLang="en-US" sz="1600" b="1" i="1">
              <a:solidFill>
                <a:schemeClr val="bg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9302750" y="5937250"/>
            <a:ext cx="2750820" cy="819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 b="1">
                <a:solidFill>
                  <a:srgbClr val="1C08AD"/>
                </a:solidFill>
                <a:latin typeface="Franklin Gothic Book" panose="020B0503020102020204" charset="0"/>
                <a:cs typeface="Franklin Gothic Book" panose="020B0503020102020204" charset="0"/>
              </a:rPr>
              <a:t>Presented by:</a:t>
            </a:r>
            <a:endParaRPr lang="en-US" sz="2000" b="1">
              <a:solidFill>
                <a:srgbClr val="1C08AD"/>
              </a:solidFill>
              <a:latin typeface="Franklin Gothic Book" panose="020B0503020102020204" charset="0"/>
              <a:cs typeface="Franklin Gothic Book" panose="020B0503020102020204" charset="0"/>
            </a:endParaRPr>
          </a:p>
          <a:p>
            <a:r>
              <a:rPr lang="en-US" sz="2400" i="1">
                <a:solidFill>
                  <a:srgbClr val="0070C0"/>
                </a:solidFill>
                <a:latin typeface="Lucida Bright" panose="02040602050505020304" charset="0"/>
                <a:cs typeface="Lucida Bright" panose="02040602050505020304" charset="0"/>
              </a:rPr>
              <a:t> </a:t>
            </a:r>
            <a:r>
              <a:rPr lang="en-US" sz="2800" b="1" i="1">
                <a:solidFill>
                  <a:srgbClr val="00B0F0"/>
                </a:solidFill>
                <a:latin typeface="Lucida Bright" panose="02040602050505020304" charset="0"/>
                <a:cs typeface="Lucida Bright" panose="02040602050505020304" charset="0"/>
              </a:rPr>
              <a:t>Indhumathi S</a:t>
            </a:r>
            <a:endParaRPr lang="en-US" sz="2400" b="1" i="1">
              <a:solidFill>
                <a:srgbClr val="00B0F0"/>
              </a:solidFill>
              <a:latin typeface="Lucida Bright" panose="02040602050505020304" charset="0"/>
              <a:cs typeface="Lucida Bright" panose="02040602050505020304" charset="0"/>
            </a:endParaRPr>
          </a:p>
          <a:p>
            <a:endParaRPr lang="en-US" altLang="en-US" sz="2400" b="1" i="1">
              <a:solidFill>
                <a:srgbClr val="00B0F0"/>
              </a:solidFill>
              <a:latin typeface="Lucida Bright" panose="02040602050505020304" charset="0"/>
              <a:cs typeface="Lucida Bright" panose="020406020505050203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244715" y="4156710"/>
            <a:ext cx="4337685" cy="457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>
                <a:solidFill>
                  <a:schemeClr val="tx1"/>
                </a:solidFill>
                <a:cs typeface="+mn-lt"/>
                <a:sym typeface="+mn-ea"/>
              </a:rPr>
              <a:t>Tools: Power BI | Power Query | DAX | RLS</a:t>
            </a:r>
            <a:endParaRPr lang="en-US" altLang="en-US" b="1">
              <a:solidFill>
                <a:schemeClr val="tx1"/>
              </a:solidFill>
              <a:cs typeface="+mn-lt"/>
            </a:endParaRPr>
          </a:p>
          <a:p>
            <a:endParaRPr lang="en-US" altLang="en-US" b="1">
              <a:solidFill>
                <a:schemeClr val="tx1"/>
              </a:solidFill>
              <a:cs typeface="+mn-lt"/>
            </a:endParaRPr>
          </a:p>
        </p:txBody>
      </p:sp>
      <p:sp>
        <p:nvSpPr>
          <p:cNvPr id="4" name="Pentagon 3"/>
          <p:cNvSpPr/>
          <p:nvPr/>
        </p:nvSpPr>
        <p:spPr>
          <a:xfrm>
            <a:off x="-77470" y="0"/>
            <a:ext cx="6830695" cy="6858000"/>
          </a:xfrm>
          <a:prstGeom prst="homePlate">
            <a:avLst/>
          </a:prstGeom>
          <a:blipFill rotWithShape="1">
            <a:blip r:embed="rId1"/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Chevron 4"/>
          <p:cNvSpPr/>
          <p:nvPr/>
        </p:nvSpPr>
        <p:spPr>
          <a:xfrm>
            <a:off x="2642870" y="0"/>
            <a:ext cx="4110355" cy="6858000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itle 5"/>
          <p:cNvSpPr/>
          <p:nvPr>
            <p:ph type="ctrTitle"/>
          </p:nvPr>
        </p:nvSpPr>
        <p:spPr>
          <a:xfrm>
            <a:off x="6362065" y="759460"/>
            <a:ext cx="5691505" cy="2440305"/>
          </a:xfrm>
        </p:spPr>
        <p:txBody>
          <a:bodyPr>
            <a:noAutofit/>
          </a:bodyPr>
          <a:p>
            <a:pPr algn="ctr"/>
            <a:r>
              <a:rPr lang="en-US" altLang="en-US" sz="4000">
                <a:latin typeface="Algerian" panose="04020705040A02060702" charset="0"/>
                <a:cs typeface="Algerian" panose="04020705040A02060702" charset="0"/>
              </a:rPr>
              <a:t>Hospital Operations &amp; Patient Flow Performance Dashboard</a:t>
            </a:r>
            <a:endParaRPr lang="en-US" altLang="en-US" sz="4000">
              <a:latin typeface="Algerian" panose="04020705040A02060702" charset="0"/>
              <a:cs typeface="Algerian" panose="04020705040A0206070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 26"/>
          <p:cNvSpPr/>
          <p:nvPr>
            <p:custDataLst>
              <p:tags r:id="rId1"/>
            </p:custDataLst>
          </p:nvPr>
        </p:nvSpPr>
        <p:spPr>
          <a:xfrm>
            <a:off x="8409940" y="-13970"/>
            <a:ext cx="3787775" cy="68738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60" h="10825">
                <a:moveTo>
                  <a:pt x="1604" y="0"/>
                </a:moveTo>
                <a:lnTo>
                  <a:pt x="6760" y="0"/>
                </a:lnTo>
                <a:lnTo>
                  <a:pt x="6760" y="10825"/>
                </a:lnTo>
                <a:lnTo>
                  <a:pt x="2785" y="10825"/>
                </a:lnTo>
                <a:lnTo>
                  <a:pt x="2728" y="10776"/>
                </a:lnTo>
                <a:cubicBezTo>
                  <a:pt x="1057" y="9320"/>
                  <a:pt x="0" y="7177"/>
                  <a:pt x="0" y="4786"/>
                </a:cubicBezTo>
                <a:cubicBezTo>
                  <a:pt x="0" y="3005"/>
                  <a:pt x="587" y="1360"/>
                  <a:pt x="1577" y="35"/>
                </a:cubicBezTo>
                <a:lnTo>
                  <a:pt x="1604" y="0"/>
                </a:lnTo>
                <a:close/>
              </a:path>
            </a:pathLst>
          </a:custGeom>
          <a:gradFill flip="none" rotWithShape="1">
            <a:gsLst>
              <a:gs pos="30000">
                <a:schemeClr val="accent1"/>
              </a:gs>
              <a:gs pos="88000">
                <a:schemeClr val="accent1">
                  <a:lumMod val="20000"/>
                  <a:lumOff val="80000"/>
                </a:schemeClr>
              </a:gs>
            </a:gsLst>
            <a:lin ang="5400000" scaled="1"/>
          </a:gra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568450" y="165735"/>
            <a:ext cx="7148195" cy="586105"/>
          </a:xfrm>
        </p:spPr>
        <p:txBody>
          <a:bodyPr wrap="square">
            <a:noAutofit/>
          </a:bodyPr>
          <a:lstStyle/>
          <a:p>
            <a:r>
              <a:rPr lang="en-US" sz="4000" b="1" spc="0" dirty="0">
                <a:solidFill>
                  <a:schemeClr val="bg1"/>
                </a:solidFill>
                <a:latin typeface="Franklin Gothic Book" panose="020B0503020102020204" charset="0"/>
                <a:cs typeface="Franklin Gothic Book" panose="020B0503020102020204" charset="0"/>
              </a:rPr>
              <a:t>Business Problem &amp; Objectives</a:t>
            </a:r>
            <a:endParaRPr lang="en-US" sz="4000" b="1" spc="0" dirty="0">
              <a:solidFill>
                <a:schemeClr val="bg1"/>
              </a:solidFill>
              <a:latin typeface="Franklin Gothic Book" panose="020B0503020102020204" charset="0"/>
              <a:cs typeface="Franklin Gothic Book" panose="020B0503020102020204" charset="0"/>
            </a:endParaRPr>
          </a:p>
        </p:txBody>
      </p:sp>
      <p:pic>
        <p:nvPicPr>
          <p:cNvPr id="36" name="图片 35" descr="C:/Users/sree/Pictures/Camera Roll/ask-doctor-image.pngask-doctor-image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6543" t="11000" r="38216" b="-11000"/>
          <a:stretch>
            <a:fillRect/>
          </a:stretch>
        </p:blipFill>
        <p:spPr>
          <a:xfrm>
            <a:off x="8856980" y="-13970"/>
            <a:ext cx="3340735" cy="6858000"/>
          </a:xfrm>
          <a:custGeom>
            <a:avLst/>
            <a:gdLst>
              <a:gd name="connsiteX0" fmla="*/ 842291 w 3865427"/>
              <a:gd name="connsiteY0" fmla="*/ 0 h 6858000"/>
              <a:gd name="connsiteX1" fmla="*/ 3865427 w 3865427"/>
              <a:gd name="connsiteY1" fmla="*/ 0 h 6858000"/>
              <a:gd name="connsiteX2" fmla="*/ 3865427 w 3865427"/>
              <a:gd name="connsiteY2" fmla="*/ 6858000 h 6858000"/>
              <a:gd name="connsiteX3" fmla="*/ 3468900 w 3865427"/>
              <a:gd name="connsiteY3" fmla="*/ 6858000 h 6858000"/>
              <a:gd name="connsiteX4" fmla="*/ 3142970 w 3865427"/>
              <a:gd name="connsiteY4" fmla="*/ 6777914 h 6858000"/>
              <a:gd name="connsiteX5" fmla="*/ 0 w 3865427"/>
              <a:gd name="connsiteY5" fmla="*/ 2579532 h 6858000"/>
              <a:gd name="connsiteX6" fmla="*/ 747011 w 3865427"/>
              <a:gd name="connsiteY6" fmla="*/ 13398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5427" h="6858000">
                <a:moveTo>
                  <a:pt x="842291" y="0"/>
                </a:moveTo>
                <a:lnTo>
                  <a:pt x="3865427" y="0"/>
                </a:lnTo>
                <a:lnTo>
                  <a:pt x="3865427" y="6858000"/>
                </a:lnTo>
                <a:lnTo>
                  <a:pt x="3468900" y="6858000"/>
                </a:lnTo>
                <a:lnTo>
                  <a:pt x="3142970" y="6777914"/>
                </a:lnTo>
                <a:cubicBezTo>
                  <a:pt x="1326609" y="6246203"/>
                  <a:pt x="0" y="4567791"/>
                  <a:pt x="0" y="2579532"/>
                </a:cubicBezTo>
                <a:cubicBezTo>
                  <a:pt x="0" y="1673647"/>
                  <a:pt x="275387" y="832082"/>
                  <a:pt x="747011" y="133987"/>
                </a:cubicBez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" name="Oval 1"/>
          <p:cNvSpPr/>
          <p:nvPr/>
        </p:nvSpPr>
        <p:spPr>
          <a:xfrm>
            <a:off x="85090" y="751840"/>
            <a:ext cx="3806190" cy="362204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4691380" y="751205"/>
            <a:ext cx="3718560" cy="35433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569845" y="3711575"/>
            <a:ext cx="3526155" cy="313245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856615" y="1104265"/>
            <a:ext cx="22631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solidFill>
                  <a:schemeClr val="bg1"/>
                </a:solidFill>
                <a:latin typeface="+mj-lt"/>
                <a:cs typeface="+mj-lt"/>
              </a:rPr>
              <a:t>Hospital Challenges</a:t>
            </a:r>
            <a:endParaRPr lang="en-US" altLang="en-US" sz="2000" b="1">
              <a:solidFill>
                <a:schemeClr val="bg1"/>
              </a:solidFill>
              <a:latin typeface="+mj-lt"/>
              <a:cs typeface="+mj-lt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686435" y="1628775"/>
            <a:ext cx="2743200" cy="2215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Access Control Gaps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Appointment Outcomes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Data Privacy Risks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Data Quality Issues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Data Silos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Doctor Performance Tracking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Patient Flow Visibility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Revenue Trend Analysis</a:t>
            </a:r>
            <a:endParaRPr lang="en-US" altLang="en-US" sz="1600"/>
          </a:p>
        </p:txBody>
      </p:sp>
      <p:sp>
        <p:nvSpPr>
          <p:cNvPr id="12" name="Text Box 11"/>
          <p:cNvSpPr txBox="1"/>
          <p:nvPr/>
        </p:nvSpPr>
        <p:spPr>
          <a:xfrm>
            <a:off x="5589270" y="1104265"/>
            <a:ext cx="23196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solidFill>
                  <a:schemeClr val="bg1"/>
                </a:solidFill>
                <a:latin typeface="+mj-lt"/>
                <a:cs typeface="+mj-lt"/>
              </a:rPr>
              <a:t>Project Objectives</a:t>
            </a:r>
            <a:endParaRPr lang="en-US" altLang="en-US" sz="2000" b="1">
              <a:solidFill>
                <a:schemeClr val="bg1"/>
              </a:solidFill>
              <a:latin typeface="+mj-lt"/>
              <a:cs typeface="+mj-lt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5315585" y="1503045"/>
            <a:ext cx="288036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Bottleneck Identification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Centralized Dashboard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Doctor &amp; Specialization KPIs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Operational Monitoring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Patient Flow Analysis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Revenue Performance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Role-Based Access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Row-Level Security (RLS)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Secure Data Access</a:t>
            </a:r>
            <a:endParaRPr lang="en-US" altLang="en-US" sz="1600"/>
          </a:p>
        </p:txBody>
      </p:sp>
      <p:sp>
        <p:nvSpPr>
          <p:cNvPr id="14" name="Text Box 13"/>
          <p:cNvSpPr txBox="1"/>
          <p:nvPr/>
        </p:nvSpPr>
        <p:spPr>
          <a:xfrm>
            <a:off x="3201035" y="4095750"/>
            <a:ext cx="22288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solidFill>
                  <a:schemeClr val="bg1"/>
                </a:solidFill>
                <a:latin typeface="+mj-lt"/>
                <a:cs typeface="+mj-lt"/>
              </a:rPr>
              <a:t>Tools &amp; Techniques</a:t>
            </a:r>
            <a:endParaRPr lang="en-US" altLang="en-US" sz="2000" b="1">
              <a:solidFill>
                <a:schemeClr val="bg1"/>
              </a:solidFill>
              <a:latin typeface="+mj-lt"/>
              <a:cs typeface="+mj-lt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2971800" y="4517390"/>
            <a:ext cx="261747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DAX Measures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Data Modeling (Star Schema)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Power BI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Power Query (Append, Merge)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Row-Level Security (RLS)</a:t>
            </a:r>
            <a:endParaRPr lang="en-US" altLang="en-US" sz="1600"/>
          </a:p>
        </p:txBody>
      </p:sp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3228340"/>
          </a:xfrm>
          <a:custGeom>
            <a:avLst/>
            <a:gdLst>
              <a:gd name="connsiteX0" fmla="*/ 0 w 12191999"/>
              <a:gd name="connsiteY0" fmla="*/ 0 h 3073301"/>
              <a:gd name="connsiteX1" fmla="*/ 12191999 w 12191999"/>
              <a:gd name="connsiteY1" fmla="*/ 0 h 3073301"/>
              <a:gd name="connsiteX2" fmla="*/ 12191999 w 12191999"/>
              <a:gd name="connsiteY2" fmla="*/ 2163952 h 3073301"/>
              <a:gd name="connsiteX3" fmla="*/ 6096000 w 12191999"/>
              <a:gd name="connsiteY3" fmla="*/ 3073301 h 3073301"/>
              <a:gd name="connsiteX4" fmla="*/ 0 w 12191999"/>
              <a:gd name="connsiteY4" fmla="*/ 2163952 h 3073301"/>
              <a:gd name="connsiteX5" fmla="*/ 0 w 12191999"/>
              <a:gd name="connsiteY5" fmla="*/ 0 h 3073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3073301">
                <a:moveTo>
                  <a:pt x="0" y="0"/>
                </a:moveTo>
                <a:lnTo>
                  <a:pt x="12191999" y="0"/>
                </a:lnTo>
                <a:lnTo>
                  <a:pt x="12191999" y="2163952"/>
                </a:lnTo>
                <a:lnTo>
                  <a:pt x="6096000" y="3073301"/>
                </a:lnTo>
                <a:lnTo>
                  <a:pt x="0" y="216395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2" name="图片 21" descr="C:/Users/sree/Pictures/Camera Roll/Medicine-Background-Aesthetic-Light-Blue-for-PPT-Powerpoint-Google-Slides-or-Wallpaper-SlidesCorner-Thumbnail.jpgMedicine-Background-Aesthetic-Light-Blue-for-PPT-Powerpoint-Google-Slides-or-Wallpaper-SlidesCorner-Thumbnail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 t="28964" b="28964"/>
          <a:stretch>
            <a:fillRect/>
          </a:stretch>
        </p:blipFill>
        <p:spPr>
          <a:xfrm>
            <a:off x="0" y="0"/>
            <a:ext cx="12192000" cy="2860040"/>
          </a:xfrm>
          <a:custGeom>
            <a:avLst/>
            <a:gdLst>
              <a:gd name="connsiteX0" fmla="*/ 0 w 12191998"/>
              <a:gd name="connsiteY0" fmla="*/ 0 h 2885625"/>
              <a:gd name="connsiteX1" fmla="*/ 12191998 w 12191998"/>
              <a:gd name="connsiteY1" fmla="*/ 0 h 2885625"/>
              <a:gd name="connsiteX2" fmla="*/ 12191998 w 12191998"/>
              <a:gd name="connsiteY2" fmla="*/ 2136297 h 2885625"/>
              <a:gd name="connsiteX3" fmla="*/ 6096004 w 12191998"/>
              <a:gd name="connsiteY3" fmla="*/ 2885625 h 2885625"/>
              <a:gd name="connsiteX4" fmla="*/ 0 w 12191998"/>
              <a:gd name="connsiteY4" fmla="*/ 2137231 h 2885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1998" h="2885625">
                <a:moveTo>
                  <a:pt x="0" y="0"/>
                </a:moveTo>
                <a:lnTo>
                  <a:pt x="12191998" y="0"/>
                </a:lnTo>
                <a:lnTo>
                  <a:pt x="12191998" y="2136297"/>
                </a:lnTo>
                <a:lnTo>
                  <a:pt x="6096004" y="2885625"/>
                </a:lnTo>
                <a:lnTo>
                  <a:pt x="0" y="2137231"/>
                </a:lnTo>
                <a:close/>
              </a:path>
            </a:pathLst>
          </a:custGeom>
        </p:spPr>
      </p:pic>
      <p:sp>
        <p:nvSpPr>
          <p:cNvPr id="10" name="标题 9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190500" y="594360"/>
            <a:ext cx="8089265" cy="1231900"/>
          </a:xfrm>
        </p:spPr>
        <p:txBody>
          <a:bodyPr wrap="square">
            <a:normAutofit/>
          </a:bodyPr>
          <a:lstStyle/>
          <a:p>
            <a:r>
              <a:rPr lang="en-US" b="1" spc="0" dirty="0">
                <a:solidFill>
                  <a:schemeClr val="tx1"/>
                </a:solidFill>
                <a:latin typeface="Lucida Bright" panose="02040602050505020304" charset="0"/>
                <a:cs typeface="Lucida Bright" panose="02040602050505020304" charset="0"/>
              </a:rPr>
              <a:t>Dataset Overview – Hospital Management (Public Dataset- Kaggle)</a:t>
            </a:r>
            <a:endParaRPr lang="en-US" b="1" spc="0" dirty="0">
              <a:solidFill>
                <a:schemeClr val="tx1"/>
              </a:solidFill>
              <a:latin typeface="Lucida Bright" panose="02040602050505020304" charset="0"/>
              <a:cs typeface="Lucida Bright" panose="020406020505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23215" y="3228340"/>
            <a:ext cx="2113915" cy="564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 b="1">
                <a:latin typeface="Franklin Gothic Book" panose="020B0503020102020204" charset="0"/>
                <a:cs typeface="Franklin Gothic Book" panose="020B0503020102020204" charset="0"/>
                <a:sym typeface="+mn-ea"/>
              </a:rPr>
              <a:t>Tables Used:</a:t>
            </a:r>
            <a:endParaRPr lang="en-US" altLang="en-US" sz="2800" b="1">
              <a:latin typeface="Franklin Gothic Book" panose="020B0503020102020204" charset="0"/>
              <a:cs typeface="Franklin Gothic Book" panose="020B0503020102020204" charset="0"/>
            </a:endParaRPr>
          </a:p>
          <a:p>
            <a:endParaRPr lang="en-US" altLang="en-US" sz="2800" b="1">
              <a:latin typeface="Franklin Gothic Book" panose="020B0503020102020204" charset="0"/>
              <a:cs typeface="Franklin Gothic Book" panose="020B05030201020202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03910" y="3921125"/>
            <a:ext cx="5603240" cy="2609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sym typeface="+mn-ea"/>
              </a:rPr>
              <a:t>appointments.csv – appointment flow &amp; status</a:t>
            </a:r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sym typeface="+mn-ea"/>
              </a:rPr>
              <a:t>patients.csv – patient details</a:t>
            </a:r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sym typeface="+mn-ea"/>
              </a:rPr>
              <a:t>doctors.csv – doctor &amp; specialization</a:t>
            </a:r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sym typeface="+mn-ea"/>
              </a:rPr>
              <a:t>billing.csv – revenue &amp; payment status</a:t>
            </a:r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sym typeface="+mn-ea"/>
              </a:rPr>
              <a:t>treatments.csv – treatment &amp; cost</a:t>
            </a:r>
            <a:endParaRPr lang="en-US" altLang="en-US" sz="2400"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743700" y="3228340"/>
            <a:ext cx="3311525" cy="564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 b="1">
                <a:latin typeface="Franklin Gothic Book" panose="020B0503020102020204" charset="0"/>
                <a:cs typeface="Franklin Gothic Book" panose="020B0503020102020204" charset="0"/>
                <a:sym typeface="+mn-ea"/>
              </a:rPr>
              <a:t>Why multiple tables?</a:t>
            </a:r>
            <a:endParaRPr lang="en-US" altLang="en-US" sz="2800" b="1">
              <a:latin typeface="Franklin Gothic Book" panose="020B0503020102020204" charset="0"/>
              <a:cs typeface="Franklin Gothic Book" panose="020B0503020102020204" charset="0"/>
            </a:endParaRPr>
          </a:p>
          <a:p>
            <a:endParaRPr lang="en-US" altLang="en-US" sz="2800" b="1">
              <a:latin typeface="Franklin Gothic Book" panose="020B0503020102020204" charset="0"/>
              <a:cs typeface="Franklin Gothic Book" panose="020B050302010202020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7755255" y="3921125"/>
            <a:ext cx="4305935" cy="2609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ym typeface="+mn-ea"/>
              </a:rPr>
              <a:t>Real-world hospital systems use normalized data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sym typeface="+mn-ea"/>
              </a:rPr>
              <a:t>Enables star schema modeling</a:t>
            </a:r>
            <a:endParaRPr lang="en-US" altLang="en-US" sz="2400"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0" y="0"/>
            <a:ext cx="569341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74055" y="314924"/>
            <a:ext cx="5095200" cy="792000"/>
          </a:xfrm>
          <a:noFill/>
        </p:spPr>
        <p:txBody>
          <a:bodyPr wrap="square">
            <a:normAutofit fontScale="90000"/>
          </a:bodyPr>
          <a:lstStyle/>
          <a:p>
            <a:pPr algn="l"/>
            <a:r>
              <a:rPr lang="en-US" b="1" spc="0" dirty="0">
                <a:solidFill>
                  <a:schemeClr val="lt1">
                    <a:lumMod val="100000"/>
                  </a:schemeClr>
                </a:solidFill>
                <a:latin typeface="Lucida Bright" panose="02040602050505020304" charset="0"/>
                <a:cs typeface="Lucida Bright" panose="02040602050505020304" charset="0"/>
              </a:rPr>
              <a:t>Data Model (Star Schema)</a:t>
            </a:r>
            <a:endParaRPr lang="en-US" b="1" spc="0" dirty="0">
              <a:solidFill>
                <a:schemeClr val="lt1">
                  <a:lumMod val="100000"/>
                </a:schemeClr>
              </a:solidFill>
              <a:latin typeface="Lucida Bright" panose="02040602050505020304" charset="0"/>
              <a:cs typeface="Lucida Bright" panose="02040602050505020304" charset="0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318703" y="1172263"/>
            <a:ext cx="5374429" cy="34839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marL="342900" indent="-3429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sz="2400" b="1" kern="0" dirty="0">
                <a:solidFill>
                  <a:srgbClr val="FFFF00"/>
                </a:solidFill>
                <a:latin typeface="+mj-lt"/>
              </a:rPr>
              <a:t>Content:</a:t>
            </a:r>
            <a:endParaRPr lang="en-US" sz="2400" b="1" kern="0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351365" y="1436757"/>
            <a:ext cx="5374429" cy="3341086"/>
          </a:xfrm>
          <a:prstGeom prst="rect">
            <a:avLst/>
          </a:prstGeom>
          <a:noFill/>
        </p:spPr>
        <p:txBody>
          <a:bodyPr wrap="square" lIns="0" tIns="0" rIns="0" bIns="0" rtlCol="0" anchor="t" anchorCtr="0"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000" b="1" dirty="0">
                <a:solidFill>
                  <a:srgbClr val="7030A0"/>
                </a:solidFill>
                <a:latin typeface="Franklin Gothic Book" panose="020B0503020102020204" charset="0"/>
                <a:cs typeface="Franklin Gothic Book" panose="020B0503020102020204" charset="0"/>
              </a:rPr>
              <a:t> </a:t>
            </a:r>
            <a:r>
              <a:rPr lang="en-US" altLang="en-US" sz="2000" b="1" dirty="0">
                <a:solidFill>
                  <a:schemeClr val="bg1"/>
                </a:solidFill>
                <a:latin typeface="Franklin Gothic Book" panose="020B0503020102020204" charset="0"/>
                <a:cs typeface="Franklin Gothic Book" panose="020B0503020102020204" charset="0"/>
              </a:rPr>
              <a:t>Dimensions:</a:t>
            </a:r>
            <a:endParaRPr lang="en-US" altLang="en-US" b="1" dirty="0">
              <a:solidFill>
                <a:schemeClr val="bg1"/>
              </a:solidFill>
              <a:latin typeface="Franklin Gothic Book" panose="020B0503020102020204" charset="0"/>
              <a:cs typeface="Franklin Gothic Book" panose="020B0503020102020204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+mn-lt"/>
              </a:rPr>
              <a:t>Dim_Patient</a:t>
            </a:r>
            <a:endParaRPr lang="en-US" altLang="en-US" dirty="0">
              <a:solidFill>
                <a:schemeClr val="tx1"/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+mn-lt"/>
              </a:rPr>
              <a:t>Dim_Doctors</a:t>
            </a:r>
            <a:endParaRPr lang="en-US" altLang="en-US" dirty="0">
              <a:solidFill>
                <a:schemeClr val="tx1"/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+mn-lt"/>
              </a:rPr>
              <a:t>Dim_Date</a:t>
            </a:r>
            <a:endParaRPr lang="en-US" altLang="en-US" sz="16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bg1"/>
                </a:solidFill>
                <a:latin typeface="Lucida Bright" panose="02040602050505020304" charset="0"/>
                <a:cs typeface="Lucida Bright" panose="02040602050505020304" charset="0"/>
              </a:rPr>
              <a:t>Facts:</a:t>
            </a:r>
            <a:endParaRPr lang="en-US" altLang="en-US" b="1" dirty="0">
              <a:solidFill>
                <a:schemeClr val="bg1"/>
              </a:solidFill>
              <a:latin typeface="Lucida Bright" panose="02040602050505020304" charset="0"/>
              <a:cs typeface="Lucida Bright" panose="02040602050505020304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+mn-lt"/>
              </a:rPr>
              <a:t>Fact_Appointments</a:t>
            </a:r>
            <a:endParaRPr lang="en-US" altLang="en-US" dirty="0">
              <a:solidFill>
                <a:schemeClr val="tx1"/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+mn-lt"/>
              </a:rPr>
              <a:t>Fact_Billing</a:t>
            </a:r>
            <a:endParaRPr lang="en-US" altLang="en-US" dirty="0">
              <a:solidFill>
                <a:schemeClr val="tx1"/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+mn-lt"/>
              </a:rPr>
              <a:t>Fact_Treatments</a:t>
            </a:r>
            <a:endParaRPr lang="en-US" alt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矩形 11"/>
          <p:cNvSpPr/>
          <p:nvPr>
            <p:custDataLst>
              <p:tags r:id="rId5"/>
            </p:custDataLst>
          </p:nvPr>
        </p:nvSpPr>
        <p:spPr>
          <a:xfrm>
            <a:off x="207410" y="4880962"/>
            <a:ext cx="5407270" cy="347896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marL="342900" indent="-342900"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en-US" sz="2400" b="1" kern="0" dirty="0">
                <a:solidFill>
                  <a:srgbClr val="FFFF00"/>
                </a:solidFill>
                <a:latin typeface="+mj-lt"/>
              </a:rPr>
              <a:t>Why Star Schema?</a:t>
            </a:r>
            <a:endParaRPr lang="en-US" altLang="en-US" sz="2400" b="1" kern="0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13" name="矩形 12"/>
          <p:cNvSpPr/>
          <p:nvPr>
            <p:custDataLst>
              <p:tags r:id="rId6"/>
            </p:custDataLst>
          </p:nvPr>
        </p:nvSpPr>
        <p:spPr>
          <a:xfrm>
            <a:off x="318484" y="5228392"/>
            <a:ext cx="5407410" cy="1286932"/>
          </a:xfrm>
          <a:prstGeom prst="rect">
            <a:avLst/>
          </a:prstGeom>
          <a:noFill/>
        </p:spPr>
        <p:txBody>
          <a:bodyPr wrap="square" lIns="0" tIns="0" rIns="0" bIns="0" rtlCol="0" anchor="t" anchorCtr="0"/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+mn-lt"/>
              </a:rPr>
              <a:t>Faster performance</a:t>
            </a:r>
            <a:endParaRPr lang="en-US" altLang="en-US" sz="2000">
              <a:solidFill>
                <a:schemeClr val="tx1"/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+mn-lt"/>
              </a:rPr>
              <a:t>Clean filtering</a:t>
            </a:r>
            <a:endParaRPr lang="en-US" altLang="en-US" sz="2000">
              <a:solidFill>
                <a:schemeClr val="tx1"/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+mn-lt"/>
              </a:rPr>
              <a:t>Required for accurate DAX &amp; RLS</a:t>
            </a:r>
            <a:endParaRPr lang="en-US" altLang="en-US" sz="20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3" name="Picture 2" descr="C:/Users/sree/OneDrive/Capture.JPGCapture"/>
          <p:cNvPicPr>
            <a:picLocks noChangeAspect="1"/>
          </p:cNvPicPr>
          <p:nvPr/>
        </p:nvPicPr>
        <p:blipFill>
          <a:blip r:embed="rId7"/>
          <a:srcRect l="2174" t="8" r="-24012" b="1538"/>
          <a:stretch>
            <a:fillRect/>
          </a:stretch>
        </p:blipFill>
        <p:spPr>
          <a:xfrm>
            <a:off x="5693410" y="-635"/>
            <a:ext cx="8161655" cy="685800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altLang="en-US" sz="4400" b="1" spc="0">
                <a:latin typeface="Lucida Bright" panose="02040602050505020304" charset="0"/>
                <a:cs typeface="Lucida Bright" panose="02040602050505020304" charset="0"/>
              </a:rPr>
              <a:t>Key DAX Measures</a:t>
            </a:r>
            <a:endParaRPr lang="en-US" altLang="en-US" sz="4400" b="1" spc="0">
              <a:latin typeface="Lucida Bright" panose="02040602050505020304" charset="0"/>
              <a:cs typeface="Lucida Bright" panose="02040602050505020304" charset="0"/>
            </a:endParaRPr>
          </a:p>
        </p:txBody>
      </p:sp>
      <p:sp>
        <p:nvSpPr>
          <p:cNvPr id="3" name="对角圆角矩形 2"/>
          <p:cNvSpPr/>
          <p:nvPr>
            <p:custDataLst>
              <p:tags r:id="rId2"/>
            </p:custDataLst>
          </p:nvPr>
        </p:nvSpPr>
        <p:spPr>
          <a:xfrm>
            <a:off x="320040" y="1369695"/>
            <a:ext cx="4347210" cy="4631055"/>
          </a:xfrm>
          <a:prstGeom prst="round2DiagRect">
            <a:avLst>
              <a:gd name="adj1" fmla="val 17346"/>
              <a:gd name="adj2" fmla="val 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7794" t="4408" r="20035" b="-151"/>
          <a:stretch>
            <a:fillRect/>
          </a:stretch>
        </p:blipFill>
        <p:spPr>
          <a:xfrm>
            <a:off x="128905" y="1567180"/>
            <a:ext cx="4275455" cy="4441190"/>
          </a:xfrm>
          <a:prstGeom prst="round2DiagRect">
            <a:avLst>
              <a:gd name="adj1" fmla="val 15840"/>
              <a:gd name="adj2" fmla="val 0"/>
            </a:avLst>
          </a:prstGeom>
          <a:ln w="9525" cap="flat" cmpd="sng" algn="ctr">
            <a:solidFill>
              <a:schemeClr val="tx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52400" dist="38100" dir="2700000" algn="tl" rotWithShape="0">
              <a:schemeClr val="tx1">
                <a:alpha val="20000"/>
              </a:schemeClr>
            </a:outerShdw>
          </a:effectLst>
        </p:spPr>
      </p:pic>
      <p:sp>
        <p:nvSpPr>
          <p:cNvPr id="9" name="圆角矩形 21"/>
          <p:cNvSpPr/>
          <p:nvPr>
            <p:custDataLst>
              <p:tags r:id="rId5"/>
            </p:custDataLst>
          </p:nvPr>
        </p:nvSpPr>
        <p:spPr>
          <a:xfrm>
            <a:off x="4813935" y="1363345"/>
            <a:ext cx="6936740" cy="2229485"/>
          </a:xfrm>
          <a:prstGeom prst="roundRect">
            <a:avLst>
              <a:gd name="adj" fmla="val 17659"/>
            </a:avLst>
          </a:prstGeom>
          <a:solidFill>
            <a:schemeClr val="accent1">
              <a:lumMod val="20000"/>
              <a:lumOff val="80000"/>
              <a:alpha val="5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 sz="1400" dirty="0">
              <a:latin typeface="+mj-ea"/>
            </a:endParaRPr>
          </a:p>
        </p:txBody>
      </p:sp>
      <p:sp>
        <p:nvSpPr>
          <p:cNvPr id="2" name="椭圆 1"/>
          <p:cNvSpPr/>
          <p:nvPr>
            <p:custDataLst>
              <p:tags r:id="rId6"/>
            </p:custDataLst>
          </p:nvPr>
        </p:nvSpPr>
        <p:spPr>
          <a:xfrm>
            <a:off x="4404360" y="1960902"/>
            <a:ext cx="895023" cy="89502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90500" dist="1270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lt1">
                    <a:lumMod val="100000"/>
                  </a:schemeClr>
                </a:solidFill>
                <a:latin typeface="+mn-lt"/>
                <a:sym typeface="+mn-lt"/>
              </a:rPr>
              <a:t>01</a:t>
            </a:r>
            <a:endParaRPr lang="en-US" sz="20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7"/>
            </p:custDataLst>
          </p:nvPr>
        </p:nvSpPr>
        <p:spPr>
          <a:xfrm>
            <a:off x="5488318" y="1955472"/>
            <a:ext cx="5926909" cy="1306932"/>
          </a:xfrm>
          <a:prstGeom prst="rect">
            <a:avLst/>
          </a:prstGeom>
          <a:noFill/>
        </p:spPr>
        <p:txBody>
          <a:bodyPr wrap="square" lIns="0" tIns="0" rIns="0" bIns="0" rtlCol="0" anchor="t" anchorCtr="0"/>
          <a:lstStyle/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  <a:sym typeface="+mn-ea"/>
              </a:rPr>
              <a:t>Business KPIs can’t be calculated directly from raw columns</a:t>
            </a:r>
            <a:endParaRPr lang="en-US" sz="2000" dirty="0">
              <a:solidFill>
                <a:schemeClr val="tx1"/>
              </a:solidFill>
              <a:latin typeface="+mn-lt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cs typeface="+mn-lt"/>
                <a:sym typeface="+mn-ea"/>
              </a:rPr>
              <a:t>Enables time analysis, performance metrics</a:t>
            </a:r>
            <a:endParaRPr lang="en-US" sz="2000" dirty="0">
              <a:solidFill>
                <a:schemeClr val="tx1"/>
              </a:solidFill>
              <a:cs typeface="+mn-lt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chemeClr val="tx1"/>
              </a:solidFill>
              <a:cs typeface="+mn-lt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8"/>
            </p:custDataLst>
          </p:nvPr>
        </p:nvSpPr>
        <p:spPr>
          <a:xfrm>
            <a:off x="5488415" y="1527415"/>
            <a:ext cx="5926710" cy="43357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chemeClr val="tx1">
                    <a:lumMod val="100000"/>
                  </a:schemeClr>
                </a:solidFill>
                <a:latin typeface="+mj-lt"/>
                <a:sym typeface="+mn-ea"/>
              </a:rPr>
              <a:t>Why DAX?</a:t>
            </a:r>
            <a:endParaRPr lang="en-US" sz="2400" b="1" dirty="0">
              <a:solidFill>
                <a:schemeClr val="tx1">
                  <a:lumMod val="100000"/>
                </a:schemeClr>
              </a:solidFill>
              <a:latin typeface="+mj-lt"/>
              <a:sym typeface="+mn-ea"/>
            </a:endParaRPr>
          </a:p>
        </p:txBody>
      </p:sp>
      <p:sp>
        <p:nvSpPr>
          <p:cNvPr id="28" name="圆角矩形 21"/>
          <p:cNvSpPr/>
          <p:nvPr>
            <p:custDataLst>
              <p:tags r:id="rId9"/>
            </p:custDataLst>
          </p:nvPr>
        </p:nvSpPr>
        <p:spPr>
          <a:xfrm>
            <a:off x="4813935" y="3856355"/>
            <a:ext cx="6936740" cy="2468880"/>
          </a:xfrm>
          <a:prstGeom prst="roundRect">
            <a:avLst>
              <a:gd name="adj" fmla="val 17659"/>
            </a:avLst>
          </a:prstGeom>
          <a:solidFill>
            <a:schemeClr val="accent1">
              <a:lumMod val="20000"/>
              <a:lumOff val="80000"/>
              <a:alpha val="5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 sz="1400" dirty="0">
              <a:latin typeface="+mj-ea"/>
            </a:endParaRPr>
          </a:p>
        </p:txBody>
      </p:sp>
      <p:sp>
        <p:nvSpPr>
          <p:cNvPr id="7" name="椭圆 6"/>
          <p:cNvSpPr/>
          <p:nvPr>
            <p:custDataLst>
              <p:tags r:id="rId10"/>
            </p:custDataLst>
          </p:nvPr>
        </p:nvSpPr>
        <p:spPr>
          <a:xfrm>
            <a:off x="4404360" y="4667751"/>
            <a:ext cx="895023" cy="89502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90500" dist="1270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lt1">
                    <a:lumMod val="100000"/>
                  </a:schemeClr>
                </a:solidFill>
                <a:latin typeface="+mn-lt"/>
                <a:sym typeface="+mn-lt"/>
              </a:rPr>
              <a:t>02</a:t>
            </a:r>
            <a:endParaRPr lang="en-US" sz="20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11"/>
            </p:custDataLst>
          </p:nvPr>
        </p:nvSpPr>
        <p:spPr>
          <a:xfrm>
            <a:off x="5488318" y="4439104"/>
            <a:ext cx="5926909" cy="1530565"/>
          </a:xfrm>
          <a:prstGeom prst="rect">
            <a:avLst/>
          </a:prstGeom>
          <a:noFill/>
        </p:spPr>
        <p:txBody>
          <a:bodyPr wrap="square" lIns="0" tIns="0" rIns="0" bIns="0" rtlCol="0" anchor="t" anchorCtr="0"/>
          <a:lstStyle/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KPI Creation, </a:t>
            </a:r>
            <a:endParaRPr lang="en-US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Performance Tracking, </a:t>
            </a:r>
            <a:endParaRPr lang="en-US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Time Analysis, Reusable Metrics,</a:t>
            </a:r>
            <a:endParaRPr lang="en-US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Consistent Reporting</a:t>
            </a:r>
            <a:endParaRPr lang="en-US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12"/>
            </p:custDataLst>
          </p:nvPr>
        </p:nvSpPr>
        <p:spPr>
          <a:xfrm>
            <a:off x="5488318" y="4006310"/>
            <a:ext cx="5926909" cy="43345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chemeClr val="tx1">
                    <a:lumMod val="100000"/>
                  </a:schemeClr>
                </a:solidFill>
                <a:latin typeface="+mj-lt"/>
                <a:sym typeface="+mn-ea"/>
              </a:rPr>
              <a:t>Purpose</a:t>
            </a:r>
            <a:endParaRPr lang="en-US" sz="2400" b="1" dirty="0">
              <a:solidFill>
                <a:schemeClr val="tx1">
                  <a:lumMod val="100000"/>
                </a:schemeClr>
              </a:solidFill>
              <a:latin typeface="+mj-lt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34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Flowchart: Terminator 32"/>
          <p:cNvSpPr/>
          <p:nvPr/>
        </p:nvSpPr>
        <p:spPr>
          <a:xfrm>
            <a:off x="8520430" y="4648835"/>
            <a:ext cx="3445510" cy="1600835"/>
          </a:xfrm>
          <a:prstGeom prst="flowChartTerminator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Flowchart: Terminator 31"/>
          <p:cNvSpPr/>
          <p:nvPr/>
        </p:nvSpPr>
        <p:spPr>
          <a:xfrm>
            <a:off x="8451850" y="2853690"/>
            <a:ext cx="3540125" cy="1493520"/>
          </a:xfrm>
          <a:prstGeom prst="flowChartTerminator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Flowchart: Terminator 30"/>
          <p:cNvSpPr/>
          <p:nvPr/>
        </p:nvSpPr>
        <p:spPr>
          <a:xfrm>
            <a:off x="8413750" y="1149985"/>
            <a:ext cx="3539490" cy="1402715"/>
          </a:xfrm>
          <a:prstGeom prst="flowChartTerminator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Flowchart: Terminator 29"/>
          <p:cNvSpPr/>
          <p:nvPr/>
        </p:nvSpPr>
        <p:spPr>
          <a:xfrm>
            <a:off x="4222750" y="5207635"/>
            <a:ext cx="4202430" cy="1301115"/>
          </a:xfrm>
          <a:prstGeom prst="flowChartTerminator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Flowchart: Terminator 28"/>
          <p:cNvSpPr/>
          <p:nvPr/>
        </p:nvSpPr>
        <p:spPr>
          <a:xfrm>
            <a:off x="4235450" y="3768725"/>
            <a:ext cx="3956050" cy="1287145"/>
          </a:xfrm>
          <a:prstGeom prst="flowChartTerminator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Flowchart: Terminator 27"/>
          <p:cNvSpPr/>
          <p:nvPr/>
        </p:nvSpPr>
        <p:spPr>
          <a:xfrm>
            <a:off x="4370070" y="2551430"/>
            <a:ext cx="3782695" cy="1080135"/>
          </a:xfrm>
          <a:prstGeom prst="flowChartTerminator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Flowchart: Terminator 26"/>
          <p:cNvSpPr/>
          <p:nvPr/>
        </p:nvSpPr>
        <p:spPr>
          <a:xfrm>
            <a:off x="4408805" y="1061720"/>
            <a:ext cx="3773170" cy="1305560"/>
          </a:xfrm>
          <a:prstGeom prst="flowChartTerminator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Flowchart: Terminator 25"/>
          <p:cNvSpPr/>
          <p:nvPr/>
        </p:nvSpPr>
        <p:spPr>
          <a:xfrm>
            <a:off x="259715" y="5342890"/>
            <a:ext cx="3811905" cy="1174115"/>
          </a:xfrm>
          <a:prstGeom prst="flowChartTerminator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Flowchart: Terminator 24"/>
          <p:cNvSpPr/>
          <p:nvPr/>
        </p:nvSpPr>
        <p:spPr>
          <a:xfrm>
            <a:off x="356870" y="3929380"/>
            <a:ext cx="3703955" cy="1152525"/>
          </a:xfrm>
          <a:prstGeom prst="flowChartTerminator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Flowchart: Terminator 23"/>
          <p:cNvSpPr/>
          <p:nvPr/>
        </p:nvSpPr>
        <p:spPr>
          <a:xfrm>
            <a:off x="258445" y="2393315"/>
            <a:ext cx="3813175" cy="1346200"/>
          </a:xfrm>
          <a:prstGeom prst="flowChartTerminator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Flowchart: Terminator 22"/>
          <p:cNvSpPr/>
          <p:nvPr/>
        </p:nvSpPr>
        <p:spPr>
          <a:xfrm>
            <a:off x="258445" y="1062355"/>
            <a:ext cx="3813175" cy="1195705"/>
          </a:xfrm>
          <a:prstGeom prst="flowChartTerminator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200095"/>
            <a:ext cx="10800000" cy="792000"/>
          </a:xfrm>
          <a:solidFill>
            <a:schemeClr val="bg1"/>
          </a:solidFill>
        </p:spPr>
        <p:txBody>
          <a:bodyPr/>
          <a:p>
            <a:r>
              <a:rPr lang="en-US" altLang="en-US" b="1">
                <a:latin typeface="Lucida Bright" panose="02040602050505020304" charset="0"/>
                <a:cs typeface="Lucida Bright" panose="02040602050505020304" charset="0"/>
                <a:sym typeface="+mn-ea"/>
              </a:rPr>
              <a:t>Key DAX Measures</a:t>
            </a:r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356870" y="1204595"/>
            <a:ext cx="3820160" cy="949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altLang="en-US" sz="2000" b="1">
                <a:cs typeface="+mn-lt"/>
                <a:sym typeface="+mn-ea"/>
              </a:rPr>
              <a:t>Completed Appointments :</a:t>
            </a:r>
            <a:r>
              <a:rPr lang="en-US" altLang="en-US"/>
              <a:t>Counts completed appointments to measure service performance.</a:t>
            </a:r>
            <a:endParaRPr lang="en-US" altLang="en-US"/>
          </a:p>
        </p:txBody>
      </p:sp>
      <p:sp>
        <p:nvSpPr>
          <p:cNvPr id="12" name="Text Box 11"/>
          <p:cNvSpPr txBox="1"/>
          <p:nvPr/>
        </p:nvSpPr>
        <p:spPr>
          <a:xfrm>
            <a:off x="518795" y="2366645"/>
            <a:ext cx="3281045" cy="1372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en-US" sz="2000" b="1">
                <a:sym typeface="+mn-ea"/>
              </a:rPr>
              <a:t>Pending Revenue : </a:t>
            </a:r>
            <a:r>
              <a:rPr lang="en-US" altLang="en-US"/>
              <a:t>Tracks total unpaid revenue for financial monitoring.</a:t>
            </a:r>
            <a:endParaRPr lang="en-US" altLang="en-US"/>
          </a:p>
        </p:txBody>
      </p:sp>
      <p:sp>
        <p:nvSpPr>
          <p:cNvPr id="13" name="Text Box 12"/>
          <p:cNvSpPr txBox="1"/>
          <p:nvPr/>
        </p:nvSpPr>
        <p:spPr>
          <a:xfrm>
            <a:off x="518160" y="4039870"/>
            <a:ext cx="3255645" cy="1002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>
                <a:sym typeface="+mn-ea"/>
              </a:rPr>
              <a:t>Pending Revenue : </a:t>
            </a:r>
            <a:r>
              <a:rPr lang="en-US" altLang="en-US"/>
              <a:t>Measures revenue contribution by each doctor.</a:t>
            </a:r>
            <a:endParaRPr lang="en-US" altLang="en-US"/>
          </a:p>
        </p:txBody>
      </p:sp>
      <p:sp>
        <p:nvSpPr>
          <p:cNvPr id="14" name="Text Box 13"/>
          <p:cNvSpPr txBox="1"/>
          <p:nvPr/>
        </p:nvSpPr>
        <p:spPr>
          <a:xfrm>
            <a:off x="518160" y="5420360"/>
            <a:ext cx="3372485" cy="1096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>
                <a:cs typeface="+mn-lt"/>
                <a:sym typeface="+mn-ea"/>
              </a:rPr>
              <a:t>New Patient Registrations :</a:t>
            </a:r>
            <a:endParaRPr lang="en-US" altLang="en-US" sz="2000" b="1">
              <a:cs typeface="+mn-lt"/>
              <a:sym typeface="+mn-ea"/>
            </a:endParaRPr>
          </a:p>
          <a:p>
            <a:r>
              <a:rPr lang="en-US" altLang="en-US"/>
              <a:t>Tracks new patient registrations over time.</a:t>
            </a:r>
            <a:endParaRPr lang="en-US" altLang="en-US"/>
          </a:p>
        </p:txBody>
      </p:sp>
      <p:sp>
        <p:nvSpPr>
          <p:cNvPr id="15" name="Text Box 14"/>
          <p:cNvSpPr txBox="1"/>
          <p:nvPr/>
        </p:nvSpPr>
        <p:spPr>
          <a:xfrm>
            <a:off x="8705850" y="1104900"/>
            <a:ext cx="3274060" cy="1287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en-US" sz="2000" b="1">
                <a:sym typeface="+mn-ea"/>
              </a:rPr>
              <a:t>Paid Revenue : </a:t>
            </a:r>
            <a:r>
              <a:rPr lang="en-US" altLang="en-US"/>
              <a:t>Calculates the total revenue received from completed payments.</a:t>
            </a:r>
            <a:endParaRPr lang="en-US" altLang="en-US"/>
          </a:p>
        </p:txBody>
      </p:sp>
      <p:sp>
        <p:nvSpPr>
          <p:cNvPr id="16" name="Text Box 15"/>
          <p:cNvSpPr txBox="1"/>
          <p:nvPr/>
        </p:nvSpPr>
        <p:spPr>
          <a:xfrm>
            <a:off x="4685665" y="991870"/>
            <a:ext cx="3406140" cy="1265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en-US" sz="2000" b="1">
                <a:cs typeface="+mn-lt"/>
                <a:sym typeface="+mn-ea"/>
              </a:rPr>
              <a:t>Revenue per Doctor: </a:t>
            </a:r>
            <a:r>
              <a:rPr lang="en-US" altLang="en-US">
                <a:cs typeface="+mn-lt"/>
                <a:sym typeface="+mn-ea"/>
              </a:rPr>
              <a:t>Shows the average revenue contribution of each doctor.</a:t>
            </a:r>
            <a:endParaRPr lang="en-US" altLang="en-US">
              <a:cs typeface="+mn-lt"/>
              <a:sym typeface="+mn-ea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4539615" y="2662555"/>
            <a:ext cx="3514090" cy="8216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>
                <a:cs typeface="+mj-lt"/>
                <a:sym typeface="+mn-ea"/>
              </a:rPr>
              <a:t>Total Patients :</a:t>
            </a:r>
            <a:r>
              <a:rPr lang="en-US" altLang="en-US" dirty="0">
                <a:solidFill>
                  <a:schemeClr val="tx1"/>
                </a:solidFill>
                <a:uFillTx/>
                <a:latin typeface="+mj-lt"/>
                <a:cs typeface="+mj-lt"/>
                <a:sym typeface="+mn-ea"/>
              </a:rPr>
              <a:t>Calculates the total number of unique patients.</a:t>
            </a:r>
            <a:endParaRPr lang="en-US" altLang="en-US" dirty="0">
              <a:solidFill>
                <a:schemeClr val="tx1"/>
              </a:solidFill>
              <a:uFillTx/>
              <a:latin typeface="+mj-lt"/>
              <a:cs typeface="+mj-lt"/>
              <a:sym typeface="+mn-ea"/>
            </a:endParaRPr>
          </a:p>
          <a:p>
            <a:endParaRPr lang="en-US" altLang="en-US" dirty="0">
              <a:solidFill>
                <a:schemeClr val="tx1"/>
              </a:solidFill>
              <a:uFillTx/>
              <a:latin typeface="+mj-lt"/>
              <a:cs typeface="+mj-lt"/>
              <a:sym typeface="+mn-ea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4408805" y="3870960"/>
            <a:ext cx="3463290" cy="950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cs typeface="+mj-lt"/>
                <a:sym typeface="+mn-ea"/>
              </a:rPr>
              <a:t>Total Revenue : </a:t>
            </a:r>
            <a:r>
              <a:rPr lang="en-US" altLang="en-US"/>
              <a:t>Calculates the total revenue generated from all billing transactions.</a:t>
            </a:r>
            <a:endParaRPr lang="en-US" altLang="en-US"/>
          </a:p>
        </p:txBody>
      </p:sp>
      <p:sp>
        <p:nvSpPr>
          <p:cNvPr id="20" name="Text Box 19"/>
          <p:cNvSpPr txBox="1"/>
          <p:nvPr/>
        </p:nvSpPr>
        <p:spPr>
          <a:xfrm>
            <a:off x="4408805" y="5340985"/>
            <a:ext cx="3773805" cy="1025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>
                <a:solidFill>
                  <a:schemeClr val="tx1"/>
                </a:solidFill>
                <a:cs typeface="+mj-lt"/>
                <a:sym typeface="+mn-ea"/>
              </a:rPr>
              <a:t>Total Appointments :</a:t>
            </a:r>
            <a:r>
              <a:rPr lang="en-US" altLang="en-US">
                <a:solidFill>
                  <a:schemeClr val="tx1"/>
                </a:solidFill>
                <a:cs typeface="+mj-lt"/>
                <a:sym typeface="+mn-ea"/>
              </a:rPr>
              <a:t>Calculates the total number of appointments to monitor hospital service volume. </a:t>
            </a:r>
            <a:endParaRPr lang="en-US" altLang="en-US" dirty="0">
              <a:solidFill>
                <a:schemeClr val="tx1"/>
              </a:solidFill>
              <a:uFillTx/>
              <a:latin typeface="+mj-lt"/>
              <a:cs typeface="+mj-lt"/>
              <a:sym typeface="+mn-ea"/>
            </a:endParaRPr>
          </a:p>
          <a:p>
            <a:endParaRPr lang="en-US" altLang="en-US" dirty="0">
              <a:solidFill>
                <a:schemeClr val="tx1"/>
              </a:solidFill>
              <a:uFillTx/>
              <a:latin typeface="+mj-lt"/>
              <a:cs typeface="+mj-lt"/>
              <a:sym typeface="+mn-ea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8653145" y="3072130"/>
            <a:ext cx="3253105" cy="1229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 b="1">
                <a:cs typeface="+mj-lt"/>
                <a:sym typeface="+mn-ea"/>
              </a:rPr>
              <a:t>Total Treatments : </a:t>
            </a:r>
            <a:r>
              <a:rPr lang="en-US" altLang="en-US"/>
              <a:t>Shows the total number of treatments performed to measure service activity.</a:t>
            </a:r>
            <a:endParaRPr lang="en-US" altLang="en-US"/>
          </a:p>
        </p:txBody>
      </p:sp>
      <p:sp>
        <p:nvSpPr>
          <p:cNvPr id="22" name="Text Box 21"/>
          <p:cNvSpPr txBox="1"/>
          <p:nvPr/>
        </p:nvSpPr>
        <p:spPr>
          <a:xfrm>
            <a:off x="8700770" y="4821555"/>
            <a:ext cx="3305175" cy="1357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Total Doctors : </a:t>
            </a:r>
            <a:r>
              <a:rPr lang="en-US" altLang="en-US" dirty="0">
                <a:ln>
                  <a:noFill/>
                </a:ln>
                <a:solidFill>
                  <a:schemeClr val="tx1"/>
                </a:solidFill>
                <a:effectLst/>
                <a:sym typeface="+mn-ea"/>
              </a:rPr>
              <a:t>Shows the total number of unique doctors to measure available medical resources. </a:t>
            </a:r>
            <a:endParaRPr lang="en-US" altLang="en-US" dirty="0">
              <a:ln>
                <a:noFill/>
              </a:ln>
              <a:solidFill>
                <a:schemeClr val="tx1"/>
              </a:solidFill>
              <a:effectLst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:/Users/sree/Pictures/Camera Roll/images (7).jpgimages (7)"/>
          <p:cNvPicPr preferRelativeResize="0"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l="-1380" t="10941" r="1380" b="26291"/>
          <a:stretch>
            <a:fillRect/>
          </a:stretch>
        </p:blipFill>
        <p:spPr>
          <a:xfrm>
            <a:off x="-172085" y="0"/>
            <a:ext cx="12364085" cy="5094605"/>
          </a:xfrm>
          <a:prstGeom prst="rect">
            <a:avLst/>
          </a:prstGeom>
          <a:noFill/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2184400" y="1388745"/>
            <a:ext cx="8401685" cy="1562735"/>
          </a:xfrm>
          <a:noFill/>
        </p:spPr>
        <p:txBody>
          <a:bodyPr wrap="square" lIns="0" tIns="0" rIns="0" bIns="0" anchor="b" anchorCtr="0">
            <a:noAutofit/>
          </a:bodyPr>
          <a:lstStyle/>
          <a:p>
            <a:r>
              <a:rPr lang="en-US" sz="4800" b="1" spc="0" dirty="0">
                <a:solidFill>
                  <a:srgbClr val="FF0000"/>
                </a:solidFill>
                <a:latin typeface="Lucida Bright" panose="02040602050505020304" charset="0"/>
                <a:cs typeface="Lucida Bright" panose="02040602050505020304" charset="0"/>
                <a:sym typeface="+mn-ea"/>
              </a:rPr>
              <a:t>Data Preparation (Power Query Editor)</a:t>
            </a:r>
            <a:endParaRPr lang="en-US" sz="4800" b="1" spc="0" dirty="0">
              <a:solidFill>
                <a:srgbClr val="FF0000"/>
              </a:solidFill>
              <a:latin typeface="Lucida Bright" panose="02040602050505020304" charset="0"/>
              <a:cs typeface="Lucida Bright" panose="02040602050505020304" charset="0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706120" y="3404235"/>
            <a:ext cx="10800080" cy="3095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5" name="直接连接符 4"/>
          <p:cNvCxnSpPr/>
          <p:nvPr>
            <p:custDataLst>
              <p:tags r:id="rId5"/>
            </p:custDataLst>
          </p:nvPr>
        </p:nvCxnSpPr>
        <p:spPr>
          <a:xfrm>
            <a:off x="6121400" y="3709987"/>
            <a:ext cx="38735" cy="1756410"/>
          </a:xfrm>
          <a:prstGeom prst="line">
            <a:avLst/>
          </a:prstGeom>
          <a:ln w="5080">
            <a:solidFill>
              <a:schemeClr val="lt1">
                <a:lumMod val="10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1344295" y="4107815"/>
            <a:ext cx="4515485" cy="229235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lt1">
                    <a:lumMod val="100000"/>
                  </a:schemeClr>
                </a:solidFill>
                <a:latin typeface="+mn-lt"/>
              </a:rPr>
              <a:t>Append &amp; Merge</a:t>
            </a:r>
            <a:endParaRPr lang="en-US" sz="2000" dirty="0">
              <a:solidFill>
                <a:schemeClr val="lt1">
                  <a:lumMod val="100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lt1">
                    <a:lumMod val="100000"/>
                  </a:schemeClr>
                </a:solidFill>
                <a:latin typeface="+mn-lt"/>
              </a:rPr>
              <a:t>Date functions (Year, Month)</a:t>
            </a:r>
            <a:endParaRPr lang="en-US" sz="2000" dirty="0">
              <a:solidFill>
                <a:schemeClr val="lt1">
                  <a:lumMod val="100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lt1">
                    <a:lumMod val="100000"/>
                  </a:schemeClr>
                </a:solidFill>
                <a:latin typeface="+mn-lt"/>
              </a:rPr>
              <a:t>Text functions (Full Name)</a:t>
            </a:r>
            <a:endParaRPr lang="en-US" sz="2000" dirty="0">
              <a:solidFill>
                <a:schemeClr val="lt1">
                  <a:lumMod val="100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lt1">
                    <a:lumMod val="100000"/>
                  </a:schemeClr>
                </a:solidFill>
                <a:latin typeface="+mn-lt"/>
              </a:rPr>
              <a:t>Data type corrections</a:t>
            </a:r>
            <a:endParaRPr lang="en-US" sz="2000" dirty="0">
              <a:solidFill>
                <a:schemeClr val="lt1">
                  <a:lumMod val="100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lt1">
                    <a:lumMod val="100000"/>
                  </a:schemeClr>
                </a:solidFill>
                <a:latin typeface="+mn-lt"/>
              </a:rPr>
              <a:t>Removed orphan records (to fix blanks)</a:t>
            </a:r>
            <a:endParaRPr lang="en-US" sz="2000" dirty="0">
              <a:solidFill>
                <a:schemeClr val="lt1">
                  <a:lumMod val="100000"/>
                </a:schemeClr>
              </a:solidFill>
              <a:latin typeface="+mn-lt"/>
            </a:endParaRPr>
          </a:p>
        </p:txBody>
      </p:sp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1019810" y="3609657"/>
            <a:ext cx="4205605" cy="49847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lt1">
                    <a:lumMod val="100000"/>
                  </a:schemeClr>
                </a:solidFill>
                <a:latin typeface="+mj-lt"/>
              </a:rPr>
              <a:t>Used Transformations:</a:t>
            </a:r>
            <a:endParaRPr lang="en-US" sz="2800" b="1" dirty="0">
              <a:solidFill>
                <a:schemeClr val="lt1">
                  <a:lumMod val="100000"/>
                </a:schemeClr>
              </a:solidFill>
              <a:latin typeface="+mj-lt"/>
            </a:endParaRPr>
          </a:p>
        </p:txBody>
      </p:sp>
      <p:sp>
        <p:nvSpPr>
          <p:cNvPr id="11" name="矩形 10"/>
          <p:cNvSpPr/>
          <p:nvPr>
            <p:custDataLst>
              <p:tags r:id="rId8"/>
            </p:custDataLst>
          </p:nvPr>
        </p:nvSpPr>
        <p:spPr>
          <a:xfrm>
            <a:off x="6732270" y="4199572"/>
            <a:ext cx="4204971" cy="144939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lt1">
                    <a:lumMod val="100000"/>
                  </a:schemeClr>
                </a:solidFill>
                <a:latin typeface="+mn-lt"/>
              </a:rPr>
              <a:t>Clean data → correct visuals</a:t>
            </a:r>
            <a:endParaRPr lang="en-US" sz="2000" dirty="0">
              <a:solidFill>
                <a:schemeClr val="lt1">
                  <a:lumMod val="100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lt1">
                    <a:lumMod val="100000"/>
                  </a:schemeClr>
                </a:solidFill>
                <a:latin typeface="+mn-lt"/>
              </a:rPr>
              <a:t>Avoids relationship &amp; RLS issues</a:t>
            </a:r>
            <a:endParaRPr lang="en-US" sz="2000" dirty="0">
              <a:solidFill>
                <a:schemeClr val="lt1">
                  <a:lumMod val="100000"/>
                </a:schemeClr>
              </a:solidFill>
              <a:latin typeface="+mn-lt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6421755" y="3609340"/>
            <a:ext cx="3899535" cy="49847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lt1">
                    <a:lumMod val="100000"/>
                  </a:schemeClr>
                </a:solidFill>
                <a:latin typeface="+mj-lt"/>
              </a:rPr>
              <a:t>Why this is important:</a:t>
            </a:r>
            <a:endParaRPr lang="en-US" sz="2800" b="1" dirty="0">
              <a:solidFill>
                <a:schemeClr val="lt1">
                  <a:lumMod val="100000"/>
                </a:schemeClr>
              </a:solidFill>
              <a:latin typeface="+mj-lt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任意多边形 24"/>
          <p:cNvSpPr/>
          <p:nvPr>
            <p:custDataLst>
              <p:tags r:id="rId1"/>
            </p:custDataLst>
          </p:nvPr>
        </p:nvSpPr>
        <p:spPr>
          <a:xfrm flipH="1">
            <a:off x="11680457" y="5709056"/>
            <a:ext cx="511543" cy="1148944"/>
          </a:xfrm>
          <a:custGeom>
            <a:avLst/>
            <a:gdLst>
              <a:gd name="it" fmla="*/ h 7 12"/>
              <a:gd name="ir" fmla="*/ w 7 12"/>
              <a:gd name="ib" fmla="*/ h 11 12"/>
            </a:gdLst>
            <a:ahLst/>
            <a:cxnLst>
              <a:cxn ang="3">
                <a:pos x="l" y="t"/>
              </a:cxn>
              <a:cxn ang="cd2">
                <a:pos x="l" y="vc"/>
              </a:cxn>
              <a:cxn ang="cd4">
                <a:pos x="l" y="b"/>
              </a:cxn>
              <a:cxn ang="cd4">
                <a:pos x="hc" y="b"/>
              </a:cxn>
              <a:cxn ang="cd4">
                <a:pos x="r" y="b"/>
              </a:cxn>
              <a:cxn ang="0">
                <a:pos x="hc" y="vc"/>
              </a:cxn>
            </a:cxnLst>
            <a:rect l="l" t="t" r="r" b="b"/>
            <a:pathLst>
              <a:path w="806" h="1809">
                <a:moveTo>
                  <a:pt x="0" y="0"/>
                </a:moveTo>
                <a:lnTo>
                  <a:pt x="806" y="1809"/>
                </a:lnTo>
                <a:lnTo>
                  <a:pt x="0" y="18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1" name="图片 10" descr="C:/Users/sree/Pictures/Saved Pictures/download (2).jpgdownload (2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38336" t="-1380" r="12052" b="1380"/>
          <a:stretch>
            <a:fillRect/>
          </a:stretch>
        </p:blipFill>
        <p:spPr>
          <a:xfrm flipH="1">
            <a:off x="0" y="0"/>
            <a:ext cx="6902450" cy="6784340"/>
          </a:xfrm>
          <a:custGeom>
            <a:avLst/>
            <a:gdLst>
              <a:gd name="connsiteX0" fmla="*/ 4524548 w 6414770"/>
              <a:gd name="connsiteY0" fmla="*/ 3601085 h 6857365"/>
              <a:gd name="connsiteX1" fmla="*/ 1753918 w 6414770"/>
              <a:gd name="connsiteY1" fmla="*/ 3601085 h 6857365"/>
              <a:gd name="connsiteX2" fmla="*/ 3342125 w 6414770"/>
              <a:gd name="connsiteY2" fmla="*/ 6857365 h 6857365"/>
              <a:gd name="connsiteX3" fmla="*/ 6112755 w 6414770"/>
              <a:gd name="connsiteY3" fmla="*/ 6857365 h 6857365"/>
              <a:gd name="connsiteX4" fmla="*/ 2768523 w 6414770"/>
              <a:gd name="connsiteY4" fmla="*/ 0 h 6857365"/>
              <a:gd name="connsiteX5" fmla="*/ 0 w 6414770"/>
              <a:gd name="connsiteY5" fmla="*/ 0 h 6857365"/>
              <a:gd name="connsiteX6" fmla="*/ 0 w 6414770"/>
              <a:gd name="connsiteY6" fmla="*/ 5080 h 6857365"/>
              <a:gd name="connsiteX7" fmla="*/ 1640159 w 6414770"/>
              <a:gd name="connsiteY7" fmla="*/ 3367405 h 6857365"/>
              <a:gd name="connsiteX8" fmla="*/ 4410587 w 6414770"/>
              <a:gd name="connsiteY8" fmla="*/ 3367405 h 6857365"/>
              <a:gd name="connsiteX9" fmla="*/ 5389933 w 6414770"/>
              <a:gd name="connsiteY9" fmla="*/ 0 h 6857365"/>
              <a:gd name="connsiteX10" fmla="*/ 3056429 w 6414770"/>
              <a:gd name="connsiteY10" fmla="*/ 0 h 6857365"/>
              <a:gd name="connsiteX11" fmla="*/ 6400801 w 6414770"/>
              <a:gd name="connsiteY11" fmla="*/ 6857365 h 6857365"/>
              <a:gd name="connsiteX12" fmla="*/ 6414770 w 6414770"/>
              <a:gd name="connsiteY12" fmla="*/ 6857365 h 6857365"/>
              <a:gd name="connsiteX13" fmla="*/ 6414770 w 6414770"/>
              <a:gd name="connsiteY13" fmla="*/ 2100580 h 6857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414770" h="6857365">
                <a:moveTo>
                  <a:pt x="4524548" y="3601085"/>
                </a:moveTo>
                <a:lnTo>
                  <a:pt x="1753918" y="3601085"/>
                </a:lnTo>
                <a:lnTo>
                  <a:pt x="3342125" y="6857365"/>
                </a:lnTo>
                <a:lnTo>
                  <a:pt x="6112755" y="6857365"/>
                </a:lnTo>
                <a:close/>
                <a:moveTo>
                  <a:pt x="2768523" y="0"/>
                </a:moveTo>
                <a:lnTo>
                  <a:pt x="0" y="0"/>
                </a:lnTo>
                <a:lnTo>
                  <a:pt x="0" y="5080"/>
                </a:lnTo>
                <a:lnTo>
                  <a:pt x="1640159" y="3367405"/>
                </a:lnTo>
                <a:lnTo>
                  <a:pt x="4410587" y="3367405"/>
                </a:lnTo>
                <a:close/>
                <a:moveTo>
                  <a:pt x="5389933" y="0"/>
                </a:moveTo>
                <a:lnTo>
                  <a:pt x="3056429" y="0"/>
                </a:lnTo>
                <a:lnTo>
                  <a:pt x="6400801" y="6857365"/>
                </a:lnTo>
                <a:lnTo>
                  <a:pt x="6414770" y="6857365"/>
                </a:lnTo>
                <a:lnTo>
                  <a:pt x="6414770" y="2100580"/>
                </a:lnTo>
                <a:close/>
              </a:path>
            </a:pathLst>
          </a:custGeom>
          <a:ln w="9525" cap="flat" cmpd="sng" algn="ctr">
            <a:solidFill>
              <a:schemeClr val="accent1"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32" name="任意多边形 13"/>
          <p:cNvSpPr/>
          <p:nvPr>
            <p:custDataLst>
              <p:tags r:id="rId4"/>
            </p:custDataLst>
          </p:nvPr>
        </p:nvSpPr>
        <p:spPr>
          <a:xfrm>
            <a:off x="5080" y="0"/>
            <a:ext cx="3358341" cy="6857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89" h="10799">
                <a:moveTo>
                  <a:pt x="1614" y="0"/>
                </a:moveTo>
                <a:lnTo>
                  <a:pt x="5289" y="0"/>
                </a:lnTo>
                <a:lnTo>
                  <a:pt x="22" y="10799"/>
                </a:lnTo>
                <a:lnTo>
                  <a:pt x="0" y="10799"/>
                </a:lnTo>
                <a:lnTo>
                  <a:pt x="0" y="3308"/>
                </a:lnTo>
                <a:lnTo>
                  <a:pt x="1614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801485" y="198120"/>
            <a:ext cx="5314315" cy="1045210"/>
          </a:xfrm>
        </p:spPr>
        <p:txBody>
          <a:bodyPr wrap="square" anchor="b">
            <a:noAutofit/>
          </a:bodyPr>
          <a:lstStyle/>
          <a:p>
            <a:pPr algn="l"/>
            <a:r>
              <a:rPr lang="en-US" spc="0" dirty="0">
                <a:latin typeface="Lucida Bright" panose="02040602050505020304" charset="0"/>
                <a:cs typeface="Lucida Bright" panose="02040602050505020304" charset="0"/>
              </a:rPr>
              <a:t>Role-Based Access Control (RLS) – Doctors &amp; Patients</a:t>
            </a:r>
            <a:endParaRPr lang="en-US" spc="0" dirty="0">
              <a:latin typeface="Lucida Bright" panose="02040602050505020304" charset="0"/>
              <a:cs typeface="Lucida Bright" panose="02040602050505020304" charset="0"/>
            </a:endParaRPr>
          </a:p>
        </p:txBody>
      </p:sp>
      <p:sp>
        <p:nvSpPr>
          <p:cNvPr id="20" name="正文"/>
          <p:cNvSpPr txBox="1"/>
          <p:nvPr>
            <p:custDataLst>
              <p:tags r:id="rId6"/>
            </p:custDataLst>
          </p:nvPr>
        </p:nvSpPr>
        <p:spPr>
          <a:xfrm>
            <a:off x="6518518" y="1799569"/>
            <a:ext cx="5503100" cy="11529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defPPr>
              <a:defRPr lang="en-US">
                <a:latin typeface="+mn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Doctor Access (10 users)</a:t>
            </a:r>
            <a:endParaRPr 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Patient Access (51 users)</a:t>
            </a:r>
            <a:endParaRPr 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21" name="标题"/>
          <p:cNvSpPr txBox="1"/>
          <p:nvPr>
            <p:custDataLst>
              <p:tags r:id="rId7"/>
            </p:custDataLst>
          </p:nvPr>
        </p:nvSpPr>
        <p:spPr>
          <a:xfrm>
            <a:off x="6518518" y="1438256"/>
            <a:ext cx="5503100" cy="369003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defPPr>
              <a:defRPr lang="en-US">
                <a:latin typeface="+mj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9pPr>
          </a:lstStyle>
          <a:p>
            <a:pPr lvl="0" algn="l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sz="2000" b="1" dirty="0">
                <a:solidFill>
                  <a:schemeClr val="accent1"/>
                </a:solidFill>
                <a:latin typeface="+mj-lt"/>
                <a:sym typeface="+mn-ea"/>
              </a:rPr>
              <a:t>Roles Implemented</a:t>
            </a:r>
            <a:endParaRPr lang="en-US" sz="2000" b="1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sp>
        <p:nvSpPr>
          <p:cNvPr id="22" name="正文"/>
          <p:cNvSpPr txBox="1"/>
          <p:nvPr>
            <p:custDataLst>
              <p:tags r:id="rId8"/>
            </p:custDataLst>
          </p:nvPr>
        </p:nvSpPr>
        <p:spPr>
          <a:xfrm>
            <a:off x="4857880" y="5237458"/>
            <a:ext cx="5503100" cy="11529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defPPr>
              <a:defRPr lang="en-US">
                <a:latin typeface="+mn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Dynamic RLS (Email-based)</a:t>
            </a:r>
            <a:endParaRPr lang="en-US" sz="14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DAX Filters</a:t>
            </a:r>
            <a:endParaRPr lang="en-US" sz="14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Power BI Service Roles</a:t>
            </a:r>
            <a:endParaRPr lang="en-US" sz="14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23" name="标题"/>
          <p:cNvSpPr txBox="1"/>
          <p:nvPr>
            <p:custDataLst>
              <p:tags r:id="rId9"/>
            </p:custDataLst>
          </p:nvPr>
        </p:nvSpPr>
        <p:spPr>
          <a:xfrm>
            <a:off x="4857880" y="4875508"/>
            <a:ext cx="5503100" cy="369003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defPPr>
              <a:defRPr lang="en-US">
                <a:latin typeface="+mj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9pPr>
          </a:lstStyle>
          <a:p>
            <a:pPr lvl="0" algn="l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sz="2000" b="1" dirty="0">
                <a:solidFill>
                  <a:schemeClr val="accent1"/>
                </a:solidFill>
                <a:latin typeface="+mj-lt"/>
                <a:sym typeface="+mn-ea"/>
              </a:rPr>
              <a:t>Implementation</a:t>
            </a:r>
            <a:endParaRPr lang="en-US" sz="2000" b="1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sp>
        <p:nvSpPr>
          <p:cNvPr id="6" name="正文"/>
          <p:cNvSpPr txBox="1"/>
          <p:nvPr>
            <p:custDataLst>
              <p:tags r:id="rId10"/>
            </p:custDataLst>
          </p:nvPr>
        </p:nvSpPr>
        <p:spPr>
          <a:xfrm>
            <a:off x="5657064" y="3429313"/>
            <a:ext cx="5503100" cy="11529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90000" lnSpcReduction="20000"/>
          </a:bodyPr>
          <a:lstStyle>
            <a:defPPr>
              <a:defRPr lang="en-US">
                <a:latin typeface="+mn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Role-Based Access</a:t>
            </a:r>
            <a:endParaRPr 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User-Level Filtering</a:t>
            </a:r>
            <a:endParaRPr 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Data Privacy</a:t>
            </a:r>
            <a:endParaRPr 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Secure Access Control</a:t>
            </a:r>
            <a:endParaRPr lang="en-US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7" name="标题"/>
          <p:cNvSpPr txBox="1"/>
          <p:nvPr>
            <p:custDataLst>
              <p:tags r:id="rId11"/>
            </p:custDataLst>
          </p:nvPr>
        </p:nvSpPr>
        <p:spPr>
          <a:xfrm>
            <a:off x="5682464" y="2957508"/>
            <a:ext cx="5503100" cy="369003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defPPr>
              <a:defRPr lang="en-US">
                <a:latin typeface="+mj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9pPr>
          </a:lstStyle>
          <a:p>
            <a:pPr lvl="0" algn="l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sz="2000" b="1" dirty="0">
                <a:solidFill>
                  <a:schemeClr val="accent1"/>
                </a:solidFill>
                <a:latin typeface="+mj-lt"/>
                <a:sym typeface="+mn-ea"/>
              </a:rPr>
              <a:t>Security Design</a:t>
            </a:r>
            <a:endParaRPr lang="en-US" sz="2000" b="1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  <a:alpha val="4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>
            <p:custDataLst>
              <p:tags r:id="rId1"/>
            </p:custDataLst>
          </p:nvPr>
        </p:nvSpPr>
        <p:spPr>
          <a:xfrm>
            <a:off x="0" y="0"/>
            <a:ext cx="12168505" cy="10775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46380" y="635"/>
            <a:ext cx="11921490" cy="796925"/>
          </a:xfrm>
        </p:spPr>
        <p:txBody>
          <a:bodyPr wrap="square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altLang="en-US" b="1" spc="0" dirty="0">
                <a:solidFill>
                  <a:srgbClr val="FFFFFF"/>
                </a:solidFill>
                <a:latin typeface="Lucida Bright" panose="02040602050505020304" charset="0"/>
                <a:cs typeface="Lucida Bright" panose="02040602050505020304" charset="0"/>
              </a:rPr>
              <a:t>Executive Overview – Hospital Performance</a:t>
            </a:r>
            <a:endParaRPr lang="en-US" altLang="en-US" b="1" spc="0" dirty="0">
              <a:solidFill>
                <a:srgbClr val="FFFFFF"/>
              </a:solidFill>
              <a:latin typeface="Lucida Bright" panose="02040602050505020304" charset="0"/>
              <a:cs typeface="Lucida Bright" panose="02040602050505020304" charset="0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464178" y="1366841"/>
            <a:ext cx="2626777" cy="5915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ln w="15875"/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📊  KPIs (Cards)</a:t>
            </a:r>
            <a:endParaRPr lang="en-US" sz="2400" b="1" dirty="0">
              <a:ln w="15875"/>
              <a:solidFill>
                <a:schemeClr val="accent1">
                  <a:lumMod val="75000"/>
                </a:schemeClr>
              </a:solidFill>
              <a:effectLst/>
              <a:latin typeface="+mj-lt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103505" y="1958975"/>
            <a:ext cx="3296285" cy="490474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Total Appointments</a:t>
            </a:r>
            <a:endParaRPr lang="en-US" sz="1600" b="1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Lucida Bright" panose="02040602050505020304" charset="0"/>
                <a:cs typeface="Lucida Bright" panose="02040602050505020304" charset="0"/>
              </a:rPr>
              <a:t>Purpose:</a:t>
            </a:r>
            <a:r>
              <a:rPr 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Shows overall patient demand and hospital workload.</a:t>
            </a:r>
            <a:endParaRPr 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Total Revenue (by Doctor)</a:t>
            </a:r>
            <a:endParaRPr lang="en-US" sz="1600" b="1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Lucida Bright" panose="02040602050505020304" charset="0"/>
                <a:cs typeface="Lucida Bright" panose="02040602050505020304" charset="0"/>
                <a:sym typeface="+mn-ea"/>
              </a:rPr>
              <a:t>Purpose</a:t>
            </a:r>
            <a:r>
              <a:rPr 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: Measures revenue performance driven by doctors.</a:t>
            </a:r>
            <a:endParaRPr 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Total Patients</a:t>
            </a:r>
            <a:endParaRPr lang="en-US" sz="1600" b="1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Lucida Bright" panose="02040602050505020304" charset="0"/>
                <a:cs typeface="Lucida Bright" panose="02040602050505020304" charset="0"/>
                <a:sym typeface="+mn-ea"/>
              </a:rPr>
              <a:t>Purpose:</a:t>
            </a:r>
            <a:r>
              <a:rPr 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 Indicates active patient base.</a:t>
            </a:r>
            <a:endParaRPr 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ln>
                  <a:noFill/>
                  <a:prstDash val="sysDot"/>
                </a:ln>
                <a:solidFill>
                  <a:schemeClr val="tx1"/>
                </a:solidFill>
                <a:sym typeface="+mn-ea"/>
              </a:rPr>
              <a:t>Total Doctors</a:t>
            </a:r>
            <a:endParaRPr lang="en-US" sz="1600" b="1" dirty="0">
              <a:ln>
                <a:noFill/>
                <a:prstDash val="sysDot"/>
              </a:ln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Lucida Bright" panose="02040602050505020304" charset="0"/>
                <a:cs typeface="Lucida Bright" panose="02040602050505020304" charset="0"/>
                <a:sym typeface="+mn-ea"/>
              </a:rPr>
              <a:t>Purpose:</a:t>
            </a:r>
            <a:r>
              <a:rPr 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 Shows available medical capacity</a:t>
            </a:r>
            <a:endParaRPr 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4273568" y="1367048"/>
            <a:ext cx="2569069" cy="59158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n w="15875"/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📈</a:t>
            </a:r>
            <a:r>
              <a:rPr lang="en-US" altLang="en-US" sz="2400" b="1" dirty="0">
                <a:ln w="15875"/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  Visuals Used</a:t>
            </a:r>
            <a:endParaRPr lang="en-US" altLang="en-US" sz="2400" b="1" dirty="0">
              <a:ln w="15875"/>
              <a:solidFill>
                <a:schemeClr val="accent1">
                  <a:lumMod val="75000"/>
                </a:schemeClr>
              </a:solidFill>
              <a:effectLst/>
              <a:latin typeface="+mj-lt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3522980" y="1959610"/>
            <a:ext cx="5048250" cy="490283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rmAutofit fontScale="70000"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3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+mn-lt"/>
              </a:rPr>
              <a:t>Pie Chart – Appointment Status Distribution</a:t>
            </a:r>
            <a:endParaRPr lang="en-US" altLang="en-US" sz="2300" b="1" dirty="0">
              <a:ln>
                <a:noFill/>
                <a:prstDash val="sysDot"/>
              </a:ln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Lucida Bright" panose="02040602050505020304" charset="0"/>
                <a:cs typeface="Lucida Bright" panose="02040602050505020304" charset="0"/>
              </a:rPr>
              <a:t>Purpose:</a:t>
            </a:r>
            <a:endParaRPr lang="en-US" altLang="en-US" sz="2000" b="1" dirty="0">
              <a:ln>
                <a:noFill/>
                <a:prstDash val="sysDot"/>
              </a:ln>
              <a:solidFill>
                <a:srgbClr val="FF0000"/>
              </a:solidFill>
              <a:latin typeface="Lucida Bright" panose="02040602050505020304" charset="0"/>
              <a:cs typeface="Lucida Bright" panose="02040602050505020304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Compares Completed vs Cancelled vs Pending appointments</a:t>
            </a:r>
            <a:endParaRPr lang="en-US" altLang="en-US" sz="20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n>
                  <a:noFill/>
                  <a:prstDash val="sysDot"/>
                </a:ln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Highlights operational issues (cancellations, delays)</a:t>
            </a:r>
            <a:endParaRPr lang="en-US" altLang="en-US" sz="2000" dirty="0">
              <a:ln>
                <a:noFill/>
                <a:prstDash val="sysDot"/>
              </a:ln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23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Clustered Column Chart – Monthly Appointment Trend</a:t>
            </a:r>
            <a:endParaRPr lang="en-US" altLang="en-US" sz="2300" b="1" dirty="0">
              <a:ln>
                <a:noFill/>
                <a:prstDash val="sysDot"/>
              </a:ln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20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Lucida Bright" panose="02040602050505020304" charset="0"/>
                <a:cs typeface="Lucida Bright" panose="02040602050505020304" charset="0"/>
              </a:rPr>
              <a:t>Purpose:</a:t>
            </a:r>
            <a:endParaRPr lang="en-US" altLang="en-US" sz="2000" b="1" dirty="0">
              <a:ln>
                <a:noFill/>
                <a:prstDash val="sysDot"/>
              </a:ln>
              <a:solidFill>
                <a:srgbClr val="FF0000"/>
              </a:solidFill>
              <a:latin typeface="Lucida Bright" panose="02040602050505020304" charset="0"/>
              <a:cs typeface="Lucida Bright" panose="02040602050505020304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Shows month-wise appointment volume</a:t>
            </a:r>
            <a:endParaRPr lang="en-US" altLang="en-US" sz="20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Identifies peak and low-demand periods</a:t>
            </a:r>
            <a:endParaRPr lang="en-US" altLang="en-US" sz="20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Helps in staffing and scheduling</a:t>
            </a:r>
            <a:endParaRPr lang="en-US" altLang="en-US" sz="20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2300" b="1" dirty="0">
                <a:ln>
                  <a:noFill/>
                  <a:prstDash val="sysDot"/>
                </a:ln>
                <a:solidFill>
                  <a:schemeClr val="tx1"/>
                </a:solidFill>
                <a:cs typeface="+mn-lt"/>
              </a:rPr>
              <a:t>Line Chart – Monthly Revenue Performance</a:t>
            </a:r>
            <a:endParaRPr lang="en-US" altLang="en-US" sz="2300" b="1" dirty="0">
              <a:ln>
                <a:noFill/>
                <a:prstDash val="sysDot"/>
              </a:ln>
              <a:solidFill>
                <a:schemeClr val="tx1"/>
              </a:solidFill>
              <a:cs typeface="+mn-lt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20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Lucida Bright" panose="02040602050505020304" charset="0"/>
                <a:cs typeface="Lucida Bright" panose="02040602050505020304" charset="0"/>
                <a:sym typeface="+mn-ea"/>
              </a:rPr>
              <a:t>Purpose:</a:t>
            </a:r>
            <a:endParaRPr lang="en-US" altLang="en-US" sz="2000" b="1" dirty="0">
              <a:ln>
                <a:noFill/>
                <a:prstDash val="sysDot"/>
              </a:ln>
              <a:solidFill>
                <a:srgbClr val="FF0000"/>
              </a:solidFill>
              <a:latin typeface="Lucida Bright" panose="02040602050505020304" charset="0"/>
              <a:cs typeface="Lucida Bright" panose="02040602050505020304" charset="0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cs typeface="+mn-lt"/>
              </a:rPr>
              <a:t>Analyzes revenue trend over time</a:t>
            </a:r>
            <a:endParaRPr lang="en-US" altLang="en-US" sz="20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cs typeface="+mn-lt"/>
              </a:rPr>
              <a:t>Identifies growth and decline periods</a:t>
            </a:r>
            <a:endParaRPr lang="en-US" altLang="en-US" sz="20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cs typeface="+mn-lt"/>
              </a:rPr>
              <a:t>Supports financial planning and performance tracking.</a:t>
            </a:r>
            <a:endParaRPr lang="en-US" altLang="en-US" sz="20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</p:txBody>
      </p:sp>
      <p:sp>
        <p:nvSpPr>
          <p:cNvPr id="20" name="矩形 19"/>
          <p:cNvSpPr/>
          <p:nvPr>
            <p:custDataLst>
              <p:tags r:id="rId7"/>
            </p:custDataLst>
          </p:nvPr>
        </p:nvSpPr>
        <p:spPr>
          <a:xfrm>
            <a:off x="8846221" y="1366407"/>
            <a:ext cx="2626777" cy="5915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ln w="15875"/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🎛</a:t>
            </a:r>
            <a:r>
              <a:rPr lang="en-US" altLang="zh-CN" sz="2800" b="1" dirty="0">
                <a:ln w="15875"/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  </a:t>
            </a:r>
            <a:r>
              <a:rPr lang="en-US" altLang="en-US" sz="2800" b="1" dirty="0">
                <a:ln w="15875"/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Slicers</a:t>
            </a:r>
            <a:endParaRPr lang="en-US" altLang="en-US" sz="2800" b="1" dirty="0">
              <a:ln w="15875"/>
              <a:solidFill>
                <a:schemeClr val="accent1">
                  <a:lumMod val="75000"/>
                </a:schemeClr>
              </a:solidFill>
              <a:effectLst/>
              <a:latin typeface="+mj-lt"/>
            </a:endParaRPr>
          </a:p>
        </p:txBody>
      </p:sp>
      <p:sp>
        <p:nvSpPr>
          <p:cNvPr id="21" name="矩形 20"/>
          <p:cNvSpPr/>
          <p:nvPr>
            <p:custDataLst>
              <p:tags r:id="rId8"/>
            </p:custDataLst>
          </p:nvPr>
        </p:nvSpPr>
        <p:spPr>
          <a:xfrm>
            <a:off x="8733790" y="2082165"/>
            <a:ext cx="3070860" cy="478091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rmAutofit lnSpcReduction="10000"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Lucida Bright" panose="02040602050505020304" charset="0"/>
                <a:cs typeface="Lucida Bright" panose="02040602050505020304" charset="0"/>
              </a:rPr>
              <a:t>Year &amp; Month  –</a:t>
            </a:r>
            <a:r>
              <a:rPr lang="en-US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Analyze performance by year &amp; month</a:t>
            </a:r>
            <a:endParaRPr lang="en-US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Lucida Bright" panose="02040602050505020304" charset="0"/>
              <a:cs typeface="Lucida Bright" panose="0204060205050502030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ucida Bright" panose="02040602050505020304" charset="0"/>
                <a:cs typeface="Lucida Bright" panose="02040602050505020304" charset="0"/>
              </a:rPr>
              <a:t>Specialization – </a:t>
            </a:r>
            <a:r>
              <a:rPr lang="en-US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Compare departments</a:t>
            </a:r>
            <a:endParaRPr lang="en-US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Lucida Bright" panose="02040602050505020304" charset="0"/>
              <a:cs typeface="Lucida Bright" panose="0204060205050502030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ucida Bright" panose="02040602050505020304" charset="0"/>
                <a:cs typeface="Lucida Bright" panose="02040602050505020304" charset="0"/>
              </a:rPr>
              <a:t>Patient Name –</a:t>
            </a:r>
            <a:r>
              <a:rPr lang="en-US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Drill down to individual patient view (Admin only)</a:t>
            </a:r>
            <a:endParaRPr lang="en-US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ucida Bright" panose="02040602050505020304" charset="0"/>
                <a:cs typeface="Lucida Bright" panose="02040602050505020304" charset="0"/>
              </a:rPr>
              <a:t>Status –</a:t>
            </a:r>
            <a:r>
              <a:rPr lang="en-US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Filter by appointment status (Completed / Cancelled / Pending</a:t>
            </a:r>
            <a:endParaRPr lang="en-US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965690" y="340995"/>
            <a:ext cx="19659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Overview page</a:t>
            </a:r>
            <a:endParaRPr lang="en-US" sz="2000"/>
          </a:p>
        </p:txBody>
      </p:sp>
    </p:spTree>
    <p:custDataLst>
      <p:tags r:id="rId9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  <a:alpha val="4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>
            <p:custDataLst>
              <p:tags r:id="rId1"/>
            </p:custDataLst>
          </p:nvPr>
        </p:nvSpPr>
        <p:spPr>
          <a:xfrm>
            <a:off x="0" y="0"/>
            <a:ext cx="12192635" cy="7715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2390" y="-635"/>
            <a:ext cx="12120245" cy="702310"/>
          </a:xfrm>
        </p:spPr>
        <p:txBody>
          <a:bodyPr wrap="square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altLang="en-US" sz="2300" b="1" spc="0" dirty="0">
                <a:solidFill>
                  <a:srgbClr val="FFFFFF"/>
                </a:solidFill>
                <a:latin typeface="Lucida Bright" panose="02040602050505020304" charset="0"/>
                <a:cs typeface="Lucida Bright" panose="02040602050505020304" charset="0"/>
              </a:rPr>
              <a:t>  Patient Flow &amp; Treatment Analysise Overview – Hospital Performance</a:t>
            </a:r>
            <a:endParaRPr lang="en-US" altLang="en-US" sz="2300" b="1" spc="0" dirty="0">
              <a:solidFill>
                <a:srgbClr val="FFFFFF"/>
              </a:solidFill>
              <a:latin typeface="Lucida Bright" panose="02040602050505020304" charset="0"/>
              <a:cs typeface="Lucida Bright" panose="02040602050505020304" charset="0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3948430" y="746125"/>
            <a:ext cx="2157095" cy="3994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n w="15875"/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📈</a:t>
            </a:r>
            <a:r>
              <a:rPr lang="en-US" altLang="en-US" sz="2400" b="1" dirty="0">
                <a:ln w="15875"/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  Visuals Used</a:t>
            </a:r>
            <a:endParaRPr lang="en-US" altLang="en-US" sz="2400" b="1" dirty="0">
              <a:ln w="15875"/>
              <a:solidFill>
                <a:schemeClr val="accent1">
                  <a:lumMod val="75000"/>
                </a:schemeClr>
              </a:solidFill>
              <a:effectLst/>
              <a:latin typeface="+mj-lt"/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274206" y="1125355"/>
            <a:ext cx="5022734" cy="5698039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rmAutofit fontScale="25000"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56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Lucida Bright" panose="02040602050505020304" charset="0"/>
                <a:cs typeface="Lucida Bright" panose="02040602050505020304" charset="0"/>
              </a:rPr>
              <a:t>Decomposition Tree – Revenue Breakdown by Doctor, Specialization &amp; Branch</a:t>
            </a:r>
            <a:endParaRPr lang="en-US" altLang="en-US" sz="5600" b="1" dirty="0">
              <a:ln>
                <a:noFill/>
                <a:prstDash val="sysDot"/>
              </a:ln>
              <a:solidFill>
                <a:schemeClr val="tx1"/>
              </a:solidFill>
              <a:latin typeface="Lucida Bright" panose="02040602050505020304" charset="0"/>
              <a:cs typeface="Lucida Bright" panose="0204060205050502030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48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Lucida Bright" panose="02040602050505020304" charset="0"/>
                <a:cs typeface="Lucida Bright" panose="02040602050505020304" charset="0"/>
              </a:rPr>
              <a:t>Purpose:</a:t>
            </a:r>
            <a:endParaRPr lang="en-US" altLang="en-US" sz="4800" b="1" dirty="0">
              <a:ln>
                <a:noFill/>
                <a:prstDash val="sysDot"/>
              </a:ln>
              <a:solidFill>
                <a:srgbClr val="FF0000"/>
              </a:solidFill>
              <a:latin typeface="Lucida Bright" panose="02040602050505020304" charset="0"/>
              <a:cs typeface="Lucida Bright" panose="02040602050505020304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600" dirty="0">
                <a:ln>
                  <a:noFill/>
                  <a:prstDash val="sysDot"/>
                </a:ln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Root-cause analysis</a:t>
            </a:r>
            <a:endParaRPr lang="en-US" altLang="en-US" sz="4600" dirty="0">
              <a:ln>
                <a:noFill/>
                <a:prstDash val="sysDot"/>
              </a:ln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600" dirty="0">
                <a:ln>
                  <a:noFill/>
                  <a:prstDash val="sysDot"/>
                </a:ln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Revenue drivers</a:t>
            </a:r>
            <a:endParaRPr lang="en-US" altLang="en-US" sz="4600" dirty="0">
              <a:ln>
                <a:noFill/>
                <a:prstDash val="sysDot"/>
              </a:ln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600" dirty="0">
                <a:ln>
                  <a:noFill/>
                  <a:prstDash val="sysDot"/>
                </a:ln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Performance drill-down</a:t>
            </a:r>
            <a:endParaRPr lang="en-US" altLang="en-US" sz="4600" dirty="0">
              <a:ln>
                <a:noFill/>
                <a:prstDash val="sysDot"/>
              </a:ln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600" dirty="0">
                <a:ln>
                  <a:noFill/>
                  <a:prstDash val="sysDot"/>
                </a:ln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Decision support</a:t>
            </a:r>
            <a:endParaRPr lang="en-US" altLang="en-US" sz="4600" dirty="0">
              <a:ln>
                <a:noFill/>
                <a:prstDash val="sysDot"/>
              </a:ln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56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Lucida Bright" panose="02040602050505020304" charset="0"/>
                <a:cs typeface="Lucida Bright" panose="02040602050505020304" charset="0"/>
              </a:rPr>
              <a:t>Scatter Chart – Doctor Performance: Volume vs Revenue</a:t>
            </a:r>
            <a:endParaRPr lang="en-US" altLang="en-US" sz="5600" b="1" dirty="0">
              <a:ln>
                <a:noFill/>
                <a:prstDash val="sysDot"/>
              </a:ln>
              <a:solidFill>
                <a:schemeClr val="tx1"/>
              </a:solidFill>
              <a:latin typeface="Lucida Bright" panose="02040602050505020304" charset="0"/>
              <a:cs typeface="Lucida Bright" panose="02040602050505020304" charset="0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4665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Lucida Bright" panose="02040602050505020304" charset="0"/>
                <a:cs typeface="Lucida Bright" panose="02040602050505020304" charset="0"/>
              </a:rPr>
              <a:t>Purpose:</a:t>
            </a:r>
            <a:endParaRPr lang="en-US" altLang="en-US" sz="4665" b="1" dirty="0">
              <a:ln>
                <a:noFill/>
                <a:prstDash val="sysDot"/>
              </a:ln>
              <a:solidFill>
                <a:srgbClr val="FF0000"/>
              </a:solidFill>
              <a:latin typeface="Lucida Bright" panose="02040602050505020304" charset="0"/>
              <a:cs typeface="Lucida Bright" panose="02040602050505020304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600" dirty="0">
                <a:ln>
                  <a:noFill/>
                  <a:prstDash val="sysDot"/>
                </a:ln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Performance comparison</a:t>
            </a:r>
            <a:endParaRPr lang="en-US" altLang="en-US" sz="4600" dirty="0">
              <a:ln>
                <a:noFill/>
                <a:prstDash val="sysDot"/>
              </a:ln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600" dirty="0">
                <a:ln>
                  <a:noFill/>
                  <a:prstDash val="sysDot"/>
                </a:ln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Volume vs revenue</a:t>
            </a:r>
            <a:endParaRPr lang="en-US" altLang="en-US" sz="4600" dirty="0">
              <a:ln>
                <a:noFill/>
                <a:prstDash val="sysDot"/>
              </a:ln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600" dirty="0">
                <a:ln>
                  <a:noFill/>
                  <a:prstDash val="sysDot"/>
                </a:ln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High performers</a:t>
            </a:r>
            <a:endParaRPr lang="en-US" altLang="en-US" sz="4600" dirty="0">
              <a:ln>
                <a:noFill/>
                <a:prstDash val="sysDot"/>
              </a:ln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171450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600" dirty="0">
                <a:ln>
                  <a:noFill/>
                  <a:prstDash val="sysDot"/>
                </a:ln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Efficiency gaps</a:t>
            </a:r>
            <a:endParaRPr lang="en-US" altLang="en-US" sz="4600" dirty="0">
              <a:ln>
                <a:noFill/>
                <a:prstDash val="sysDot"/>
              </a:ln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56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Lucida Bright" panose="02040602050505020304" charset="0"/>
                <a:cs typeface="Lucida Bright" panose="02040602050505020304" charset="0"/>
              </a:rPr>
              <a:t>Area Chart – Monthly Patient Registrations</a:t>
            </a:r>
            <a:endParaRPr lang="en-US" altLang="en-US" sz="5600" b="1" dirty="0">
              <a:ln>
                <a:noFill/>
                <a:prstDash val="sysDot"/>
              </a:ln>
              <a:solidFill>
                <a:schemeClr val="tx1"/>
              </a:solidFill>
              <a:latin typeface="Lucida Bright" panose="02040602050505020304" charset="0"/>
              <a:cs typeface="Lucida Bright" panose="02040602050505020304" charset="0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47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Lucida Bright" panose="02040602050505020304" charset="0"/>
                <a:cs typeface="Lucida Bright" panose="02040602050505020304" charset="0"/>
                <a:sym typeface="+mn-ea"/>
              </a:rPr>
              <a:t>Purpose:</a:t>
            </a:r>
            <a:endParaRPr lang="en-US" altLang="en-US" sz="4700" b="1" dirty="0">
              <a:ln>
                <a:noFill/>
                <a:prstDash val="sysDot"/>
              </a:ln>
              <a:solidFill>
                <a:srgbClr val="FF0000"/>
              </a:solidFill>
              <a:latin typeface="Lucida Bright" panose="02040602050505020304" charset="0"/>
              <a:cs typeface="Lucida Bright" panose="02040602050505020304" charset="0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Patient growth</a:t>
            </a:r>
            <a:endParaRPr lang="en-US" altLang="en-US" sz="4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Registration trend</a:t>
            </a:r>
            <a:endParaRPr lang="en-US" altLang="en-US" sz="4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Peak periods</a:t>
            </a:r>
            <a:endParaRPr lang="en-US" altLang="en-US" sz="4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Demand forecast</a:t>
            </a:r>
            <a:endParaRPr lang="en-US" altLang="en-US" sz="4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0" name="矩形 19"/>
          <p:cNvSpPr/>
          <p:nvPr>
            <p:custDataLst>
              <p:tags r:id="rId5"/>
            </p:custDataLst>
          </p:nvPr>
        </p:nvSpPr>
        <p:spPr>
          <a:xfrm>
            <a:off x="9743532" y="890630"/>
            <a:ext cx="1730939" cy="34769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fontScale="80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ln w="15875"/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🎛</a:t>
            </a:r>
            <a:r>
              <a:rPr lang="en-US" altLang="zh-CN" sz="2800" b="1" dirty="0">
                <a:ln w="15875"/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  </a:t>
            </a:r>
            <a:r>
              <a:rPr lang="en-US" altLang="en-US" sz="2800" b="1" dirty="0">
                <a:ln w="15875"/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Slicers</a:t>
            </a:r>
            <a:endParaRPr lang="en-US" altLang="en-US" sz="2800" b="1" dirty="0">
              <a:ln w="15875"/>
              <a:solidFill>
                <a:schemeClr val="accent1">
                  <a:lumMod val="75000"/>
                </a:schemeClr>
              </a:solidFill>
              <a:effectLst/>
              <a:latin typeface="+mj-lt"/>
            </a:endParaRPr>
          </a:p>
        </p:txBody>
      </p:sp>
      <p:sp>
        <p:nvSpPr>
          <p:cNvPr id="21" name="矩形 20"/>
          <p:cNvSpPr/>
          <p:nvPr>
            <p:custDataLst>
              <p:tags r:id="rId6"/>
            </p:custDataLst>
          </p:nvPr>
        </p:nvSpPr>
        <p:spPr>
          <a:xfrm>
            <a:off x="9339981" y="1395853"/>
            <a:ext cx="2851844" cy="5323358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rmAutofit fontScale="90000"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Lucida Bright" panose="02040602050505020304" charset="0"/>
                <a:cs typeface="Lucida Bright" panose="02040602050505020304" charset="0"/>
              </a:rPr>
              <a:t>Date (Year / Month) </a:t>
            </a:r>
            <a:r>
              <a:rPr lang="en-US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</a:t>
            </a:r>
            <a:endParaRPr lang="en-US" alt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Time filtering</a:t>
            </a:r>
            <a:endParaRPr lang="en-US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Trend comparison</a:t>
            </a:r>
            <a:endParaRPr lang="en-US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Seasonality</a:t>
            </a:r>
            <a:endParaRPr lang="en-US" altLang="en-US" sz="1600" b="1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Lucida Bright" panose="02040602050505020304" charset="0"/>
              <a:cs typeface="Lucida Bright" panose="02040602050505020304" charset="0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600" b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ucida Bright" panose="02040602050505020304" charset="0"/>
                <a:cs typeface="Lucida Bright" panose="02040602050505020304" charset="0"/>
              </a:rPr>
              <a:t>Doctor Specialization</a:t>
            </a:r>
            <a:endParaRPr lang="en-US" altLang="en-US" sz="1600" b="1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Lucida Bright" panose="02040602050505020304" charset="0"/>
              <a:cs typeface="Lucida Bright" panose="02040602050505020304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Compare departments</a:t>
            </a:r>
            <a:endParaRPr lang="en-US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Workload comparison</a:t>
            </a:r>
            <a:endParaRPr lang="en-US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Demand focus</a:t>
            </a:r>
            <a:endParaRPr lang="en-US" altLang="en-US" sz="1600" b="1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Lucida Bright" panose="02040602050505020304" charset="0"/>
              <a:cs typeface="Lucida Bright" panose="0204060205050502030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ucida Bright" panose="02040602050505020304" charset="0"/>
                <a:cs typeface="Lucida Bright" panose="02040602050505020304" charset="0"/>
              </a:rPr>
              <a:t>Patient Name –</a:t>
            </a:r>
            <a:r>
              <a:rPr lang="en-US" alt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</a:t>
            </a:r>
            <a:endParaRPr lang="en-US" alt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Drill down to individual patient view (Admin only)</a:t>
            </a:r>
            <a:endParaRPr lang="en-US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ucida Bright" panose="02040602050505020304" charset="0"/>
                <a:cs typeface="Lucida Bright" panose="02040602050505020304" charset="0"/>
              </a:rPr>
              <a:t>Appointment Status</a:t>
            </a:r>
            <a:endParaRPr lang="en-US" altLang="en-US" sz="1600" b="1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Lucida Bright" panose="02040602050505020304" charset="0"/>
              <a:cs typeface="Lucida Bright" panose="02040602050505020304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Filter by appointment status (Completed / Cancelled / Pending</a:t>
            </a:r>
            <a:endParaRPr lang="en-US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sz="1600" b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ucida Bright" panose="02040602050505020304" charset="0"/>
                <a:cs typeface="Lucida Bright" panose="02040602050505020304" charset="0"/>
              </a:rPr>
              <a:t>Appointment Status</a:t>
            </a:r>
            <a:endParaRPr lang="en-US" altLang="en-US" sz="1600" b="1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Lucida Bright" panose="02040602050505020304" charset="0"/>
              <a:cs typeface="Lucida Bright" panose="02040602050505020304" charset="0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cs typeface="+mn-lt"/>
              </a:rPr>
              <a:t>Location filter</a:t>
            </a:r>
            <a:endParaRPr lang="en-US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cs typeface="+mn-lt"/>
              </a:rPr>
              <a:t>Branch comparison</a:t>
            </a:r>
            <a:endParaRPr lang="en-US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297170" y="1240155"/>
            <a:ext cx="3775075" cy="548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400" b="1">
                <a:latin typeface="Lucida Bright" panose="02040602050505020304" charset="0"/>
                <a:cs typeface="Lucida Bright" panose="02040602050505020304" charset="0"/>
              </a:rPr>
              <a:t>Clustered Bar Chart – Treatments by Type</a:t>
            </a:r>
            <a:endParaRPr lang="en-US" altLang="en-US" sz="1400" b="1">
              <a:latin typeface="Lucida Bright" panose="02040602050505020304" charset="0"/>
              <a:cs typeface="Lucida Bright" panose="02040602050505020304" charset="0"/>
            </a:endParaRPr>
          </a:p>
          <a:p>
            <a:endParaRPr lang="en-US" altLang="en-US" sz="1400" b="1">
              <a:latin typeface="Lucida Bright" panose="02040602050505020304" charset="0"/>
              <a:cs typeface="Lucida Bright" panose="02040602050505020304" charset="0"/>
            </a:endParaRPr>
          </a:p>
          <a:p>
            <a:r>
              <a:rPr lang="en-US" altLang="en-US" sz="12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Lucida Bright" panose="02040602050505020304" charset="0"/>
                <a:cs typeface="Lucida Bright" panose="02040602050505020304" charset="0"/>
                <a:sym typeface="+mn-ea"/>
              </a:rPr>
              <a:t>Purpose:</a:t>
            </a:r>
            <a:endParaRPr lang="en-US" altLang="en-US" sz="1200" b="1" dirty="0">
              <a:ln>
                <a:noFill/>
                <a:prstDash val="sysDot"/>
              </a:ln>
              <a:solidFill>
                <a:srgbClr val="FF0000"/>
              </a:solidFill>
              <a:latin typeface="Lucida Bright" panose="02040602050505020304" charset="0"/>
              <a:cs typeface="Lucida Bright" panose="02040602050505020304" charset="0"/>
              <a:sym typeface="+mn-ea"/>
            </a:endParaRPr>
          </a:p>
          <a:p>
            <a:endParaRPr lang="en-US" altLang="en-US" sz="1200" b="1" dirty="0">
              <a:ln>
                <a:noFill/>
                <a:prstDash val="sysDot"/>
              </a:ln>
              <a:solidFill>
                <a:srgbClr val="FF0000"/>
              </a:solidFill>
              <a:latin typeface="Lucida Bright" panose="02040602050505020304" charset="0"/>
              <a:cs typeface="Lucida Bright" panose="02040602050505020304" charset="0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dirty="0">
                <a:ln>
                  <a:noFill/>
                  <a:prstDash val="sysDot"/>
                </a:ln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Treatment volume</a:t>
            </a:r>
            <a:endParaRPr lang="en-US" altLang="en-US" sz="1200" dirty="0">
              <a:ln>
                <a:noFill/>
                <a:prstDash val="sysDot"/>
              </a:ln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dirty="0">
                <a:ln>
                  <a:noFill/>
                  <a:prstDash val="sysDot"/>
                </a:ln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Demand comparison</a:t>
            </a:r>
            <a:endParaRPr lang="en-US" altLang="en-US" sz="1200" dirty="0">
              <a:ln>
                <a:noFill/>
                <a:prstDash val="sysDot"/>
              </a:ln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dirty="0">
                <a:ln>
                  <a:noFill/>
                  <a:prstDash val="sysDot"/>
                </a:ln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Resource planning</a:t>
            </a:r>
            <a:endParaRPr lang="en-US" altLang="en-US" sz="1200" dirty="0">
              <a:ln>
                <a:noFill/>
                <a:prstDash val="sysDot"/>
              </a:ln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dirty="0">
                <a:ln>
                  <a:noFill/>
                  <a:prstDash val="sysDot"/>
                </a:ln>
                <a:solidFill>
                  <a:schemeClr val="tx1"/>
                </a:solidFill>
                <a:latin typeface="Calibri" panose="020F0502020204030204" charset="0"/>
                <a:cs typeface="Calibri" panose="020F0502020204030204" charset="0"/>
              </a:rPr>
              <a:t>Portfolio optimization</a:t>
            </a:r>
            <a:endParaRPr lang="en-US" altLang="en-US" sz="1200" dirty="0">
              <a:ln>
                <a:noFill/>
                <a:prstDash val="sysDot"/>
              </a:ln>
              <a:solidFill>
                <a:schemeClr val="tx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1200" b="1" dirty="0">
              <a:ln>
                <a:noFill/>
                <a:prstDash val="sysDot"/>
              </a:ln>
              <a:solidFill>
                <a:schemeClr val="tx1"/>
              </a:solidFill>
              <a:latin typeface="Lucida Bright" panose="02040602050505020304" charset="0"/>
              <a:cs typeface="Lucida Bright" panose="020406020505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14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Lucida Bright" panose="02040602050505020304" charset="0"/>
                <a:cs typeface="Lucida Bright" panose="02040602050505020304" charset="0"/>
              </a:rPr>
              <a:t>Clustered Column Chart – Appointments by Reason for Visit</a:t>
            </a:r>
            <a:endParaRPr lang="en-US" altLang="en-US" sz="1400" b="1" dirty="0">
              <a:ln>
                <a:noFill/>
                <a:prstDash val="sysDot"/>
              </a:ln>
              <a:solidFill>
                <a:schemeClr val="tx1"/>
              </a:solidFill>
              <a:latin typeface="Lucida Bright" panose="02040602050505020304" charset="0"/>
              <a:cs typeface="Lucida Bright" panose="020406020505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1400" b="1" dirty="0">
              <a:ln>
                <a:noFill/>
                <a:prstDash val="sysDot"/>
              </a:ln>
              <a:solidFill>
                <a:schemeClr val="tx1"/>
              </a:solidFill>
              <a:latin typeface="Lucida Bright" panose="02040602050505020304" charset="0"/>
              <a:cs typeface="Lucida Bright" panose="020406020505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12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Lucida Bright" panose="02040602050505020304" charset="0"/>
                <a:cs typeface="Lucida Bright" panose="02040602050505020304" charset="0"/>
                <a:sym typeface="+mn-ea"/>
              </a:rPr>
              <a:t>Purpose:</a:t>
            </a:r>
            <a:endParaRPr lang="en-US" altLang="en-US" sz="1200" b="1" dirty="0">
              <a:ln>
                <a:noFill/>
                <a:prstDash val="sysDot"/>
              </a:ln>
              <a:solidFill>
                <a:srgbClr val="FF0000"/>
              </a:solidFill>
              <a:latin typeface="Lucida Bright" panose="02040602050505020304" charset="0"/>
              <a:cs typeface="Lucida Bright" panose="02040602050505020304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1200" b="1" dirty="0">
              <a:ln>
                <a:noFill/>
                <a:prstDash val="sysDot"/>
              </a:ln>
              <a:solidFill>
                <a:srgbClr val="FF0000"/>
              </a:solidFill>
              <a:latin typeface="Lucida Bright" panose="02040602050505020304" charset="0"/>
              <a:cs typeface="Lucida Bright" panose="02040602050505020304" charset="0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dirty="0">
                <a:ln>
                  <a:noFill/>
                  <a:prstDash val="sysDot"/>
                </a:ln>
                <a:solidFill>
                  <a:schemeClr val="tx1"/>
                </a:solidFill>
                <a:cs typeface="+mn-lt"/>
                <a:sym typeface="+mn-ea"/>
              </a:rPr>
              <a:t>Demand patterns</a:t>
            </a:r>
            <a:endParaRPr lang="en-US" altLang="en-US" sz="1200" dirty="0">
              <a:ln>
                <a:noFill/>
                <a:prstDash val="sysDot"/>
              </a:ln>
              <a:solidFill>
                <a:schemeClr val="tx1"/>
              </a:solidFill>
              <a:cs typeface="+mn-lt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dirty="0">
                <a:ln>
                  <a:noFill/>
                  <a:prstDash val="sysDot"/>
                </a:ln>
                <a:solidFill>
                  <a:schemeClr val="tx1"/>
                </a:solidFill>
                <a:cs typeface="+mn-lt"/>
                <a:sym typeface="+mn-ea"/>
              </a:rPr>
              <a:t>Visit category trends</a:t>
            </a:r>
            <a:endParaRPr lang="en-US" altLang="en-US" sz="1200" dirty="0">
              <a:ln>
                <a:noFill/>
                <a:prstDash val="sysDot"/>
              </a:ln>
              <a:solidFill>
                <a:schemeClr val="tx1"/>
              </a:solidFill>
              <a:cs typeface="+mn-lt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dirty="0">
                <a:ln>
                  <a:noFill/>
                  <a:prstDash val="sysDot"/>
                </a:ln>
                <a:solidFill>
                  <a:schemeClr val="tx1"/>
                </a:solidFill>
                <a:cs typeface="+mn-lt"/>
                <a:sym typeface="+mn-ea"/>
              </a:rPr>
              <a:t>Service planning</a:t>
            </a:r>
            <a:endParaRPr lang="en-US" altLang="en-US" sz="1200" dirty="0">
              <a:ln>
                <a:noFill/>
                <a:prstDash val="sysDot"/>
              </a:ln>
              <a:solidFill>
                <a:schemeClr val="tx1"/>
              </a:solidFill>
              <a:cs typeface="+mn-lt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dirty="0">
                <a:ln>
                  <a:noFill/>
                  <a:prstDash val="sysDot"/>
                </a:ln>
                <a:solidFill>
                  <a:schemeClr val="tx1"/>
                </a:solidFill>
                <a:cs typeface="+mn-lt"/>
                <a:sym typeface="+mn-ea"/>
              </a:rPr>
              <a:t>Capacity allocation</a:t>
            </a:r>
            <a:endParaRPr lang="en-US" altLang="en-US" sz="1200" dirty="0">
              <a:ln>
                <a:noFill/>
                <a:prstDash val="sysDot"/>
              </a:ln>
              <a:solidFill>
                <a:schemeClr val="tx1"/>
              </a:solidFill>
              <a:cs typeface="+mn-lt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200" b="1" dirty="0">
              <a:ln>
                <a:noFill/>
                <a:prstDash val="sysDot"/>
              </a:ln>
              <a:solidFill>
                <a:schemeClr val="tx1"/>
              </a:solidFill>
              <a:latin typeface="Lucida Bright" panose="02040602050505020304" charset="0"/>
              <a:cs typeface="Lucida Bright" panose="02040602050505020304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1400" b="1" dirty="0">
                <a:ln>
                  <a:noFill/>
                  <a:prstDash val="sysDot"/>
                </a:ln>
                <a:solidFill>
                  <a:schemeClr val="tx1"/>
                </a:solidFill>
                <a:latin typeface="Lucida Bright" panose="02040602050505020304" charset="0"/>
                <a:cs typeface="Lucida Bright" panose="02040602050505020304" charset="0"/>
                <a:sym typeface="+mn-ea"/>
              </a:rPr>
              <a:t>Line Chart – Monthly Treatments Trend</a:t>
            </a:r>
            <a:endParaRPr lang="en-US" altLang="en-US" sz="1400" b="1" dirty="0">
              <a:ln>
                <a:noFill/>
                <a:prstDash val="sysDot"/>
              </a:ln>
              <a:solidFill>
                <a:schemeClr val="tx1"/>
              </a:solidFill>
              <a:latin typeface="Lucida Bright" panose="02040602050505020304" charset="0"/>
              <a:cs typeface="Lucida Bright" panose="02040602050505020304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1400" b="1" dirty="0">
              <a:ln>
                <a:noFill/>
                <a:prstDash val="sysDot"/>
              </a:ln>
              <a:solidFill>
                <a:schemeClr val="tx1"/>
              </a:solidFill>
              <a:latin typeface="Lucida Bright" panose="02040602050505020304" charset="0"/>
              <a:cs typeface="Lucida Bright" panose="02040602050505020304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12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Lucida Bright" panose="02040602050505020304" charset="0"/>
                <a:cs typeface="Lucida Bright" panose="02040602050505020304" charset="0"/>
                <a:sym typeface="+mn-ea"/>
              </a:rPr>
              <a:t>Purpose:</a:t>
            </a:r>
            <a:endParaRPr lang="en-US" altLang="en-US" sz="1200" b="1" dirty="0">
              <a:ln>
                <a:noFill/>
                <a:prstDash val="sysDot"/>
              </a:ln>
              <a:solidFill>
                <a:srgbClr val="FF0000"/>
              </a:solidFill>
              <a:latin typeface="Lucida Bright" panose="02040602050505020304" charset="0"/>
              <a:cs typeface="Lucida Bright" panose="02040602050505020304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1200" b="1" dirty="0">
              <a:ln>
                <a:noFill/>
                <a:prstDash val="sysDot"/>
              </a:ln>
              <a:solidFill>
                <a:schemeClr val="tx1"/>
              </a:solidFill>
              <a:latin typeface="Lucida Bright" panose="02040602050505020304" charset="0"/>
              <a:cs typeface="Lucida Bright" panose="02040602050505020304" charset="0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dirty="0">
                <a:ln>
                  <a:noFill/>
                  <a:prstDash val="sysDot"/>
                </a:ln>
                <a:solidFill>
                  <a:schemeClr val="tx1"/>
                </a:solidFill>
                <a:cs typeface="+mn-lt"/>
                <a:sym typeface="+mn-ea"/>
              </a:rPr>
              <a:t>Trend analysis</a:t>
            </a:r>
            <a:endParaRPr lang="en-US" altLang="en-US" sz="1200" dirty="0">
              <a:ln>
                <a:noFill/>
                <a:prstDash val="sysDot"/>
              </a:ln>
              <a:solidFill>
                <a:schemeClr val="tx1"/>
              </a:solidFill>
              <a:cs typeface="+mn-lt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dirty="0">
                <a:ln>
                  <a:noFill/>
                  <a:prstDash val="sysDot"/>
                </a:ln>
                <a:solidFill>
                  <a:schemeClr val="tx1"/>
                </a:solidFill>
                <a:cs typeface="+mn-lt"/>
                <a:sym typeface="+mn-ea"/>
              </a:rPr>
              <a:t>Seasonal patterns</a:t>
            </a:r>
            <a:endParaRPr lang="en-US" altLang="en-US" sz="1200" dirty="0">
              <a:ln>
                <a:noFill/>
                <a:prstDash val="sysDot"/>
              </a:ln>
              <a:solidFill>
                <a:schemeClr val="tx1"/>
              </a:solidFill>
              <a:cs typeface="+mn-lt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dirty="0">
                <a:ln>
                  <a:noFill/>
                  <a:prstDash val="sysDot"/>
                </a:ln>
                <a:solidFill>
                  <a:schemeClr val="tx1"/>
                </a:solidFill>
                <a:cs typeface="+mn-lt"/>
                <a:sym typeface="+mn-ea"/>
              </a:rPr>
              <a:t>Growth/decline</a:t>
            </a:r>
            <a:endParaRPr lang="en-US" altLang="en-US" sz="1200" dirty="0">
              <a:ln>
                <a:noFill/>
                <a:prstDash val="sysDot"/>
              </a:ln>
              <a:solidFill>
                <a:schemeClr val="tx1"/>
              </a:solidFill>
              <a:cs typeface="+mn-lt"/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dirty="0">
                <a:ln>
                  <a:noFill/>
                  <a:prstDash val="sysDot"/>
                </a:ln>
                <a:solidFill>
                  <a:schemeClr val="tx1"/>
                </a:solidFill>
                <a:cs typeface="+mn-lt"/>
                <a:sym typeface="+mn-ea"/>
              </a:rPr>
              <a:t>Capacity forecasting</a:t>
            </a:r>
            <a:endParaRPr lang="en-US" altLang="en-US" sz="1200" dirty="0">
              <a:ln>
                <a:noFill/>
                <a:prstDash val="sysDot"/>
              </a:ln>
              <a:solidFill>
                <a:schemeClr val="tx1"/>
              </a:solidFill>
              <a:cs typeface="+mn-lt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1200" b="1" dirty="0">
              <a:ln>
                <a:noFill/>
                <a:prstDash val="sysDot"/>
              </a:ln>
              <a:solidFill>
                <a:schemeClr val="tx1"/>
              </a:solidFill>
              <a:latin typeface="Lucida Bright" panose="02040602050505020304" charset="0"/>
              <a:cs typeface="Lucida Bright" panose="02040602050505020304" charset="0"/>
            </a:endParaRPr>
          </a:p>
          <a:p>
            <a:endParaRPr lang="en-US" altLang="en-US" sz="1200" b="1" dirty="0">
              <a:ln>
                <a:noFill/>
                <a:prstDash val="sysDot"/>
              </a:ln>
              <a:solidFill>
                <a:schemeClr val="tx1"/>
              </a:solidFill>
              <a:latin typeface="Lucida Bright" panose="02040602050505020304" charset="0"/>
              <a:cs typeface="Lucida Bright" panose="020406020505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0761980" y="183515"/>
            <a:ext cx="1304925" cy="511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/>
              <a:t>Main page</a:t>
            </a:r>
            <a:endParaRPr lang="en-US" sz="2000"/>
          </a:p>
        </p:txBody>
      </p:sp>
    </p:spTree>
    <p:custDataLst>
      <p:tags r:id="rId7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203835"/>
            <a:ext cx="12192000" cy="791845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p>
            <a:pPr algn="l"/>
            <a:r>
              <a:rPr lang="en-US" altLang="en-US" sz="4800" b="1">
                <a:solidFill>
                  <a:schemeClr val="bg1"/>
                </a:solidFill>
                <a:latin typeface="Lucida Bright" panose="02040602050505020304" charset="0"/>
                <a:cs typeface="Lucida Bright" panose="02040602050505020304" charset="0"/>
              </a:rPr>
              <a:t>  Doctor &amp; Revenue Performance</a:t>
            </a:r>
            <a:endParaRPr lang="en-US" altLang="en-US" sz="4800" b="1">
              <a:solidFill>
                <a:schemeClr val="bg1"/>
              </a:solidFill>
              <a:latin typeface="Lucida Bright" panose="02040602050505020304" charset="0"/>
              <a:cs typeface="Lucida Bright" panose="020406020505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89865" y="1854835"/>
            <a:ext cx="4186555" cy="45669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>
                <a:latin typeface="+mj-lt"/>
                <a:cs typeface="+mj-lt"/>
              </a:rPr>
              <a:t>Matrix – Revenue by Specialization &amp; Year</a:t>
            </a:r>
            <a:endParaRPr lang="en-US" altLang="en-US" b="1">
              <a:latin typeface="+mj-lt"/>
              <a:cs typeface="+mj-lt"/>
            </a:endParaRPr>
          </a:p>
          <a:p>
            <a:r>
              <a:rPr lang="en-US" altLang="en-US" sz="1400" b="1" dirty="0">
                <a:ln>
                  <a:noFill/>
                  <a:prstDash val="sysDot"/>
                </a:ln>
                <a:solidFill>
                  <a:srgbClr val="002060"/>
                </a:solidFill>
                <a:latin typeface="Lucida Bright" panose="02040602050505020304" charset="0"/>
                <a:cs typeface="Lucida Bright" panose="02040602050505020304" charset="0"/>
                <a:sym typeface="+mn-ea"/>
              </a:rPr>
              <a:t>Purpose:</a:t>
            </a:r>
            <a:endParaRPr lang="en-US" altLang="en-US" sz="140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Specialty revenue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Performance tracking</a:t>
            </a:r>
            <a:endParaRPr lang="en-US" altLang="en-US" sz="1600"/>
          </a:p>
          <a:p>
            <a:pPr indent="0">
              <a:buFont typeface="Arial" panose="020B0604020202020204" pitchFamily="34" charset="0"/>
              <a:buNone/>
            </a:pPr>
            <a:endParaRPr lang="en-US" altLang="en-US" b="1">
              <a:latin typeface="+mj-lt"/>
              <a:cs typeface="+mj-lt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b="1">
                <a:latin typeface="+mj-lt"/>
                <a:cs typeface="+mj-lt"/>
              </a:rPr>
              <a:t>Stacked Bar – Top 5 Doctors by Appointments</a:t>
            </a:r>
            <a:endParaRPr lang="en-US" altLang="en-US" b="1">
              <a:latin typeface="+mj-lt"/>
              <a:cs typeface="+mj-lt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1400" b="1" dirty="0">
                <a:ln>
                  <a:noFill/>
                  <a:prstDash val="sysDot"/>
                </a:ln>
                <a:solidFill>
                  <a:srgbClr val="002060"/>
                </a:solidFill>
                <a:latin typeface="Lucida Bright" panose="02040602050505020304" charset="0"/>
                <a:cs typeface="Lucida Bright" panose="02040602050505020304" charset="0"/>
                <a:sym typeface="+mn-ea"/>
              </a:rPr>
              <a:t>Purpose:</a:t>
            </a:r>
            <a:endParaRPr lang="en-US" altLang="en-US" sz="1400" b="1" dirty="0">
              <a:ln>
                <a:noFill/>
                <a:prstDash val="sysDot"/>
              </a:ln>
              <a:solidFill>
                <a:srgbClr val="002060"/>
              </a:solidFill>
              <a:latin typeface="Lucida Bright" panose="02040602050505020304" charset="0"/>
              <a:cs typeface="Lucida Bright" panose="020406020505050203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Top performers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Volume ranking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Workload distribution</a:t>
            </a:r>
            <a:endParaRPr lang="en-US" altLang="en-US" sz="1600"/>
          </a:p>
          <a:p>
            <a:pPr indent="0">
              <a:buFont typeface="Arial" panose="020B0604020202020204" pitchFamily="34" charset="0"/>
              <a:buNone/>
            </a:pPr>
            <a:endParaRPr lang="en-US" altLang="en-US" b="1">
              <a:latin typeface="+mj-lt"/>
              <a:cs typeface="+mj-lt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b="1">
                <a:latin typeface="+mj-lt"/>
                <a:cs typeface="+mj-lt"/>
              </a:rPr>
              <a:t>Pie – Revenue by Specialization</a:t>
            </a:r>
            <a:endParaRPr lang="en-US" altLang="en-US" b="1">
              <a:latin typeface="+mj-lt"/>
              <a:cs typeface="+mj-lt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1400" b="1" dirty="0">
                <a:ln>
                  <a:noFill/>
                  <a:prstDash val="sysDot"/>
                </a:ln>
                <a:solidFill>
                  <a:srgbClr val="002060"/>
                </a:solidFill>
                <a:latin typeface="Lucida Bright" panose="02040602050505020304" charset="0"/>
                <a:cs typeface="Lucida Bright" panose="02040602050505020304" charset="0"/>
                <a:sym typeface="+mn-ea"/>
              </a:rPr>
              <a:t>Purpose:</a:t>
            </a:r>
            <a:endParaRPr lang="en-US" altLang="en-US" sz="140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Top performers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Volume ranking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Workload distribution</a:t>
            </a:r>
            <a:endParaRPr lang="en-US" altLang="en-US" sz="1600"/>
          </a:p>
          <a:p>
            <a:pPr indent="0">
              <a:buFont typeface="Arial" panose="020B0604020202020204" pitchFamily="34" charset="0"/>
              <a:buNone/>
            </a:pPr>
            <a:endParaRPr lang="en-US" altLang="en-US" sz="1600"/>
          </a:p>
        </p:txBody>
      </p:sp>
      <p:sp>
        <p:nvSpPr>
          <p:cNvPr id="4" name="Text Box 3"/>
          <p:cNvSpPr txBox="1"/>
          <p:nvPr/>
        </p:nvSpPr>
        <p:spPr>
          <a:xfrm>
            <a:off x="4376420" y="1956435"/>
            <a:ext cx="3894455" cy="3578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>
                <a:latin typeface="+mj-lt"/>
                <a:cs typeface="+mj-lt"/>
              </a:rPr>
              <a:t>Funnel – Revenue by Doctor</a:t>
            </a:r>
            <a:endParaRPr lang="en-US" altLang="en-US" b="1">
              <a:latin typeface="+mj-lt"/>
              <a:cs typeface="+mj-lt"/>
            </a:endParaRPr>
          </a:p>
          <a:p>
            <a:r>
              <a:rPr lang="en-US" altLang="en-US" sz="1400" b="1" dirty="0">
                <a:ln>
                  <a:noFill/>
                  <a:prstDash val="sysDot"/>
                </a:ln>
                <a:solidFill>
                  <a:srgbClr val="002060"/>
                </a:solidFill>
                <a:latin typeface="Lucida Bright" panose="02040602050505020304" charset="0"/>
                <a:cs typeface="Lucida Bright" panose="02040602050505020304" charset="0"/>
                <a:sym typeface="+mn-ea"/>
              </a:rPr>
              <a:t>Purpose:</a:t>
            </a:r>
            <a:endParaRPr lang="en-US" altLang="en-US" sz="140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Revenue ranking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Drop-off analysis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/>
              <a:t>Performance funnel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b="1">
                <a:latin typeface="+mj-lt"/>
                <a:cs typeface="+mj-lt"/>
                <a:sym typeface="+mn-ea"/>
              </a:rPr>
              <a:t>Clustered Column – Appointments by Doctor</a:t>
            </a:r>
            <a:endParaRPr lang="en-US" altLang="en-US" b="1">
              <a:latin typeface="+mj-lt"/>
              <a:cs typeface="+mj-lt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1400" b="1" dirty="0">
                <a:ln>
                  <a:noFill/>
                  <a:prstDash val="sysDot"/>
                </a:ln>
                <a:solidFill>
                  <a:srgbClr val="002060"/>
                </a:solidFill>
                <a:latin typeface="Lucida Bright" panose="02040602050505020304" charset="0"/>
                <a:cs typeface="Lucida Bright" panose="02040602050505020304" charset="0"/>
                <a:sym typeface="+mn-ea"/>
              </a:rPr>
              <a:t>Purpose:</a:t>
            </a:r>
            <a:endParaRPr lang="en-US" altLang="en-US" sz="1400" b="1" dirty="0">
              <a:ln>
                <a:noFill/>
                <a:prstDash val="sysDot"/>
              </a:ln>
              <a:solidFill>
                <a:srgbClr val="002060"/>
              </a:solidFill>
              <a:latin typeface="Lucida Bright" panose="02040602050505020304" charset="0"/>
              <a:cs typeface="Lucida Bright" panose="02040602050505020304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Doctor workload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Volume comparison</a:t>
            </a:r>
            <a:endParaRPr lang="en-US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>
                <a:sym typeface="+mn-ea"/>
              </a:rPr>
              <a:t>Capacity planning</a:t>
            </a:r>
            <a:endParaRPr lang="en-US" altLang="en-US" sz="1600"/>
          </a:p>
          <a:p>
            <a:pPr indent="0">
              <a:buFont typeface="Arial" panose="020B0604020202020204" pitchFamily="34" charset="0"/>
              <a:buNone/>
            </a:pPr>
            <a:endParaRPr lang="en-US" altLang="en-US"/>
          </a:p>
          <a:p>
            <a:pPr indent="0"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3098800" y="1199515"/>
            <a:ext cx="2385060" cy="65532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ln w="15875"/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📈</a:t>
            </a:r>
            <a:r>
              <a:rPr lang="en-US" altLang="en-US" sz="2400" b="1" dirty="0">
                <a:ln w="15875"/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  Visuals Used</a:t>
            </a:r>
            <a:endParaRPr lang="en-US" altLang="en-US" sz="2400" b="1" dirty="0">
              <a:ln w="15875"/>
              <a:solidFill>
                <a:schemeClr val="accent1">
                  <a:lumMod val="75000"/>
                </a:schemeClr>
              </a:solidFill>
              <a:effectLst/>
              <a:latin typeface="+mj-lt"/>
            </a:endParaRPr>
          </a:p>
        </p:txBody>
      </p:sp>
      <p:sp>
        <p:nvSpPr>
          <p:cNvPr id="20" name="矩形 19"/>
          <p:cNvSpPr/>
          <p:nvPr>
            <p:custDataLst>
              <p:tags r:id="rId3"/>
            </p:custDataLst>
          </p:nvPr>
        </p:nvSpPr>
        <p:spPr>
          <a:xfrm>
            <a:off x="9642475" y="1250950"/>
            <a:ext cx="1730375" cy="60388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ln w="15875"/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🎛</a:t>
            </a:r>
            <a:r>
              <a:rPr lang="en-US" altLang="zh-CN" sz="2800" b="1" dirty="0">
                <a:ln w="15875"/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  </a:t>
            </a:r>
            <a:r>
              <a:rPr lang="en-US" altLang="en-US" sz="2800" b="1" dirty="0">
                <a:ln w="15875"/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Slicers</a:t>
            </a:r>
            <a:endParaRPr lang="en-US" altLang="en-US" sz="2800" b="1" dirty="0">
              <a:ln w="15875"/>
              <a:solidFill>
                <a:schemeClr val="accent1">
                  <a:lumMod val="75000"/>
                </a:schemeClr>
              </a:solidFill>
              <a:effectLst/>
              <a:latin typeface="+mj-lt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222740" y="1905635"/>
            <a:ext cx="2562860" cy="3158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>
                <a:latin typeface="+mj-lt"/>
                <a:cs typeface="+mj-lt"/>
              </a:rPr>
              <a:t>Year: </a:t>
            </a:r>
            <a:endParaRPr lang="en-US" altLang="en-US" b="1">
              <a:latin typeface="+mj-lt"/>
              <a:cs typeface="+mj-lt"/>
            </a:endParaRPr>
          </a:p>
          <a:p>
            <a:r>
              <a:rPr lang="en-US" altLang="en-US"/>
              <a:t>Time filter | YoY view</a:t>
            </a:r>
            <a:endParaRPr lang="en-US" altLang="en-US"/>
          </a:p>
          <a:p>
            <a:r>
              <a:rPr lang="en-US" altLang="en-US"/>
              <a:t>(Year over Year)</a:t>
            </a:r>
            <a:endParaRPr lang="en-US" altLang="en-US"/>
          </a:p>
          <a:p>
            <a:endParaRPr lang="en-US" altLang="en-US" b="1">
              <a:latin typeface="+mj-lt"/>
              <a:cs typeface="+mj-lt"/>
            </a:endParaRPr>
          </a:p>
          <a:p>
            <a:r>
              <a:rPr lang="en-US" altLang="en-US" b="1">
                <a:latin typeface="+mj-lt"/>
                <a:cs typeface="+mj-lt"/>
              </a:rPr>
              <a:t>Hospital Branch:</a:t>
            </a:r>
            <a:r>
              <a:rPr lang="en-US" altLang="en-US"/>
              <a:t> </a:t>
            </a:r>
            <a:endParaRPr lang="en-US" altLang="en-US"/>
          </a:p>
          <a:p>
            <a:r>
              <a:rPr lang="en-US" altLang="en-US">
                <a:cs typeface="+mn-lt"/>
              </a:rPr>
              <a:t>Location filter | Branch compare</a:t>
            </a:r>
            <a:endParaRPr lang="en-US" altLang="en-US"/>
          </a:p>
          <a:p>
            <a:endParaRPr lang="en-US" altLang="en-US" b="1">
              <a:latin typeface="+mj-lt"/>
              <a:cs typeface="+mj-lt"/>
            </a:endParaRPr>
          </a:p>
          <a:p>
            <a:r>
              <a:rPr lang="en-US" altLang="en-US" b="1">
                <a:latin typeface="+mj-lt"/>
                <a:cs typeface="+mj-lt"/>
              </a:rPr>
              <a:t>Month Name: </a:t>
            </a:r>
            <a:endParaRPr lang="en-US" altLang="en-US" b="1">
              <a:latin typeface="+mj-lt"/>
              <a:cs typeface="+mj-lt"/>
            </a:endParaRPr>
          </a:p>
          <a:p>
            <a:r>
              <a:rPr lang="en-US" altLang="en-US"/>
              <a:t>Seasonal view | Trend focus</a:t>
            </a:r>
            <a:endParaRPr lang="en-US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10286365" y="453390"/>
            <a:ext cx="17767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Report Page</a:t>
            </a:r>
            <a:endParaRPr lang="en-US" sz="2000"/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Preparation 2"/>
          <p:cNvSpPr/>
          <p:nvPr/>
        </p:nvSpPr>
        <p:spPr>
          <a:xfrm>
            <a:off x="9389110" y="1054735"/>
            <a:ext cx="2283460" cy="441325"/>
          </a:xfrm>
          <a:prstGeom prst="flowChartPreparation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4" name="图片 3" descr="C:/Users/sree/Downloads/check-list-conceptmedical-worker-online-260nw-2428797453.pngcheck-list-conceptmedical-worker-online-260nw-242879745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20629" t="-111" r="25666" b="7673"/>
          <a:stretch>
            <a:fillRect/>
          </a:stretch>
        </p:blipFill>
        <p:spPr>
          <a:xfrm>
            <a:off x="0" y="81280"/>
            <a:ext cx="6577330" cy="6356985"/>
          </a:xfrm>
          <a:custGeom>
            <a:avLst/>
            <a:gdLst>
              <a:gd name="connsiteX0" fmla="*/ 3588432 w 7312143"/>
              <a:gd name="connsiteY0" fmla="*/ 2 h 6843722"/>
              <a:gd name="connsiteX1" fmla="*/ 6620064 w 7312143"/>
              <a:gd name="connsiteY1" fmla="*/ 6843722 h 6843722"/>
              <a:gd name="connsiteX2" fmla="*/ 1437758 w 7312143"/>
              <a:gd name="connsiteY2" fmla="*/ 6843721 h 6843722"/>
              <a:gd name="connsiteX3" fmla="*/ 0 w 7312143"/>
              <a:gd name="connsiteY3" fmla="*/ 3598075 h 6843722"/>
              <a:gd name="connsiteX4" fmla="*/ 1 w 7312143"/>
              <a:gd name="connsiteY4" fmla="*/ 2 h 6843722"/>
              <a:gd name="connsiteX5" fmla="*/ 3663715 w 7312143"/>
              <a:gd name="connsiteY5" fmla="*/ 0 h 6843722"/>
              <a:gd name="connsiteX6" fmla="*/ 4276593 w 7312143"/>
              <a:gd name="connsiteY6" fmla="*/ 1 h 6843722"/>
              <a:gd name="connsiteX7" fmla="*/ 7312143 w 7312143"/>
              <a:gd name="connsiteY7" fmla="*/ 6843721 h 6843722"/>
              <a:gd name="connsiteX8" fmla="*/ 6699265 w 7312143"/>
              <a:gd name="connsiteY8" fmla="*/ 6843721 h 6843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12143" h="6843722">
                <a:moveTo>
                  <a:pt x="3588432" y="2"/>
                </a:moveTo>
                <a:lnTo>
                  <a:pt x="6620064" y="6843722"/>
                </a:lnTo>
                <a:lnTo>
                  <a:pt x="1437758" y="6843721"/>
                </a:lnTo>
                <a:lnTo>
                  <a:pt x="0" y="3598075"/>
                </a:lnTo>
                <a:lnTo>
                  <a:pt x="1" y="2"/>
                </a:lnTo>
                <a:close/>
                <a:moveTo>
                  <a:pt x="3663715" y="0"/>
                </a:moveTo>
                <a:lnTo>
                  <a:pt x="4276593" y="1"/>
                </a:lnTo>
                <a:lnTo>
                  <a:pt x="7312143" y="6843721"/>
                </a:lnTo>
                <a:lnTo>
                  <a:pt x="6699265" y="6843721"/>
                </a:lnTo>
                <a:close/>
              </a:path>
            </a:pathLst>
          </a:custGeom>
          <a:ln>
            <a:solidFill>
              <a:schemeClr val="accent1">
                <a:alpha val="20000"/>
              </a:schemeClr>
            </a:solidFill>
          </a:ln>
        </p:spPr>
      </p:pic>
      <p:sp>
        <p:nvSpPr>
          <p:cNvPr id="6" name="任意多边形: 形状 5"/>
          <p:cNvSpPr/>
          <p:nvPr>
            <p:custDataLst>
              <p:tags r:id="rId3"/>
            </p:custDataLst>
          </p:nvPr>
        </p:nvSpPr>
        <p:spPr>
          <a:xfrm flipH="1">
            <a:off x="4340225" y="81280"/>
            <a:ext cx="1235075" cy="1917065"/>
          </a:xfrm>
          <a:custGeom>
            <a:avLst/>
            <a:gdLst>
              <a:gd name="connsiteX0" fmla="*/ 1235034 w 1235034"/>
              <a:gd name="connsiteY0" fmla="*/ 0 h 1998133"/>
              <a:gd name="connsiteX1" fmla="*/ 880359 w 1235034"/>
              <a:gd name="connsiteY1" fmla="*/ 0 h 1998133"/>
              <a:gd name="connsiteX2" fmla="*/ 0 w 1235034"/>
              <a:gd name="connsiteY2" fmla="*/ 1998133 h 1998133"/>
              <a:gd name="connsiteX3" fmla="*/ 354675 w 1235034"/>
              <a:gd name="connsiteY3" fmla="*/ 1998133 h 199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5034" h="1998133">
                <a:moveTo>
                  <a:pt x="1235034" y="0"/>
                </a:moveTo>
                <a:lnTo>
                  <a:pt x="880359" y="0"/>
                </a:lnTo>
                <a:lnTo>
                  <a:pt x="0" y="1998133"/>
                </a:lnTo>
                <a:lnTo>
                  <a:pt x="354675" y="1998133"/>
                </a:lnTo>
                <a:close/>
              </a:path>
            </a:pathLst>
          </a:custGeom>
          <a:solidFill>
            <a:schemeClr val="accent1">
              <a:lumMod val="85000"/>
              <a:lumOff val="1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标题 1"/>
          <p:cNvSpPr txBox="1"/>
          <p:nvPr>
            <p:custDataLst>
              <p:tags r:id="rId4"/>
            </p:custDataLst>
          </p:nvPr>
        </p:nvSpPr>
        <p:spPr>
          <a:xfrm>
            <a:off x="6304915" y="222250"/>
            <a:ext cx="4252595" cy="1458595"/>
          </a:xfrm>
          <a:prstGeom prst="rect">
            <a:avLst/>
          </a:prstGeom>
        </p:spPr>
        <p:txBody>
          <a:bodyPr vert="horz" wrap="square" lIns="90170" tIns="46990" rIns="90170" bIns="46990" rtlCol="0" anchor="b" anchorCtr="0">
            <a:no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2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sz="4000" spc="0" dirty="0">
                <a:latin typeface="+mj-lt"/>
              </a:rPr>
              <a:t>Doctor &amp; Revenue Performance</a:t>
            </a:r>
            <a:endParaRPr lang="en-US" sz="4000" spc="0" dirty="0">
              <a:latin typeface="+mj-lt"/>
            </a:endParaRPr>
          </a:p>
        </p:txBody>
      </p:sp>
      <p:sp>
        <p:nvSpPr>
          <p:cNvPr id="9" name="任意多边形: 形状 8"/>
          <p:cNvSpPr/>
          <p:nvPr>
            <p:custDataLst>
              <p:tags r:id="rId5"/>
            </p:custDataLst>
          </p:nvPr>
        </p:nvSpPr>
        <p:spPr>
          <a:xfrm flipH="1">
            <a:off x="11451348" y="1"/>
            <a:ext cx="740653" cy="1681045"/>
          </a:xfrm>
          <a:custGeom>
            <a:avLst/>
            <a:gdLst>
              <a:gd name="connsiteX0" fmla="*/ 740653 w 740653"/>
              <a:gd name="connsiteY0" fmla="*/ 0 h 1681045"/>
              <a:gd name="connsiteX1" fmla="*/ 0 w 740653"/>
              <a:gd name="connsiteY1" fmla="*/ 0 h 1681045"/>
              <a:gd name="connsiteX2" fmla="*/ 0 w 740653"/>
              <a:gd name="connsiteY2" fmla="*/ 1681045 h 1681045"/>
              <a:gd name="connsiteX3" fmla="*/ 740653 w 740653"/>
              <a:gd name="connsiteY3" fmla="*/ 0 h 1681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0653" h="1681045">
                <a:moveTo>
                  <a:pt x="740653" y="0"/>
                </a:moveTo>
                <a:lnTo>
                  <a:pt x="0" y="0"/>
                </a:lnTo>
                <a:lnTo>
                  <a:pt x="0" y="1681045"/>
                </a:lnTo>
                <a:lnTo>
                  <a:pt x="740653" y="0"/>
                </a:lnTo>
                <a:close/>
              </a:path>
            </a:pathLst>
          </a:custGeom>
          <a:solidFill>
            <a:schemeClr val="accent1">
              <a:lumMod val="85000"/>
              <a:lumOff val="1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任意多边形: 形状 10"/>
          <p:cNvSpPr/>
          <p:nvPr>
            <p:custDataLst>
              <p:tags r:id="rId6"/>
            </p:custDataLst>
          </p:nvPr>
        </p:nvSpPr>
        <p:spPr>
          <a:xfrm>
            <a:off x="-5080" y="4883785"/>
            <a:ext cx="2031365" cy="1784985"/>
          </a:xfrm>
          <a:custGeom>
            <a:avLst/>
            <a:gdLst>
              <a:gd name="connsiteX0" fmla="*/ 0 w 2031608"/>
              <a:gd name="connsiteY0" fmla="*/ 0 h 1974273"/>
              <a:gd name="connsiteX1" fmla="*/ 1133294 w 2031608"/>
              <a:gd name="connsiteY1" fmla="*/ 0 h 1974273"/>
              <a:gd name="connsiteX2" fmla="*/ 2031608 w 2031608"/>
              <a:gd name="connsiteY2" fmla="*/ 1974273 h 1974273"/>
              <a:gd name="connsiteX3" fmla="*/ 407821 w 2031608"/>
              <a:gd name="connsiteY3" fmla="*/ 1974273 h 1974273"/>
              <a:gd name="connsiteX4" fmla="*/ 0 w 2031608"/>
              <a:gd name="connsiteY4" fmla="*/ 1077983 h 1974273"/>
              <a:gd name="connsiteX5" fmla="*/ 0 w 2031608"/>
              <a:gd name="connsiteY5" fmla="*/ 0 h 197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31608" h="1974273">
                <a:moveTo>
                  <a:pt x="0" y="0"/>
                </a:moveTo>
                <a:lnTo>
                  <a:pt x="1133294" y="0"/>
                </a:lnTo>
                <a:lnTo>
                  <a:pt x="2031608" y="1974273"/>
                </a:lnTo>
                <a:lnTo>
                  <a:pt x="407821" y="1974273"/>
                </a:lnTo>
                <a:lnTo>
                  <a:pt x="0" y="107798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736080" y="1681480"/>
            <a:ext cx="5010785" cy="4411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>
                <a:solidFill>
                  <a:schemeClr val="accent5"/>
                </a:solidFill>
                <a:latin typeface="+mj-lt"/>
                <a:cs typeface="+mj-lt"/>
              </a:rPr>
              <a:t>Card – Total Revenue</a:t>
            </a:r>
            <a:endParaRPr lang="en-US" altLang="en-US" sz="2000" b="1">
              <a:solidFill>
                <a:schemeClr val="accent5"/>
              </a:solidFill>
              <a:latin typeface="+mj-lt"/>
              <a:cs typeface="+mj-lt"/>
            </a:endParaRPr>
          </a:p>
          <a:p>
            <a:r>
              <a:rPr lang="en-US" altLang="en-US" b="1">
                <a:solidFill>
                  <a:srgbClr val="00B0F0"/>
                </a:solidFill>
                <a:latin typeface="+mj-lt"/>
                <a:cs typeface="+mj-lt"/>
              </a:rPr>
              <a:t>Purpose</a:t>
            </a:r>
            <a:r>
              <a:rPr lang="en-US" altLang="en-US" b="1">
                <a:solidFill>
                  <a:srgbClr val="002060"/>
                </a:solidFill>
                <a:latin typeface="+mj-lt"/>
                <a:cs typeface="+mj-lt"/>
              </a:rPr>
              <a:t> </a:t>
            </a:r>
            <a:endParaRPr lang="en-US" altLang="en-US" b="1">
              <a:solidFill>
                <a:srgbClr val="002060"/>
              </a:solidFill>
              <a:latin typeface="+mj-lt"/>
              <a:cs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cs typeface="+mn-lt"/>
              </a:rPr>
              <a:t>Revenue snapshot</a:t>
            </a:r>
            <a:endParaRPr lang="en-US" altLang="en-US"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cs typeface="+mn-lt"/>
              </a:rPr>
              <a:t>Financial KPI</a:t>
            </a:r>
            <a:endParaRPr lang="en-US" altLang="en-US"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cs typeface="+mn-lt"/>
              </a:rPr>
              <a:t>Performance summary</a:t>
            </a:r>
            <a:endParaRPr lang="en-US" altLang="en-US">
              <a:cs typeface="+mn-lt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000" b="1">
                <a:solidFill>
                  <a:schemeClr val="accent5"/>
                </a:solidFill>
                <a:latin typeface="+mj-lt"/>
                <a:cs typeface="+mj-lt"/>
              </a:rPr>
              <a:t>Card – Total Treatments</a:t>
            </a:r>
            <a:endParaRPr lang="en-US" altLang="en-US" sz="2000" b="1">
              <a:solidFill>
                <a:schemeClr val="accent5"/>
              </a:solidFill>
              <a:latin typeface="+mj-lt"/>
              <a:cs typeface="+mj-lt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b="1">
                <a:solidFill>
                  <a:srgbClr val="00B0F0"/>
                </a:solidFill>
                <a:latin typeface="+mj-lt"/>
                <a:cs typeface="+mj-lt"/>
              </a:rPr>
              <a:t>Purpose </a:t>
            </a:r>
            <a:endParaRPr lang="en-US" altLang="en-US" b="1">
              <a:solidFill>
                <a:srgbClr val="00B0F0"/>
              </a:solidFill>
              <a:latin typeface="+mj-lt"/>
              <a:cs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cs typeface="+mn-lt"/>
              </a:rPr>
              <a:t>Revenue snapshot</a:t>
            </a:r>
            <a:endParaRPr lang="en-US" altLang="en-US"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cs typeface="+mn-lt"/>
              </a:rPr>
              <a:t>Financial KPI</a:t>
            </a:r>
            <a:endParaRPr lang="en-US" altLang="en-US"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cs typeface="+mn-lt"/>
              </a:rPr>
              <a:t>Performance summary</a:t>
            </a:r>
            <a:endParaRPr lang="en-US" altLang="en-US">
              <a:cs typeface="+mn-lt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2000" b="1">
                <a:solidFill>
                  <a:schemeClr val="accent5"/>
                </a:solidFill>
                <a:latin typeface="+mj-lt"/>
                <a:cs typeface="+mj-lt"/>
                <a:sym typeface="+mn-ea"/>
              </a:rPr>
              <a:t>Table – Patient-wise Revenue Details</a:t>
            </a:r>
            <a:endParaRPr lang="en-US" altLang="en-US" sz="2000" b="1">
              <a:solidFill>
                <a:schemeClr val="accent5"/>
              </a:solidFill>
              <a:latin typeface="+mj-lt"/>
              <a:cs typeface="+mj-lt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US" sz="1600" b="1">
                <a:solidFill>
                  <a:srgbClr val="00B0F0"/>
                </a:solidFill>
                <a:sym typeface="+mn-ea"/>
              </a:rPr>
              <a:t>Purpose </a:t>
            </a:r>
            <a:endParaRPr lang="en-US" altLang="en-US" sz="1600" b="1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cs typeface="+mn-lt"/>
                <a:sym typeface="+mn-ea"/>
              </a:rPr>
              <a:t>Revenue drill-down</a:t>
            </a:r>
            <a:endParaRPr lang="en-US" altLang="en-US"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cs typeface="+mn-lt"/>
                <a:sym typeface="+mn-ea"/>
              </a:rPr>
              <a:t>Patient-level view</a:t>
            </a:r>
            <a:endParaRPr lang="en-US" altLang="en-US"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cs typeface="+mn-lt"/>
                <a:sym typeface="+mn-ea"/>
              </a:rPr>
              <a:t>Audit suppor</a:t>
            </a:r>
            <a:endParaRPr lang="en-US" altLang="en-US">
              <a:cs typeface="+mn-lt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>
              <a:cs typeface="+mn-lt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9526905" y="1054735"/>
            <a:ext cx="22586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solidFill>
                  <a:schemeClr val="accent6"/>
                </a:solidFill>
              </a:rPr>
              <a:t>Drill through Page</a:t>
            </a:r>
            <a:endParaRPr lang="en-US" sz="2000">
              <a:solidFill>
                <a:schemeClr val="accent6"/>
              </a:solidFill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z="4400" spc="0">
                <a:latin typeface="+mj-lt"/>
              </a:rPr>
              <a:t>Why This Project? | Value | Impact</a:t>
            </a:r>
            <a:endParaRPr lang="en-US" sz="4400" spc="0">
              <a:latin typeface="+mj-lt"/>
            </a:endParaRPr>
          </a:p>
        </p:txBody>
      </p:sp>
      <p:pic>
        <p:nvPicPr>
          <p:cNvPr id="2" name="图片 1" descr="C:/Users/sree/Pictures/Saved Pictures/download (4).jpgdownload (4)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 l="5557" t="741" r="11391" b="-741"/>
          <a:stretch>
            <a:fillRect/>
          </a:stretch>
        </p:blipFill>
        <p:spPr>
          <a:xfrm>
            <a:off x="3471172" y="1360193"/>
            <a:ext cx="2458799" cy="1969547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3" name="图片 2" descr="C:/Users/sree/Pictures/Saved Pictures/images (4).jpgimages (4)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/>
          <a:srcRect l="19855" r="19855"/>
          <a:stretch>
            <a:fillRect/>
          </a:stretch>
        </p:blipFill>
        <p:spPr>
          <a:xfrm>
            <a:off x="9041458" y="1360193"/>
            <a:ext cx="2458799" cy="1969547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4" name="图片 3" descr="C:/Users/sree/Pictures/Camera Roll/Medical-doctors-and-nurse-practitioners-discuss-paperwork-in-a-hallway.jpgMedical-doctors-and-nurse-practitioners-discuss-paperwork-in-a-hallway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/>
          <a:srcRect l="8458" r="8458"/>
          <a:stretch>
            <a:fillRect/>
          </a:stretch>
        </p:blipFill>
        <p:spPr>
          <a:xfrm>
            <a:off x="691109" y="1360193"/>
            <a:ext cx="2458799" cy="1969547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5" name="图片 4" descr="C:/Users/sree/Pictures/Saved Pictures/download (3).jpgdownload (3)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 l="447" t="355" r="29655" b="-355"/>
          <a:stretch>
            <a:fillRect/>
          </a:stretch>
        </p:blipFill>
        <p:spPr>
          <a:xfrm>
            <a:off x="6267110" y="1360193"/>
            <a:ext cx="2458799" cy="1969547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6" name="直接连接符 5"/>
          <p:cNvCxnSpPr/>
          <p:nvPr>
            <p:custDataLst>
              <p:tags r:id="rId10"/>
            </p:custDataLst>
          </p:nvPr>
        </p:nvCxnSpPr>
        <p:spPr>
          <a:xfrm flipV="1">
            <a:off x="710159" y="3490009"/>
            <a:ext cx="0" cy="2722335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8" name="矩形 7"/>
          <p:cNvSpPr/>
          <p:nvPr>
            <p:custDataLst>
              <p:tags r:id="rId11"/>
            </p:custDataLst>
          </p:nvPr>
        </p:nvSpPr>
        <p:spPr>
          <a:xfrm>
            <a:off x="793750" y="4316095"/>
            <a:ext cx="2512060" cy="18961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lnSpcReduction="10000"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ym typeface="+mn-ea"/>
              </a:rPr>
              <a:t>Real-world hospital analytics use case</a:t>
            </a:r>
            <a:endParaRPr lang="en-US" altLang="en-US" sz="14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ym typeface="+mn-ea"/>
              </a:rPr>
              <a:t>Multiple fact tables &amp; data modeling</a:t>
            </a:r>
            <a:endParaRPr lang="en-US" altLang="en-US" sz="14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ym typeface="+mn-ea"/>
              </a:rPr>
              <a:t>Practical RLS implementation</a:t>
            </a:r>
            <a:endParaRPr lang="en-US" altLang="en-US" sz="14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ym typeface="+mn-ea"/>
              </a:rPr>
              <a:t>Business-focused dashboards</a:t>
            </a:r>
            <a:endParaRPr lang="en-US" altLang="en-US" sz="1400"/>
          </a:p>
          <a:p>
            <a:pPr indent="0">
              <a:buFont typeface="Arial" panose="020B0604020202020204" pitchFamily="34" charset="0"/>
              <a:buNone/>
            </a:pPr>
            <a:endParaRPr lang="en-US" altLang="en-US" sz="1400"/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12"/>
            </p:custDataLst>
          </p:nvPr>
        </p:nvSpPr>
        <p:spPr>
          <a:xfrm>
            <a:off x="904875" y="3489960"/>
            <a:ext cx="2030095" cy="69342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>
                <a:solidFill>
                  <a:schemeClr val="accent5"/>
                </a:solidFill>
                <a:sym typeface="+mn-ea"/>
              </a:rPr>
              <a:t>✅  </a:t>
            </a:r>
            <a:r>
              <a:rPr lang="en-US" altLang="en-US" sz="2000" b="1">
                <a:solidFill>
                  <a:schemeClr val="accent5"/>
                </a:solidFill>
                <a:latin typeface="+mj-lt"/>
                <a:cs typeface="+mj-lt"/>
                <a:sym typeface="+mn-ea"/>
              </a:rPr>
              <a:t>Why </a:t>
            </a:r>
            <a:r>
              <a:rPr lang="en-US" altLang="en-US" sz="2000" b="1">
                <a:solidFill>
                  <a:schemeClr val="accent5"/>
                </a:solidFill>
                <a:sym typeface="+mn-ea"/>
              </a:rPr>
              <a:t>Choose This Project?</a:t>
            </a:r>
            <a:endParaRPr lang="en-US" altLang="en-US" sz="2000" b="1" kern="0" dirty="0">
              <a:solidFill>
                <a:schemeClr val="accent5"/>
              </a:solidFill>
              <a:latin typeface="+mj-lt"/>
              <a:sym typeface="+mn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13"/>
            </p:custDataLst>
          </p:nvPr>
        </p:nvCxnSpPr>
        <p:spPr>
          <a:xfrm flipV="1">
            <a:off x="3490857" y="3490009"/>
            <a:ext cx="0" cy="2722335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1" name="矩形 10"/>
          <p:cNvSpPr/>
          <p:nvPr>
            <p:custDataLst>
              <p:tags r:id="rId14"/>
            </p:custDataLst>
          </p:nvPr>
        </p:nvSpPr>
        <p:spPr>
          <a:xfrm>
            <a:off x="3685540" y="4104640"/>
            <a:ext cx="2234565" cy="21075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ym typeface="+mn-ea"/>
              </a:rPr>
              <a:t>Scattered operational data</a:t>
            </a: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ym typeface="+mn-ea"/>
              </a:rPr>
              <a:t>No doctor performance visibility</a:t>
            </a: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ym typeface="+mn-ea"/>
              </a:rPr>
              <a:t>Limited revenue insights</a:t>
            </a: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ym typeface="+mn-ea"/>
              </a:rPr>
              <a:t>Manual reporting delays</a:t>
            </a:r>
            <a:endParaRPr lang="en-US" altLang="en-US" sz="1400"/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9" name="矩形 18"/>
          <p:cNvSpPr/>
          <p:nvPr>
            <p:custDataLst>
              <p:tags r:id="rId15"/>
            </p:custDataLst>
          </p:nvPr>
        </p:nvSpPr>
        <p:spPr>
          <a:xfrm>
            <a:off x="3683000" y="3489960"/>
            <a:ext cx="2391410" cy="45466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accent5"/>
                </a:solidFill>
                <a:sym typeface="+mn-ea"/>
              </a:rPr>
              <a:t> </a:t>
            </a:r>
            <a:r>
              <a:rPr lang="zh-CN" altLang="en-US" sz="2000" b="1">
                <a:solidFill>
                  <a:schemeClr val="accent5"/>
                </a:solidFill>
                <a:latin typeface="+mj-lt"/>
                <a:cs typeface="+mj-lt"/>
                <a:sym typeface="+mn-ea"/>
              </a:rPr>
              <a:t>⚠</a:t>
            </a:r>
            <a:r>
              <a:rPr lang="en-US" altLang="zh-CN" sz="2000" b="1">
                <a:solidFill>
                  <a:schemeClr val="accent5"/>
                </a:solidFill>
                <a:latin typeface="+mj-lt"/>
                <a:cs typeface="+mj-lt"/>
                <a:sym typeface="+mn-ea"/>
              </a:rPr>
              <a:t> </a:t>
            </a:r>
            <a:r>
              <a:rPr lang="en-US" altLang="en-US" sz="2000" b="1">
                <a:solidFill>
                  <a:schemeClr val="accent5"/>
                </a:solidFill>
                <a:latin typeface="+mj-lt"/>
                <a:cs typeface="+mj-lt"/>
                <a:sym typeface="+mn-ea"/>
              </a:rPr>
              <a:t>Problem Addressed</a:t>
            </a:r>
            <a:endParaRPr lang="en-US" altLang="en-US" sz="2000" b="1" kern="0" dirty="0">
              <a:solidFill>
                <a:schemeClr val="accent5"/>
              </a:solidFill>
              <a:latin typeface="+mj-lt"/>
              <a:cs typeface="+mj-lt"/>
              <a:sym typeface="+mn-ea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16"/>
            </p:custDataLst>
          </p:nvPr>
        </p:nvCxnSpPr>
        <p:spPr>
          <a:xfrm flipV="1">
            <a:off x="6267110" y="3475403"/>
            <a:ext cx="0" cy="2722335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22" name="矩形 21"/>
          <p:cNvSpPr/>
          <p:nvPr>
            <p:custDataLst>
              <p:tags r:id="rId17"/>
            </p:custDataLst>
          </p:nvPr>
        </p:nvSpPr>
        <p:spPr>
          <a:xfrm>
            <a:off x="6471285" y="4187190"/>
            <a:ext cx="2352040" cy="2010410"/>
          </a:xfrm>
          <a:prstGeom prst="rect">
            <a:avLst/>
          </a:prstGeom>
          <a:noFill/>
        </p:spPr>
        <p:txBody>
          <a:bodyPr wrap="square" lIns="0" tIns="0" rIns="0" bIns="0" rtlCol="0" anchor="t" anchorCtr="0"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ym typeface="+mn-ea"/>
              </a:rPr>
              <a:t>Centralized reporting</a:t>
            </a: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ym typeface="+mn-ea"/>
              </a:rPr>
              <a:t>Automated KPIs &amp; trends</a:t>
            </a: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ym typeface="+mn-ea"/>
              </a:rPr>
              <a:t>Role-based secure access (RLS)</a:t>
            </a: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ym typeface="+mn-ea"/>
              </a:rPr>
              <a:t>Faster, data-driven decisions</a:t>
            </a:r>
            <a:endParaRPr lang="en-US" altLang="en-US" sz="1400"/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27" name="矩形 26"/>
          <p:cNvSpPr/>
          <p:nvPr>
            <p:custDataLst>
              <p:tags r:id="rId18"/>
            </p:custDataLst>
          </p:nvPr>
        </p:nvSpPr>
        <p:spPr>
          <a:xfrm>
            <a:off x="6494780" y="3489960"/>
            <a:ext cx="2363470" cy="56896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5"/>
                </a:solidFill>
                <a:latin typeface="+mj-lt"/>
                <a:cs typeface="+mj-lt"/>
                <a:sym typeface="+mn-ea"/>
              </a:rPr>
              <a:t>🚀</a:t>
            </a:r>
            <a:r>
              <a:rPr lang="en-US" altLang="zh-CN" sz="2000" b="1">
                <a:solidFill>
                  <a:schemeClr val="accent5"/>
                </a:solidFill>
                <a:latin typeface="+mj-lt"/>
                <a:cs typeface="+mj-lt"/>
                <a:sym typeface="+mn-ea"/>
              </a:rPr>
              <a:t>    </a:t>
            </a:r>
            <a:r>
              <a:rPr lang="en-US" altLang="en-US" sz="2000" b="1">
                <a:solidFill>
                  <a:schemeClr val="accent5"/>
                </a:solidFill>
                <a:latin typeface="+mj-lt"/>
                <a:cs typeface="+mj-lt"/>
                <a:sym typeface="+mn-ea"/>
              </a:rPr>
              <a:t>Improvements Achieved</a:t>
            </a:r>
            <a:endParaRPr lang="en-US" altLang="en-US" sz="2000" b="1" kern="0" dirty="0">
              <a:solidFill>
                <a:schemeClr val="accent5"/>
              </a:solidFill>
              <a:latin typeface="+mj-lt"/>
              <a:cs typeface="+mj-lt"/>
              <a:sym typeface="+mn-ea"/>
            </a:endParaRPr>
          </a:p>
        </p:txBody>
      </p:sp>
      <p:cxnSp>
        <p:nvCxnSpPr>
          <p:cNvPr id="28" name="直接连接符 27"/>
          <p:cNvCxnSpPr/>
          <p:nvPr>
            <p:custDataLst>
              <p:tags r:id="rId19"/>
            </p:custDataLst>
          </p:nvPr>
        </p:nvCxnSpPr>
        <p:spPr>
          <a:xfrm flipV="1">
            <a:off x="9041458" y="3475403"/>
            <a:ext cx="0" cy="2722335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29" name="矩形 28"/>
          <p:cNvSpPr/>
          <p:nvPr>
            <p:custDataLst>
              <p:tags r:id="rId20"/>
            </p:custDataLst>
          </p:nvPr>
        </p:nvSpPr>
        <p:spPr>
          <a:xfrm>
            <a:off x="9225915" y="4104640"/>
            <a:ext cx="2230755" cy="209296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ym typeface="+mn-ea"/>
              </a:rPr>
              <a:t>Hospital Management</a:t>
            </a: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ym typeface="+mn-ea"/>
              </a:rPr>
              <a:t>Operations Team</a:t>
            </a: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ym typeface="+mn-ea"/>
              </a:rPr>
              <a:t>Doctors (performance view)</a:t>
            </a: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400">
                <a:sym typeface="+mn-ea"/>
              </a:rPr>
              <a:t>Admin &amp; Finance</a:t>
            </a:r>
            <a:endParaRPr lang="en-US" altLang="en-US" sz="1400"/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30" name="矩形 29"/>
          <p:cNvSpPr/>
          <p:nvPr>
            <p:custDataLst>
              <p:tags r:id="rId21"/>
            </p:custDataLst>
          </p:nvPr>
        </p:nvSpPr>
        <p:spPr>
          <a:xfrm>
            <a:off x="9225280" y="3489960"/>
            <a:ext cx="2029460" cy="393065"/>
          </a:xfrm>
          <a:prstGeom prst="rect">
            <a:avLst/>
          </a:prstGeom>
          <a:noFill/>
        </p:spPr>
        <p:txBody>
          <a:bodyPr wrap="square" lIns="0" tIns="0" rIns="0" bIns="0" rtlCol="0" anchor="b"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chemeClr val="accent5"/>
                </a:solidFill>
                <a:latin typeface="+mj-lt"/>
                <a:cs typeface="+mj-lt"/>
                <a:sym typeface="+mn-ea"/>
              </a:rPr>
              <a:t>👥</a:t>
            </a:r>
            <a:r>
              <a:rPr lang="en-US" altLang="en-US" sz="2000" b="1">
                <a:solidFill>
                  <a:schemeClr val="accent5"/>
                </a:solidFill>
                <a:latin typeface="+mj-lt"/>
                <a:cs typeface="+mj-lt"/>
                <a:sym typeface="+mn-ea"/>
              </a:rPr>
              <a:t>  Who Benefits?</a:t>
            </a:r>
            <a:endParaRPr lang="en-US" altLang="en-US" sz="2000" b="1" kern="0" dirty="0">
              <a:solidFill>
                <a:schemeClr val="accent5"/>
              </a:solidFill>
              <a:latin typeface="+mj-lt"/>
              <a:cs typeface="+mj-lt"/>
              <a:sym typeface="+mn-ea"/>
            </a:endParaRPr>
          </a:p>
        </p:txBody>
      </p:sp>
    </p:spTree>
    <p:custDataLst>
      <p:tags r:id="rId2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3"/>
            <p:custDataLst>
              <p:tags r:id="rId1"/>
            </p:custDataLst>
          </p:nvPr>
        </p:nvSpPr>
        <p:spPr>
          <a:xfrm>
            <a:off x="5585460" y="1564005"/>
            <a:ext cx="6035675" cy="2345690"/>
          </a:xfrm>
        </p:spPr>
        <p:txBody>
          <a:bodyPr/>
          <a:lstStyle/>
          <a:p>
            <a:r>
              <a:rPr lang="en-US"/>
              <a:t>THANK YOU</a:t>
            </a:r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7078980" y="3872230"/>
            <a:ext cx="4617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Open for questions &amp; feedback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ISCONTENTSTITLE" val="0"/>
  <p:tag name="KSO_WM_UNIT_ISNUMDGMTITLE" val="0"/>
  <p:tag name="KSO_WM_UNIT_SUBTYPE" val="a"/>
  <p:tag name="KSO_WM_UNIT_PRESET_TEXT" val="单击此处编辑母版文本样式&#10;二级&#10;三级&#10;四级&#10;五级"/>
  <p:tag name="KSO_WM_UNIT_NOCLEAR" val="0"/>
  <p:tag name="KSO_WM_UNIT_VALUE" val="59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3.0"/>
  <p:tag name="KSO_WM_BEAUTIFY_FLAG" val="#wm#"/>
  <p:tag name="KSO_WM_TEMPLATE_CATEGORY" val="custom"/>
  <p:tag name="KSO_WM_TEMPLATE_INDEX" val="20237980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80"/>
</p:tagLst>
</file>

<file path=ppt/tags/tag98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7980"/>
</p:tagLst>
</file>

<file path=ppt/tags/tag9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246_1*i*1"/>
  <p:tag name="KSO_WM_TEMPLATE_CATEGORY" val="custom"/>
  <p:tag name="KSO_WM_TEMPLATE_INDEX" val="20238246"/>
  <p:tag name="KSO_WM_UNIT_LAYERLEVEL" val="1"/>
  <p:tag name="KSO_WM_TAG_VERSION" val="3.0"/>
  <p:tag name="KSO_WM_BEAUTIFY_FLAG" val="#wm#"/>
  <p:tag name="KSO_WM_UNIT_FILL_FORE_SCHEMECOLOR_INDEX" val="5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246"/>
  <p:tag name="KSO_WM_UNIT_ID" val="custom20238246_1*a*1"/>
  <p:tag name="KSO_WM_UNIT_TEXT_FILL_FORE_SCHEMECOLOR_INDEX" val="13"/>
  <p:tag name="KSO_WM_UNIT_TEXT_FILL_TYPE" val="1"/>
  <p:tag name="KSO_WM_UNIT_USESOURCEFORMAT_APPLY" val="1"/>
  <p:tag name="KSO_WM_UNIT_PRESET_TEXT" val="Your title here"/>
</p:tagLst>
</file>

<file path=ppt/tags/tag102.xml><?xml version="1.0" encoding="utf-8"?>
<p:tagLst xmlns:p="http://schemas.openxmlformats.org/presentationml/2006/main">
  <p:tag name="KSO_WM_UNIT_VALUE" val="1904*107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246_1*d*1"/>
  <p:tag name="KSO_WM_TEMPLATE_CATEGORY" val="custom"/>
  <p:tag name="KSO_WM_TEMPLATE_INDEX" val="20238246"/>
  <p:tag name="KSO_WM_UNIT_LAYERLEVEL" val="1"/>
  <p:tag name="KSO_WM_TAG_VERSION" val="3.0"/>
  <p:tag name="KSO_WM_BEAUTIFY_FLAG" val="#wm#"/>
  <p:tag name="KSO_WM_UNIT_LINE_FORE_SCHEMECOLOR_INDEX" val="1"/>
  <p:tag name="KSO_WM_UNIT_LINE_FILL_TYPE" val="2"/>
  <p:tag name="KSO_WM_UNIT_USESOURCEFORMAT_APPLY" val="1"/>
</p:tagLst>
</file>

<file path=ppt/tags/tag103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506*315.187"/>
  <p:tag name="KSO_WM_SLIDE_POSITION" val="55.8628*180.613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246"/>
  <p:tag name="KSO_WM_TEMPLATE_SUBCATEGORY" val="0"/>
  <p:tag name="KSO_WM_SLIDE_INDEX" val="1"/>
  <p:tag name="KSO_WM_TAG_VERSION" val="3.0"/>
  <p:tag name="KSO_WM_SLIDE_ID" val="custom20238246_1"/>
  <p:tag name="KSO_WM_SLIDE_ITEM_CN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396_1*i*1"/>
  <p:tag name="KSO_WM_TEMPLATE_CATEGORY" val="custom"/>
  <p:tag name="KSO_WM_TEMPLATE_INDEX" val="20238396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05.xml><?xml version="1.0" encoding="utf-8"?>
<p:tagLst xmlns:p="http://schemas.openxmlformats.org/presentationml/2006/main">
  <p:tag name="KSO_WM_UNIT_VALUE" val="801*338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396_1*d*1"/>
  <p:tag name="KSO_WM_TEMPLATE_CATEGORY" val="custom"/>
  <p:tag name="KSO_WM_TEMPLATE_INDEX" val="20238396"/>
  <p:tag name="KSO_WM_UNIT_LAYERLEVEL" val="1"/>
  <p:tag name="KSO_WM_TAG_VERSION" val="3.0"/>
  <p:tag name="KSO_WM_BEAUTIFY_FLAG" val="#wm#"/>
  <p:tag name="KSO_WM_UNIT_USESOURCEFORMAT_APPLY" val="1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8396_1*a*1"/>
  <p:tag name="KSO_WM_TEMPLATE_CATEGORY" val="custom"/>
  <p:tag name="KSO_WM_TEMPLATE_INDEX" val="20238396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107.xml><?xml version="1.0" encoding="utf-8"?>
<p:tagLst xmlns:p="http://schemas.openxmlformats.org/presentationml/2006/main">
  <p:tag name="KSO_WM_SLIDE_ID" val="custom20238396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TAG_VERSION" val="3.0"/>
  <p:tag name="KSO_WM_BEAUTIFY_FLAG" val="#wm#"/>
  <p:tag name="KSO_WM_TEMPLATE_CATEGORY" val="custom"/>
  <p:tag name="KSO_WM_TEMPLATE_INDEX" val="20238396"/>
  <p:tag name="KSO_WM_SLIDE_TYPE" val="text"/>
  <p:tag name="KSO_WM_SLIDE_SUBTYPE" val="picTxt"/>
  <p:tag name="KSO_WM_SLIDE_SIZE" val="789.278*113.4"/>
  <p:tag name="KSO_WM_SLIDE_POSITION" val="84.8224*355.1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389_1*i*1"/>
  <p:tag name="KSO_WM_TEMPLATE_CATEGORY" val="custom"/>
  <p:tag name="KSO_WM_TEMPLATE_INDEX" val="20238389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0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8389_1*a*1"/>
  <p:tag name="KSO_WM_TEMPLATE_CATEGORY" val="custom"/>
  <p:tag name="KSO_WM_TEMPLATE_INDEX" val="20238389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2"/>
  <p:tag name="KSO_WM_UNIT_TEXT_FILL_TYPE" val="1"/>
  <p:tag name="KSO_WM_UNIT_USESOURCEFORMAT_APPLY" val="1"/>
</p:tagLst>
</file>

<file path=ppt/tags/tag110.xml><?xml version="1.0" encoding="utf-8"?>
<p:tagLst xmlns:p="http://schemas.openxmlformats.org/presentationml/2006/main">
  <p:tag name="KSO_WM_UNIT_TEXT_FILL_TYPE" val="1"/>
  <p:tag name="KSO_WM_DIAGRAM_MAX_ITEMCNT" val="3"/>
  <p:tag name="KSO_WM_DIAGRAM_MIN_ITEMCNT" val="2"/>
  <p:tag name="KSO_WM_DIAGRAM_VIRTUALLY_FRAME" val="{&quot;height&quot;:420.7134979296105,&quot;left&quot;:12.810940495038631,&quot;top&quot;:92.30413986566501,&quot;width&quot;:450.063972099333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62_1*l_h_a*1_1_1"/>
  <p:tag name="KSO_WM_TEMPLATE_CATEGORY" val="diagram"/>
  <p:tag name="KSO_WM_TEMPLATE_INDEX" val="20237962"/>
  <p:tag name="KSO_WM_UNIT_LAYERLEVEL" val="1_1_1"/>
  <p:tag name="KSO_WM_TAG_VERSION" val="3.0"/>
  <p:tag name="KSO_WM_BEAUTIFY_FLAG" val="#wm#"/>
  <p:tag name="KSO_WM_UNIT_PRESET_TEXT" val="Your title here"/>
  <p:tag name="KSO_WM_UNIT_USESOURCEFORMAT_APPLY" val="1"/>
</p:tagLst>
</file>

<file path=ppt/tags/tag111.xml><?xml version="1.0" encoding="utf-8"?>
<p:tagLst xmlns:p="http://schemas.openxmlformats.org/presentationml/2006/main">
  <p:tag name="KSO_WM_UNIT_TEXT_FILL_TYPE" val="1"/>
  <p:tag name="KSO_WM_DIAGRAM_MAX_ITEMCNT" val="3"/>
  <p:tag name="KSO_WM_DIAGRAM_MIN_ITEMCNT" val="2"/>
  <p:tag name="KSO_WM_DIAGRAM_VIRTUALLY_FRAME" val="{&quot;height&quot;:420.7134979296105,&quot;left&quot;:12.810940495038631,&quot;top&quot;:92.30413986566501,&quot;width&quot;:450.063972099333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0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62_1*l_h_f*1_1_1"/>
  <p:tag name="KSO_WM_TEMPLATE_CATEGORY" val="diagram"/>
  <p:tag name="KSO_WM_TEMPLATE_INDEX" val="20237962"/>
  <p:tag name="KSO_WM_UNIT_LAYERLEVEL" val="1_1_1"/>
  <p:tag name="KSO_WM_TAG_VERSION" val="3.0"/>
  <p:tag name="KSO_WM_BEAUTIFY_FLAG" val="#wm#"/>
  <p:tag name="KSO_WM_UNIT_PRESET_TEXT" val="Presentations are communication tools that can be used as demonstrations, lectures, speeches, reports, and more."/>
  <p:tag name="KSO_WM_UNIT_USESOURCEFORMAT_APPLY" val="1"/>
</p:tagLst>
</file>

<file path=ppt/tags/tag112.xml><?xml version="1.0" encoding="utf-8"?>
<p:tagLst xmlns:p="http://schemas.openxmlformats.org/presentationml/2006/main">
  <p:tag name="KSO_WM_UNIT_TEXT_FILL_TYPE" val="1"/>
  <p:tag name="KSO_WM_DIAGRAM_MAX_ITEMCNT" val="3"/>
  <p:tag name="KSO_WM_DIAGRAM_MIN_ITEMCNT" val="2"/>
  <p:tag name="KSO_WM_DIAGRAM_VIRTUALLY_FRAME" val="{&quot;height&quot;:420.7134979296105,&quot;left&quot;:12.810940495038631,&quot;top&quot;:92.30413986566501,&quot;width&quot;:450.063972099333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62_1*l_h_a*1_2_1"/>
  <p:tag name="KSO_WM_TEMPLATE_CATEGORY" val="diagram"/>
  <p:tag name="KSO_WM_TEMPLATE_INDEX" val="20237962"/>
  <p:tag name="KSO_WM_UNIT_LAYERLEVEL" val="1_1_1"/>
  <p:tag name="KSO_WM_TAG_VERSION" val="3.0"/>
  <p:tag name="KSO_WM_BEAUTIFY_FLAG" val="#wm#"/>
  <p:tag name="KSO_WM_UNIT_PRESET_TEXT" val="Your title here"/>
  <p:tag name="KSO_WM_UNIT_USESOURCEFORMAT_APPLY" val="1"/>
</p:tagLst>
</file>

<file path=ppt/tags/tag113.xml><?xml version="1.0" encoding="utf-8"?>
<p:tagLst xmlns:p="http://schemas.openxmlformats.org/presentationml/2006/main">
  <p:tag name="KSO_WM_UNIT_TEXT_FILL_TYPE" val="1"/>
  <p:tag name="KSO_WM_DIAGRAM_MAX_ITEMCNT" val="3"/>
  <p:tag name="KSO_WM_DIAGRAM_MIN_ITEMCNT" val="2"/>
  <p:tag name="KSO_WM_DIAGRAM_VIRTUALLY_FRAME" val="{&quot;height&quot;:420.7134979296105,&quot;left&quot;:12.810940495038631,&quot;top&quot;:92.30413986566501,&quot;width&quot;:450.063972099333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0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62_1*l_h_f*1_2_1"/>
  <p:tag name="KSO_WM_TEMPLATE_CATEGORY" val="diagram"/>
  <p:tag name="KSO_WM_TEMPLATE_INDEX" val="20237962"/>
  <p:tag name="KSO_WM_UNIT_LAYERLEVEL" val="1_1_1"/>
  <p:tag name="KSO_WM_TAG_VERSION" val="3.0"/>
  <p:tag name="KSO_WM_BEAUTIFY_FLAG" val="#wm#"/>
  <p:tag name="KSO_WM_UNIT_PRESET_TEXT" val="Presentations are communication tools that can be used as demonstrations, lectures, speeches, reports, and more."/>
  <p:tag name="KSO_WM_UNIT_USESOURCEFORMAT_APPLY" val="1"/>
</p:tagLst>
</file>

<file path=ppt/tags/tag114.xml><?xml version="1.0" encoding="utf-8"?>
<p:tagLst xmlns:p="http://schemas.openxmlformats.org/presentationml/2006/main">
  <p:tag name="KSO_WM_SPECIAL_SOURCE" val="bdnull"/>
  <p:tag name="KSO_WM_SLIDE_ID" val="custom20238389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3"/>
  <p:tag name="KSO_WM_SLIDE_INDEX" val="1"/>
  <p:tag name="KSO_WM_SLIDE_SIZE" val="374.403*308.631"/>
  <p:tag name="KSO_WM_SLIDE_POSITION" val="52.5506*167.592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8389"/>
  <p:tag name="KSO_WM_SLIDE_LAYOUT" val="a_α_l"/>
  <p:tag name="KSO_WM_SLIDE_LAYOUT_CNT" val="1_1_1"/>
</p:tagLst>
</file>

<file path=ppt/tags/tag11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1"/>
  <p:tag name="KSO_WM_UNIT_VALUE" val="29"/>
  <p:tag name="KSO_WM_TEMPLATE_INDEX" val="20238249"/>
  <p:tag name="KSO_WM_UNIT_ID" val="custom20238249_1*a*1"/>
  <p:tag name="KSO_WM_UNIT_PRESET_TEXT" val="Your title here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249_1*i*1"/>
  <p:tag name="KSO_WM_TEMPLATE_CATEGORY" val="custom"/>
  <p:tag name="KSO_WM_TEMPLATE_INDEX" val="20238249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17.xml><?xml version="1.0" encoding="utf-8"?>
<p:tagLst xmlns:p="http://schemas.openxmlformats.org/presentationml/2006/main">
  <p:tag name="KSO_WM_UNIT_VALUE" val="1233*87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249_1*d*1"/>
  <p:tag name="KSO_WM_TEMPLATE_CATEGORY" val="custom"/>
  <p:tag name="KSO_WM_TEMPLATE_INDEX" val="20238249"/>
  <p:tag name="KSO_WM_UNIT_LAYERLEVEL" val="1"/>
  <p:tag name="KSO_WM_TAG_VERSION" val="3.0"/>
  <p:tag name="KSO_WM_BEAUTIFY_FLAG" val="#wm#"/>
  <p:tag name="KSO_WM_UNIT_LINE_FORE_SCHEMECOLOR_INDEX" val="13"/>
  <p:tag name="KSO_WM_UNIT_LINE_FILL_TYPE" val="2"/>
  <p:tag name="KSO_WM_UNIT_SHADOW_SCHEMECOLOR_INDEX" val="13"/>
  <p:tag name="KSO_WM_UNIT_USESOURCEFORMAT_APPLY" val="1"/>
</p:tagLst>
</file>

<file path=ppt/tags/tag118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410.67165049154926,&quot;left&quot;:346.8,&quot;top&quot;:107.35,&quot;width&quot;:578.45}"/>
  <p:tag name="KSO_WM_DIAGRAM_COLOR_MATCH_VALUE" val="{&quot;shape&quot;:{&quot;fill&quot;:{&quot;solid&quot;:{&quot;brightness&quot;:0.6000000238418579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7924_1*l_h_i*1_1_2"/>
  <p:tag name="KSO_WM_TEMPLATE_CATEGORY" val="diagram"/>
  <p:tag name="KSO_WM_TEMPLATE_INDEX" val="20237924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.6"/>
  <p:tag name="KSO_WM_UNIT_TEXT_FILL_FORE_SCHEMECOLOR_INDEX" val="2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10.67165049154926,&quot;left&quot;:346.8,&quot;top&quot;:107.35,&quot;width&quot;:578.4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7924_1*l_h_i*1_1_1"/>
  <p:tag name="KSO_WM_TEMPLATE_CATEGORY" val="diagram"/>
  <p:tag name="KSO_WM_TEMPLATE_INDEX" val="20237924"/>
  <p:tag name="KSO_WM_UNIT_LAYERLEVEL" val="1_1_1"/>
  <p:tag name="KSO_WM_TAG_VERSION" val="3.0"/>
  <p:tag name="KSO_WM_BEAUTIFY_FLAG" val="#wm#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120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10.67165049154926,&quot;left&quot;:346.8,&quot;top&quot;:107.35,&quot;width&quot;:57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24_1*l_h_f*1_1_1"/>
  <p:tag name="KSO_WM_TEMPLATE_CATEGORY" val="diagram"/>
  <p:tag name="KSO_WM_TEMPLATE_INDEX" val="20237924"/>
  <p:tag name="KSO_WM_UNIT_LAYERLEVEL" val="1_1_1"/>
  <p:tag name="KSO_WM_TAG_VERSION" val="3.0"/>
  <p:tag name="KSO_WM_BEAUTIFY_FLAG" val="#wm#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10.67165049154926,&quot;left&quot;:346.8,&quot;top&quot;:107.35,&quot;width&quot;:57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24_1*l_h_a*1_1_1"/>
  <p:tag name="KSO_WM_TEMPLATE_CATEGORY" val="diagram"/>
  <p:tag name="KSO_WM_TEMPLATE_INDEX" val="20237924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UNIT_USESOURCEFORMAT_APPLY" val="1"/>
</p:tagLst>
</file>

<file path=ppt/tags/tag122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410.67165049154926,&quot;left&quot;:346.8,&quot;top&quot;:107.35,&quot;width&quot;:578.45}"/>
  <p:tag name="KSO_WM_DIAGRAM_COLOR_MATCH_VALUE" val="{&quot;shape&quot;:{&quot;fill&quot;:{&quot;solid&quot;:{&quot;brightness&quot;:0.6000000238418579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7924_1*l_h_i*1_2_2"/>
  <p:tag name="KSO_WM_TEMPLATE_CATEGORY" val="diagram"/>
  <p:tag name="KSO_WM_TEMPLATE_INDEX" val="20237924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.6"/>
  <p:tag name="KSO_WM_UNIT_TEXT_FILL_FORE_SCHEMECOLOR_INDEX" val="2"/>
  <p:tag name="KSO_WM_UNIT_TEXT_FILL_TYPE" val="1"/>
  <p:tag name="KSO_WM_UNIT_USESOURCEFORMAT_APPLY" val="1"/>
</p:tagLst>
</file>

<file path=ppt/tags/tag123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10.67165049154926,&quot;left&quot;:346.8,&quot;top&quot;:107.35,&quot;width&quot;:578.4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7924_1*l_h_i*1_2_1"/>
  <p:tag name="KSO_WM_TEMPLATE_CATEGORY" val="diagram"/>
  <p:tag name="KSO_WM_TEMPLATE_INDEX" val="20237924"/>
  <p:tag name="KSO_WM_UNIT_LAYERLEVEL" val="1_1_1"/>
  <p:tag name="KSO_WM_TAG_VERSION" val="3.0"/>
  <p:tag name="KSO_WM_BEAUTIFY_FLAG" val="#wm#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124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10.67165049154926,&quot;left&quot;:346.8,&quot;top&quot;:107.35,&quot;width&quot;:57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24_1*l_h_f*1_2_1"/>
  <p:tag name="KSO_WM_TEMPLATE_CATEGORY" val="diagram"/>
  <p:tag name="KSO_WM_TEMPLATE_INDEX" val="20237924"/>
  <p:tag name="KSO_WM_UNIT_LAYERLEVEL" val="1_1_1"/>
  <p:tag name="KSO_WM_TAG_VERSION" val="3.0"/>
  <p:tag name="KSO_WM_BEAUTIFY_FLAG" val="#wm#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UNIT_USESOURCEFORMAT_APPLY" val="1"/>
</p:tagLst>
</file>

<file path=ppt/tags/tag125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410.67165049154926,&quot;left&quot;:346.8,&quot;top&quot;:107.35,&quot;width&quot;:578.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24_1*l_h_a*1_2_1"/>
  <p:tag name="KSO_WM_TEMPLATE_CATEGORY" val="diagram"/>
  <p:tag name="KSO_WM_TEMPLATE_INDEX" val="20237924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UNIT_USESOURCEFORMAT_APPLY" val="1"/>
</p:tagLst>
</file>

<file path=ppt/tags/tag126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558.4*365.65"/>
  <p:tag name="KSO_WM_SLIDE_POSITION" val="346.8*107.375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249"/>
  <p:tag name="KSO_WM_TEMPLATE_SUBCATEGORY" val="0"/>
  <p:tag name="KSO_WM_SLIDE_INDEX" val="1"/>
  <p:tag name="KSO_WM_TAG_VERSION" val="3.0"/>
  <p:tag name="KSO_WM_SLIDE_ID" val="custom20238249_1"/>
  <p:tag name="KSO_WM_SLIDE_ITEM_CNT" val="3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BEAUTIFY_FLAG" val="#wm#"/>
  <p:tag name="KSO_WM_TEMPLATE_CATEGORY" val="custom"/>
  <p:tag name="KSO_WM_TEMPLATE_INDEX" val="20238324"/>
</p:tagLst>
</file>

<file path=ppt/tags/tag129.xml><?xml version="1.0" encoding="utf-8"?>
<p:tagLst xmlns:p="http://schemas.openxmlformats.org/presentationml/2006/main">
  <p:tag name="KSO_WM_UNIT_VALUE" val="1414*338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242_1*d*1"/>
  <p:tag name="KSO_WM_TEMPLATE_CATEGORY" val="custom"/>
  <p:tag name="KSO_WM_TEMPLATE_INDEX" val="20238242"/>
  <p:tag name="KSO_WM_UNIT_LAYERLEVEL" val="1"/>
  <p:tag name="KSO_WM_TAG_VERSION" val="3.0"/>
  <p:tag name="KSO_WM_BEAUTIFY_FLAG" val="#wm#"/>
  <p:tag name="KSO_WM_UNIT_LINE_FORE_SCHEMECOLOR_INDEX" val="1"/>
  <p:tag name="KSO_WM_UNIT_LINE_FILL_TYPE" val="2"/>
  <p:tag name="KSO_WM_UNIT_USESOURCEFORMAT_APPLY" val="1"/>
</p:tagLst>
</file>

<file path=ppt/tags/tag1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VALUE" val="14"/>
  <p:tag name="KSO_WM_TEMPLATE_INDEX" val="20238242"/>
  <p:tag name="KSO_WM_UNIT_ID" val="custom20238242_1*a*1"/>
  <p:tag name="KSO_WM_UNIT_TEXT_FILL_FORE_SCHEMECOLOR_INDEX" val="2"/>
  <p:tag name="KSO_WM_UNIT_TEXT_FILL_TYPE" val="1"/>
  <p:tag name="KSO_WM_UNIT_USESOURCEFORMAT_APPLY" val="1"/>
  <p:tag name="KSO_WM_UNIT_PRESET_TEXT" val="The title goes here"/>
</p:tagLst>
</file>

<file path=ppt/tags/tag131.xml><?xml version="1.0" encoding="utf-8"?>
<p:tagLst xmlns:p="http://schemas.openxmlformats.org/presentationml/2006/main">
  <p:tag name="KSO_WM_DIAGRAM_MAX_ITEMCNT" val="3"/>
  <p:tag name="KSO_WM_DIAGRAM_MIN_ITEMCNT" val="1"/>
  <p:tag name="KSO_WM_DIAGRAM_VIRTUALLY_FRAME" val="{&quot;height&quot;:254.95,&quot;left&quot;:55.59998779296875,&quot;top&quot;:268.05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37922_2*l_i*1_1"/>
  <p:tag name="KSO_WM_TEMPLATE_CATEGORY" val="diagram"/>
  <p:tag name="KSO_WM_TEMPLATE_INDEX" val="20237922"/>
  <p:tag name="KSO_WM_UNIT_LAYERLEVEL" val="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32.xml><?xml version="1.0" encoding="utf-8"?>
<p:tagLst xmlns:p="http://schemas.openxmlformats.org/presentationml/2006/main">
  <p:tag name="KSO_WM_DIAGRAM_MAX_ITEMCNT" val="3"/>
  <p:tag name="KSO_WM_DIAGRAM_MIN_ITEMCNT" val="1"/>
  <p:tag name="KSO_WM_DIAGRAM_VIRTUALLY_FRAME" val="{&quot;height&quot;:254.95,&quot;left&quot;:55.59998779296875,&quot;top&quot;:268.05,&quot;width&quot;:850.40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2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7922_2*l_h_i*1_2_1"/>
  <p:tag name="KSO_WM_TEMPLATE_CATEGORY" val="diagram"/>
  <p:tag name="KSO_WM_TEMPLATE_INDEX" val="20237922"/>
  <p:tag name="KSO_WM_UNIT_LAYERLEVEL" val="1_1_1"/>
  <p:tag name="KSO_WM_TAG_VERSION" val="3.0"/>
  <p:tag name="KSO_WM_BEAUTIFY_FLAG" val="#wm#"/>
  <p:tag name="KSO_WM_UNIT_LINE_FORE_SCHEMECOLOR_INDEX" val="2"/>
  <p:tag name="KSO_WM_UNIT_LINE_FILL_TYPE" val="2"/>
  <p:tag name="KSO_WM_UNIT_USESOURCEFORMAT_APPLY" val="1"/>
</p:tagLst>
</file>

<file path=ppt/tags/tag133.xml><?xml version="1.0" encoding="utf-8"?>
<p:tagLst xmlns:p="http://schemas.openxmlformats.org/presentationml/2006/main">
  <p:tag name="KSO_WM_UNIT_TEXT_FILL_FORE_SCHEMECOLOR_INDEX_BRIGHTNESS" val="0.15"/>
  <p:tag name="KSO_WM_DIAGRAM_MAX_ITEMCNT" val="3"/>
  <p:tag name="KSO_WM_DIAGRAM_MIN_ITEMCNT" val="1"/>
  <p:tag name="KSO_WM_DIAGRAM_VIRTUALLY_FRAME" val="{&quot;height&quot;:254.95,&quot;left&quot;:55.59998779296875,&quot;top&quot;:268.05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22_2*l_h_f*1_1_1"/>
  <p:tag name="KSO_WM_TEMPLATE_CATEGORY" val="diagram"/>
  <p:tag name="KSO_WM_TEMPLATE_INDEX" val="20237922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34.xml><?xml version="1.0" encoding="utf-8"?>
<p:tagLst xmlns:p="http://schemas.openxmlformats.org/presentationml/2006/main">
  <p:tag name="KSO_WM_UNIT_TEXT_FILL_FORE_SCHEMECOLOR_INDEX_BRIGHTNESS" val="0.15"/>
  <p:tag name="KSO_WM_DIAGRAM_MAX_ITEMCNT" val="3"/>
  <p:tag name="KSO_WM_DIAGRAM_MIN_ITEMCNT" val="1"/>
  <p:tag name="KSO_WM_DIAGRAM_VIRTUALLY_FRAME" val="{&quot;height&quot;:254.95,&quot;left&quot;:55.59998779296875,&quot;top&quot;:268.05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22_2*l_h_a*1_1_1"/>
  <p:tag name="KSO_WM_TEMPLATE_CATEGORY" val="diagram"/>
  <p:tag name="KSO_WM_TEMPLATE_INDEX" val="20237922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35.xml><?xml version="1.0" encoding="utf-8"?>
<p:tagLst xmlns:p="http://schemas.openxmlformats.org/presentationml/2006/main">
  <p:tag name="KSO_WM_UNIT_TEXT_FILL_FORE_SCHEMECOLOR_INDEX_BRIGHTNESS" val="0.15"/>
  <p:tag name="KSO_WM_DIAGRAM_MAX_ITEMCNT" val="3"/>
  <p:tag name="KSO_WM_DIAGRAM_MIN_ITEMCNT" val="1"/>
  <p:tag name="KSO_WM_DIAGRAM_VIRTUALLY_FRAME" val="{&quot;height&quot;:254.95,&quot;left&quot;:55.59998779296875,&quot;top&quot;:268.05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22_2*l_h_f*1_2_1"/>
  <p:tag name="KSO_WM_TEMPLATE_CATEGORY" val="diagram"/>
  <p:tag name="KSO_WM_TEMPLATE_INDEX" val="20237922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36.xml><?xml version="1.0" encoding="utf-8"?>
<p:tagLst xmlns:p="http://schemas.openxmlformats.org/presentationml/2006/main">
  <p:tag name="KSO_WM_UNIT_TEXT_FILL_FORE_SCHEMECOLOR_INDEX_BRIGHTNESS" val="0.15"/>
  <p:tag name="KSO_WM_DIAGRAM_MAX_ITEMCNT" val="3"/>
  <p:tag name="KSO_WM_DIAGRAM_MIN_ITEMCNT" val="1"/>
  <p:tag name="KSO_WM_DIAGRAM_VIRTUALLY_FRAME" val="{&quot;height&quot;:254.95,&quot;left&quot;:55.59998779296875,&quot;top&quot;:268.05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22_2*l_h_a*1_2_1"/>
  <p:tag name="KSO_WM_TEMPLATE_CATEGORY" val="diagram"/>
  <p:tag name="KSO_WM_TEMPLATE_INDEX" val="20237922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37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850.4*210.05"/>
  <p:tag name="KSO_WM_SLIDE_POSITION" val="55.6*268.05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242"/>
  <p:tag name="KSO_WM_TEMPLATE_SUBCATEGORY" val="0"/>
  <p:tag name="KSO_WM_SLIDE_INDEX" val="1"/>
  <p:tag name="KSO_WM_TAG_VERSION" val="3.0"/>
  <p:tag name="KSO_WM_SLIDE_ID" val="custom20238242_1"/>
  <p:tag name="KSO_WM_SLIDE_ITEM_CNT" val="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273_1*i*1"/>
  <p:tag name="KSO_WM_TEMPLATE_CATEGORY" val="custom"/>
  <p:tag name="KSO_WM_TEMPLATE_INDEX" val="20238273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39.xml><?xml version="1.0" encoding="utf-8"?>
<p:tagLst xmlns:p="http://schemas.openxmlformats.org/presentationml/2006/main">
  <p:tag name="KSO_WM_UNIT_VALUE" val="1903*178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273_1*d*1"/>
  <p:tag name="KSO_WM_TEMPLATE_CATEGORY" val="custom"/>
  <p:tag name="KSO_WM_TEMPLATE_INDEX" val="20238273"/>
  <p:tag name="KSO_WM_UNIT_LAYERLEVEL" val="1"/>
  <p:tag name="KSO_WM_TAG_VERSION" val="3.0"/>
  <p:tag name="KSO_WM_BEAUTIFY_FLAG" val="#wm#"/>
  <p:tag name="KSO_WM_UNIT_LINE_FORE_SCHEMECOLOR_INDEX" val="1"/>
  <p:tag name="KSO_WM_UNIT_LINE_FILL_TYPE" val="2"/>
  <p:tag name="KSO_WM_UNIT_USESOURCEFORMAT_APPLY" val="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8273_1*i*2"/>
  <p:tag name="KSO_WM_TEMPLATE_CATEGORY" val="custom"/>
  <p:tag name="KSO_WM_TEMPLATE_INDEX" val="20238273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4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273"/>
  <p:tag name="KSO_WM_UNIT_ID" val="custom20238273_1*a*1"/>
  <p:tag name="KSO_WM_UNIT_TEXT_FILL_FORE_SCHEMECOLOR_INDEX" val="13"/>
  <p:tag name="KSO_WM_UNIT_TEXT_FILL_TYPE" val="1"/>
  <p:tag name="KSO_WM_UNIT_USESOURCEFORMAT_APPLY" val="1"/>
  <p:tag name="KSO_WM_UNIT_PRESET_TEXT" val="Your title here"/>
</p:tagLst>
</file>

<file path=ppt/tags/tag142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89.9363779527559,&quot;left&quot;:377.21464582308073,&quot;top&quot;:113.24850393700788,&quot;width&quot;:574.665039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31_2*l_h_f*1_1_1"/>
  <p:tag name="KSO_WM_TEMPLATE_CATEGORY" val="diagram"/>
  <p:tag name="KSO_WM_TEMPLATE_INDEX" val="20237931"/>
  <p:tag name="KSO_WM_UNIT_LAYERLEVEL" val="1_1_1"/>
  <p:tag name="KSO_WM_TAG_VERSION" val="3.0"/>
  <p:tag name="KSO_WM_BEAUTIFY_FLAG" val="#wm#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UNIT_USESOURCEFORMAT_APPLY" val="1"/>
</p:tagLst>
</file>

<file path=ppt/tags/tag143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89.9363779527559,&quot;left&quot;:377.21464582308073,&quot;top&quot;:113.24850393700788,&quot;width&quot;:574.665039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31_2*l_h_a*1_1_1"/>
  <p:tag name="KSO_WM_TEMPLATE_CATEGORY" val="diagram"/>
  <p:tag name="KSO_WM_TEMPLATE_INDEX" val="20237931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44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89.9363779527559,&quot;left&quot;:377.21464582308073,&quot;top&quot;:113.24850393700788,&quot;width&quot;:574.665039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31_2*l_h_f*1_3_1"/>
  <p:tag name="KSO_WM_TEMPLATE_CATEGORY" val="diagram"/>
  <p:tag name="KSO_WM_TEMPLATE_INDEX" val="20237931"/>
  <p:tag name="KSO_WM_UNIT_LAYERLEVEL" val="1_1_1"/>
  <p:tag name="KSO_WM_TAG_VERSION" val="3.0"/>
  <p:tag name="KSO_WM_BEAUTIFY_FLAG" val="#wm#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UNIT_USESOURCEFORMAT_APPLY" val="1"/>
</p:tagLst>
</file>

<file path=ppt/tags/tag145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89.9363779527559,&quot;left&quot;:377.21464582308073,&quot;top&quot;:113.24850393700788,&quot;width&quot;:574.665039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7931_2*l_h_a*1_3_1"/>
  <p:tag name="KSO_WM_TEMPLATE_CATEGORY" val="diagram"/>
  <p:tag name="KSO_WM_TEMPLATE_INDEX" val="20237931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46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89.9363779527559,&quot;left&quot;:377.21464582308073,&quot;top&quot;:113.24850393700788,&quot;width&quot;:574.665039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31_2*l_h_f*1_2_1"/>
  <p:tag name="KSO_WM_TEMPLATE_CATEGORY" val="diagram"/>
  <p:tag name="KSO_WM_TEMPLATE_INDEX" val="20237931"/>
  <p:tag name="KSO_WM_UNIT_LAYERLEVEL" val="1_1_1"/>
  <p:tag name="KSO_WM_TAG_VERSION" val="3.0"/>
  <p:tag name="KSO_WM_BEAUTIFY_FLAG" val="#wm#"/>
  <p:tag name="KSO_WM_UNIT_PRESET_TEXT" val="Presentations are communication tools that can be used as demonstrations, lectures, speeches, reports, and more."/>
  <p:tag name="KSO_WM_UNIT_TEXT_FILL_FORE_SCHEMECOLOR_INDEX" val="1"/>
  <p:tag name="KSO_WM_UNIT_TEXT_FILL_TYPE" val="1"/>
  <p:tag name="KSO_WM_UNIT_USESOURCEFORMAT_APPLY" val="1"/>
</p:tagLst>
</file>

<file path=ppt/tags/tag147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389.9363779527559,&quot;left&quot;:377.21464582308073,&quot;top&quot;:113.24850393700788,&quot;width&quot;:574.665039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2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31_2*l_h_a*1_2_1"/>
  <p:tag name="KSO_WM_TEMPLATE_CATEGORY" val="diagram"/>
  <p:tag name="KSO_WM_TEMPLATE_INDEX" val="20237931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48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LAYOUT" val="a_d_l"/>
  <p:tag name="KSO_WM_SLIDE_LAYOUT_CNT" val="1_1_1"/>
  <p:tag name="KSO_WM_SPECIAL_SOURCE" val="bdnull"/>
  <p:tag name="KSO_WM_SLIDE_TYPE" val="text"/>
  <p:tag name="KSO_WM_SLIDE_SIZE" val="518.283*326.843"/>
  <p:tag name="KSO_WM_SLIDE_POSITION" val="405.408*176.273"/>
  <p:tag name="KSO_WM_ASSIST_SLIDE" val="1"/>
  <p:tag name="KSO_WM_DIAGRAM_GROUP_CODE" val="l1-1"/>
  <p:tag name="KSO_WM_SLIDE_DIAGTYPE" val="l"/>
  <p:tag name="KSO_WM_SLIDE_SUBTYPE" val="picTxt"/>
  <p:tag name="KSO_WM_TEMPLATE_INDEX" val="20238273"/>
  <p:tag name="KSO_WM_TEMPLATE_SUBCATEGORY" val="0"/>
  <p:tag name="KSO_WM_SLIDE_INDEX" val="1"/>
  <p:tag name="KSO_WM_TAG_VERSION" val="3.0"/>
  <p:tag name="KSO_WM_SLIDE_ID" val="custom20238273_1"/>
  <p:tag name="KSO_WM_SLIDE_ITEM_CN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324_1*i*1"/>
  <p:tag name="KSO_WM_TEMPLATE_CATEGORY" val="custom"/>
  <p:tag name="KSO_WM_TEMPLATE_INDEX" val="20238324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5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324"/>
  <p:tag name="KSO_WM_UNIT_ID" val="custom20238324_1*a*1"/>
  <p:tag name="KSO_WM_UNIT_USESOURCEFORMAT_APPLY" val="1"/>
  <p:tag name="KSO_WM_UNIT_PRESET_TEXT" val="The title goes here"/>
</p:tagLst>
</file>

<file path=ppt/tags/tag151.xml><?xml version="1.0" encoding="utf-8"?>
<p:tagLst xmlns:p="http://schemas.openxmlformats.org/presentationml/2006/main">
  <p:tag name="KSO_WM_DIAGRAM_MAX_ITEMCNT" val="5"/>
  <p:tag name="KSO_WM_DIAGRAM_MIN_ITEMCNT" val="1"/>
  <p:tag name="KSO_WM_DIAGRAM_VIRTUALLY_FRAME" val="{&quot;height&quot;:434.76978023830964,&quot;left&quot;:8.125039370078593,&quot;top&quot;:105.70005069421953,&quot;width&quot;:939.77496062992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47_3*l_h_a*1_1_1"/>
  <p:tag name="KSO_WM_TEMPLATE_CATEGORY" val="diagram"/>
  <p:tag name="KSO_WM_TEMPLATE_INDEX" val="2023794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52.xml><?xml version="1.0" encoding="utf-8"?>
<p:tagLst xmlns:p="http://schemas.openxmlformats.org/presentationml/2006/main">
  <p:tag name="KSO_WM_DIAGRAM_MAX_ITEMCNT" val="5"/>
  <p:tag name="KSO_WM_DIAGRAM_MIN_ITEMCNT" val="1"/>
  <p:tag name="KSO_WM_DIAGRAM_VIRTUALLY_FRAME" val="{&quot;height&quot;:434.76978023830964,&quot;left&quot;:8.125039370078593,&quot;top&quot;:105.70005069421953,&quot;width&quot;:939.77496062992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47_3*l_h_f*1_1_1"/>
  <p:tag name="KSO_WM_TEMPLATE_CATEGORY" val="diagram"/>
  <p:tag name="KSO_WM_TEMPLATE_INDEX" val="20237947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53.xml><?xml version="1.0" encoding="utf-8"?>
<p:tagLst xmlns:p="http://schemas.openxmlformats.org/presentationml/2006/main">
  <p:tag name="KSO_WM_DIAGRAM_MAX_ITEMCNT" val="5"/>
  <p:tag name="KSO_WM_DIAGRAM_MIN_ITEMCNT" val="1"/>
  <p:tag name="KSO_WM_DIAGRAM_VIRTUALLY_FRAME" val="{&quot;height&quot;:434.76978023830964,&quot;left&quot;:8.125039370078593,&quot;top&quot;:105.70005069421953,&quot;width&quot;:939.77496062992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47_3*l_h_a*1_2_1"/>
  <p:tag name="KSO_WM_TEMPLATE_CATEGORY" val="diagram"/>
  <p:tag name="KSO_WM_TEMPLATE_INDEX" val="2023794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54.xml><?xml version="1.0" encoding="utf-8"?>
<p:tagLst xmlns:p="http://schemas.openxmlformats.org/presentationml/2006/main">
  <p:tag name="KSO_WM_DIAGRAM_MAX_ITEMCNT" val="5"/>
  <p:tag name="KSO_WM_DIAGRAM_MIN_ITEMCNT" val="1"/>
  <p:tag name="KSO_WM_DIAGRAM_VIRTUALLY_FRAME" val="{&quot;height&quot;:434.76978023830964,&quot;left&quot;:8.125039370078593,&quot;top&quot;:105.70005069421953,&quot;width&quot;:939.77496062992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8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47_3*l_h_f*1_2_1"/>
  <p:tag name="KSO_WM_TEMPLATE_CATEGORY" val="diagram"/>
  <p:tag name="KSO_WM_TEMPLATE_INDEX" val="20237947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55.xml><?xml version="1.0" encoding="utf-8"?>
<p:tagLst xmlns:p="http://schemas.openxmlformats.org/presentationml/2006/main">
  <p:tag name="KSO_WM_DIAGRAM_MAX_ITEMCNT" val="5"/>
  <p:tag name="KSO_WM_DIAGRAM_MIN_ITEMCNT" val="1"/>
  <p:tag name="KSO_WM_DIAGRAM_VIRTUALLY_FRAME" val="{&quot;height&quot;:434.76978023830964,&quot;left&quot;:8.125039370078593,&quot;top&quot;:105.70005069421953,&quot;width&quot;:939.77496062992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7947_3*l_h_a*1_3_1"/>
  <p:tag name="KSO_WM_TEMPLATE_CATEGORY" val="diagram"/>
  <p:tag name="KSO_WM_TEMPLATE_INDEX" val="2023794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56.xml><?xml version="1.0" encoding="utf-8"?>
<p:tagLst xmlns:p="http://schemas.openxmlformats.org/presentationml/2006/main">
  <p:tag name="KSO_WM_DIAGRAM_MAX_ITEMCNT" val="5"/>
  <p:tag name="KSO_WM_DIAGRAM_MIN_ITEMCNT" val="1"/>
  <p:tag name="KSO_WM_DIAGRAM_VIRTUALLY_FRAME" val="{&quot;height&quot;:434.76978023830964,&quot;left&quot;:8.125039370078593,&quot;top&quot;:105.70005069421953,&quot;width&quot;:939.77496062992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8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47_3*l_h_f*1_3_1"/>
  <p:tag name="KSO_WM_TEMPLATE_CATEGORY" val="diagram"/>
  <p:tag name="KSO_WM_TEMPLATE_INDEX" val="20237947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57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850.25*180.95"/>
  <p:tag name="KSO_WM_SLIDE_POSITION" val="52.85*301.65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324"/>
  <p:tag name="KSO_WM_TEMPLATE_SUBCATEGORY" val="0"/>
  <p:tag name="KSO_WM_SLIDE_INDEX" val="1"/>
  <p:tag name="KSO_WM_TAG_VERSION" val="3.0"/>
  <p:tag name="KSO_WM_SLIDE_ID" val="custom20238324_1"/>
  <p:tag name="KSO_WM_SLIDE_ITEM_CNT" val="3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324_1*i*1"/>
  <p:tag name="KSO_WM_TEMPLATE_CATEGORY" val="custom"/>
  <p:tag name="KSO_WM_TEMPLATE_INDEX" val="20238324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324"/>
  <p:tag name="KSO_WM_UNIT_ID" val="custom20238324_1*a*1"/>
  <p:tag name="KSO_WM_UNIT_USESOURCEFORMAT_APPLY" val="1"/>
  <p:tag name="KSO_WM_UNIT_PRESET_TEXT" val="The title goes here"/>
</p:tagLst>
</file>

<file path=ppt/tags/tag160.xml><?xml version="1.0" encoding="utf-8"?>
<p:tagLst xmlns:p="http://schemas.openxmlformats.org/presentationml/2006/main">
  <p:tag name="KSO_WM_DIAGRAM_MAX_ITEMCNT" val="5"/>
  <p:tag name="KSO_WM_DIAGRAM_MIN_ITEMCNT" val="1"/>
  <p:tag name="KSO_WM_DIAGRAM_VIRTUALLY_FRAME" val="{&quot;height&quot;:484.95,&quot;left&quot;:21.591014515704774,&quot;top&quot;:58.75,&quot;width&quot;:938.39520595673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47_3*l_h_a*1_2_1"/>
  <p:tag name="KSO_WM_TEMPLATE_CATEGORY" val="diagram"/>
  <p:tag name="KSO_WM_TEMPLATE_INDEX" val="2023794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61.xml><?xml version="1.0" encoding="utf-8"?>
<p:tagLst xmlns:p="http://schemas.openxmlformats.org/presentationml/2006/main">
  <p:tag name="KSO_WM_DIAGRAM_MAX_ITEMCNT" val="5"/>
  <p:tag name="KSO_WM_DIAGRAM_MIN_ITEMCNT" val="1"/>
  <p:tag name="KSO_WM_DIAGRAM_VIRTUALLY_FRAME" val="{&quot;height&quot;:484.95,&quot;left&quot;:21.591014515704774,&quot;top&quot;:58.75,&quot;width&quot;:938.39520595673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8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47_3*l_h_f*1_2_1"/>
  <p:tag name="KSO_WM_TEMPLATE_CATEGORY" val="diagram"/>
  <p:tag name="KSO_WM_TEMPLATE_INDEX" val="20237947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62.xml><?xml version="1.0" encoding="utf-8"?>
<p:tagLst xmlns:p="http://schemas.openxmlformats.org/presentationml/2006/main">
  <p:tag name="KSO_WM_DIAGRAM_MAX_ITEMCNT" val="5"/>
  <p:tag name="KSO_WM_DIAGRAM_MIN_ITEMCNT" val="1"/>
  <p:tag name="KSO_WM_DIAGRAM_VIRTUALLY_FRAME" val="{&quot;height&quot;:484.95,&quot;left&quot;:21.591014515704774,&quot;top&quot;:58.75,&quot;width&quot;:938.39520595673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7947_3*l_h_a*1_3_1"/>
  <p:tag name="KSO_WM_TEMPLATE_CATEGORY" val="diagram"/>
  <p:tag name="KSO_WM_TEMPLATE_INDEX" val="2023794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63.xml><?xml version="1.0" encoding="utf-8"?>
<p:tagLst xmlns:p="http://schemas.openxmlformats.org/presentationml/2006/main">
  <p:tag name="KSO_WM_DIAGRAM_MAX_ITEMCNT" val="5"/>
  <p:tag name="KSO_WM_DIAGRAM_MIN_ITEMCNT" val="1"/>
  <p:tag name="KSO_WM_DIAGRAM_VIRTUALLY_FRAME" val="{&quot;height&quot;:484.95,&quot;left&quot;:21.591014515704774,&quot;top&quot;:58.75,&quot;width&quot;:938.39520595673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8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47_3*l_h_f*1_3_1"/>
  <p:tag name="KSO_WM_TEMPLATE_CATEGORY" val="diagram"/>
  <p:tag name="KSO_WM_TEMPLATE_INDEX" val="20237947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64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850.25*180.95"/>
  <p:tag name="KSO_WM_SLIDE_POSITION" val="52.85*301.65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324"/>
  <p:tag name="KSO_WM_TEMPLATE_SUBCATEGORY" val="0"/>
  <p:tag name="KSO_WM_SLIDE_INDEX" val="1"/>
  <p:tag name="KSO_WM_TAG_VERSION" val="3.0"/>
  <p:tag name="KSO_WM_SLIDE_ID" val="custom20238324_1"/>
  <p:tag name="KSO_WM_SLIDE_ITEM_CNT" val="3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DIAGRAM_MAX_ITEMCNT" val="5"/>
  <p:tag name="KSO_WM_DIAGRAM_MIN_ITEMCNT" val="1"/>
  <p:tag name="KSO_WM_DIAGRAM_VIRTUALLY_FRAME" val="{&quot;height&quot;:484.95,&quot;left&quot;:21.591014515704774,&quot;top&quot;:58.75,&quot;width&quot;:938.39520123363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47_3*l_h_a*1_2_1"/>
  <p:tag name="KSO_WM_TEMPLATE_CATEGORY" val="diagram"/>
  <p:tag name="KSO_WM_TEMPLATE_INDEX" val="20237947"/>
  <p:tag name="KSO_WM_UNIT_LAYERLEVEL" val="1_1_1"/>
  <p:tag name="KSO_WM_TAG_VERSION" val="3.0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67.xml><?xml version="1.0" encoding="utf-8"?>
<p:tagLst xmlns:p="http://schemas.openxmlformats.org/presentationml/2006/main">
  <p:tag name="KSO_WM_DIAGRAM_MAX_ITEMCNT" val="5"/>
  <p:tag name="KSO_WM_DIAGRAM_MIN_ITEMCNT" val="1"/>
  <p:tag name="KSO_WM_DIAGRAM_VIRTUALLY_FRAME" val="{&quot;height&quot;:484.95,&quot;left&quot;:21.591014515704774,&quot;top&quot;:58.75,&quot;width&quot;:938.39520123363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7947_3*l_h_a*1_3_1"/>
  <p:tag name="KSO_WM_TEMPLATE_CATEGORY" val="diagram"/>
  <p:tag name="KSO_WM_TEMPLATE_INDEX" val="20237947"/>
  <p:tag name="KSO_WM_UNIT_LAYERLEVEL" val="1_1_1"/>
  <p:tag name="KSO_WM_TAG_VERSION" val="3.0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68.xml><?xml version="1.0" encoding="utf-8"?>
<p:tagLst xmlns:p="http://schemas.openxmlformats.org/presentationml/2006/main">
  <p:tag name="KSO_WM_BEAUTIFY_FLAG" val="#wm#"/>
  <p:tag name="KSO_WM_TEMPLATE_CATEGORY" val="custom"/>
  <p:tag name="KSO_WM_TEMPLATE_INDEX" val="20238324"/>
</p:tagLst>
</file>

<file path=ppt/tags/tag169.xml><?xml version="1.0" encoding="utf-8"?>
<p:tagLst xmlns:p="http://schemas.openxmlformats.org/presentationml/2006/main">
  <p:tag name="KSO_WM_UNIT_VALUE" val="1900*20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409_1*d*1"/>
  <p:tag name="KSO_WM_TEMPLATE_CATEGORY" val="custom"/>
  <p:tag name="KSO_WM_TEMPLATE_INDEX" val="20238409"/>
  <p:tag name="KSO_WM_UNIT_LAYERLEVEL" val="1"/>
  <p:tag name="KSO_WM_TAG_VERSION" val="3.0"/>
  <p:tag name="KSO_WM_BEAUTIFY_FLAG" val="#wm#"/>
  <p:tag name="KSO_WM_UNIT_LINE_FORE_SCHEMECOLOR_INDEX" val="5"/>
  <p:tag name="KSO_WM_UNIT_LINE_FILL_TYPE" val="2"/>
  <p:tag name="KSO_WM_UNIT_USESOURCEFORMAT_APPLY" val="1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409_1*i*1"/>
  <p:tag name="KSO_WM_TEMPLATE_CATEGORY" val="custom"/>
  <p:tag name="KSO_WM_TEMPLATE_INDEX" val="20238409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8409_1*a*1"/>
  <p:tag name="KSO_WM_TEMPLATE_CATEGORY" val="custom"/>
  <p:tag name="KSO_WM_TEMPLATE_INDEX" val="20238409"/>
  <p:tag name="KSO_WM_UNIT_LAYERLEVEL" val="1"/>
  <p:tag name="KSO_WM_TAG_VERSION" val="3.0"/>
  <p:tag name="KSO_WM_BEAUTIFY_FLAG" val="#wm#"/>
  <p:tag name="KSO_WM_UNIT_PRESET_TEXT" val="The title goes here"/>
  <p:tag name="KSO_WM_UNIT_TEXT_FILL_FORE_SCHEMECOLOR_INDEX" val="13"/>
  <p:tag name="KSO_WM_UNIT_TEXT_FILL_TYPE" val="1"/>
  <p:tag name="KSO_WM_UNIT_USESOURCEFORMAT_APPLY" val="1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8409_1*i*2"/>
  <p:tag name="KSO_WM_TEMPLATE_CATEGORY" val="custom"/>
  <p:tag name="KSO_WM_TEMPLATE_INDEX" val="20238409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3"/>
  <p:tag name="KSO_WM_UNIT_ID" val="custom20238409_1*i*3"/>
  <p:tag name="KSO_WM_TEMPLATE_CATEGORY" val="custom"/>
  <p:tag name="KSO_WM_TEMPLATE_INDEX" val="20238409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74.xml><?xml version="1.0" encoding="utf-8"?>
<p:tagLst xmlns:p="http://schemas.openxmlformats.org/presentationml/2006/main">
  <p:tag name="KSO_WM_SLIDE_ID" val="custom20238409_1"/>
  <p:tag name="KSO_WM_TEMPLATE_SUBCATEGORY" val="0"/>
  <p:tag name="KSO_WM_TEMPLATE_MASTER_TYPE" val="0"/>
  <p:tag name="KSO_WM_TEMPLATE_COLOR_TYPE" val="0"/>
  <p:tag name="KSO_WM_SLIDE_ITEM_CNT" val="1"/>
  <p:tag name="KSO_WM_SLIDE_INDEX" val="1"/>
  <p:tag name="KSO_WM_TAG_VERSION" val="3.0"/>
  <p:tag name="KSO_WM_BEAUTIFY_FLAG" val="#wm#"/>
  <p:tag name="KSO_WM_TEMPLATE_CATEGORY" val="custom"/>
  <p:tag name="KSO_WM_TEMPLATE_INDEX" val="20238409"/>
  <p:tag name="KSO_WM_SLIDE_TYPE" val="text"/>
  <p:tag name="KSO_WM_SLIDE_SUBTYPE" val="picTxt"/>
  <p:tag name="KSO_WM_SLIDE_SIZE" val="302.69*207.137"/>
  <p:tag name="KSO_WM_SLIDE_POSITION" val="579.205*225.282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8245_1*a*1"/>
  <p:tag name="KSO_WM_TEMPLATE_CATEGORY" val="custom"/>
  <p:tag name="KSO_WM_TEMPLATE_INDEX" val="2023824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3*l_h_d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682"/>
  <p:tag name="KSO_WM_UNIT_TYPE" val="l_h_d"/>
  <p:tag name="KSO_WM_UNIT_INDEX" val="1_2_1"/>
  <p:tag name="KSO_WM_DIAGRAM_MAX_ITEMCNT" val="4"/>
  <p:tag name="KSO_WM_DIAGRAM_MIN_ITEMCNT" val="2"/>
  <p:tag name="KSO_WM_DIAGRAM_VIRTUALLY_FRAME" val="{&quot;height&quot;:382.094970703125,&quot;left&quot;:54.41803149606299,&quot;top&quot;:107.08389260119338,&quot;width&quot;:851.1140208615282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1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3*l_h_d*1_4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682"/>
  <p:tag name="KSO_WM_UNIT_TYPE" val="l_h_d"/>
  <p:tag name="KSO_WM_UNIT_INDEX" val="1_4_1"/>
  <p:tag name="KSO_WM_DIAGRAM_MAX_ITEMCNT" val="4"/>
  <p:tag name="KSO_WM_DIAGRAM_MIN_ITEMCNT" val="2"/>
  <p:tag name="KSO_WM_DIAGRAM_VIRTUALLY_FRAME" val="{&quot;height&quot;:382.094970703125,&quot;left&quot;:54.41803149606299,&quot;top&quot;:107.08389260119338,&quot;width&quot;:851.1140208615282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1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3*l_h_d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682"/>
  <p:tag name="KSO_WM_UNIT_TYPE" val="l_h_d"/>
  <p:tag name="KSO_WM_UNIT_INDEX" val="1_1_1"/>
  <p:tag name="KSO_WM_DIAGRAM_MAX_ITEMCNT" val="4"/>
  <p:tag name="KSO_WM_DIAGRAM_MIN_ITEMCNT" val="2"/>
  <p:tag name="KSO_WM_DIAGRAM_VIRTUALLY_FRAME" val="{&quot;height&quot;:382.094970703125,&quot;left&quot;:54.41803149606299,&quot;top&quot;:107.08389260119338,&quot;width&quot;:851.1140208615282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1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3*l_h_d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682"/>
  <p:tag name="KSO_WM_UNIT_TYPE" val="l_h_d"/>
  <p:tag name="KSO_WM_UNIT_INDEX" val="1_3_1"/>
  <p:tag name="KSO_WM_DIAGRAM_MAX_ITEMCNT" val="4"/>
  <p:tag name="KSO_WM_DIAGRAM_MIN_ITEMCNT" val="2"/>
  <p:tag name="KSO_WM_DIAGRAM_VIRTUALLY_FRAME" val="{&quot;height&quot;:382.094970703125,&quot;left&quot;:54.41803149606299,&quot;top&quot;:107.08389260119338,&quot;width&quot;:851.1140208615282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1"/>
</p:tagLst>
</file>

<file path=ppt/tags/tag18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251_3*l_h_i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left&quot;:54.41803149606299,&quot;top&quot;:107.08389260119338,&quot;width&quot;:851.1140208615282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1"/>
</p:tagLst>
</file>

<file path=ppt/tags/tag18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51_3*l_h_f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left&quot;:54.41803149606299,&quot;top&quot;:107.08389260119338,&quot;width&quot;:851.11402086152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251_3*l_h_a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left&quot;:54.41803149606299,&quot;top&quot;:107.08389260119338,&quot;width&quot;:851.11402086152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8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251_3*l_h_i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left&quot;:54.41803149606299,&quot;top&quot;:107.08389260119338,&quot;width&quot;:851.1140208615282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1"/>
</p:tagLst>
</file>

<file path=ppt/tags/tag18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51_3*l_h_f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left&quot;:54.41803149606299,&quot;top&quot;:107.08389260119338,&quot;width&quot;:851.11402086152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251_3*l_h_a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left&quot;:54.41803149606299,&quot;top&quot;:107.08389260119338,&quot;width&quot;:851.11402086152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8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251_3*l_h_i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left&quot;:54.41803149606299,&quot;top&quot;:107.08389260119338,&quot;width&quot;:851.1140208615282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1"/>
</p:tagLst>
</file>

<file path=ppt/tags/tag18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51_3*l_h_f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left&quot;:54.41803149606299,&quot;top&quot;:107.08389260119338,&quot;width&quot;:851.11402086152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8251_3*l_h_a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left&quot;:54.41803149606299,&quot;top&quot;:107.08389260119338,&quot;width&quot;:851.11402086152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8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8251_3*l_h_i*1_4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left&quot;:54.41803149606299,&quot;top&quot;:107.08389260119338,&quot;width&quot;:851.1140208615282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1"/>
</p:tagLst>
</file>

<file path=ppt/tags/tag19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251_3*l_h_f*1_4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left&quot;:54.41803149606299,&quot;top&quot;:107.08389260119338,&quot;width&quot;:851.11402086152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9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8251_3*l_h_a*1_4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left&quot;:54.41803149606299,&quot;top&quot;:107.08389260119338,&quot;width&quot;:851.114020861528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92.xml><?xml version="1.0" encoding="utf-8"?>
<p:tagLst xmlns:p="http://schemas.openxmlformats.org/presentationml/2006/main">
  <p:tag name="KSO_WM_SLIDE_ID" val="custom20238245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8245"/>
  <p:tag name="KSO_WM_SLIDE_TYPE" val="text"/>
  <p:tag name="KSO_WM_SLIDE_SUBTYPE" val="picTxt"/>
  <p:tag name="KSO_WM_SLIDE_SIZE" val="850.448*382.064"/>
  <p:tag name="KSO_WM_SLIDE_POSITION" val="54.7493*107.09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9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7980_9*a*1"/>
  <p:tag name="KSO_WM_TEMPLATE_CATEGORY" val="custom"/>
  <p:tag name="KSO_WM_TEMPLATE_INDEX" val="20237980"/>
  <p:tag name="KSO_WM_UNIT_LAYERLEVEL" val="1"/>
  <p:tag name="KSO_WM_TAG_VERSION" val="3.0"/>
  <p:tag name="KSO_WM_BEAUTIFY_FLAG" val="#wm#"/>
  <p:tag name="KSO_WM_UNIT_PRESET_TEXT" val="THANK YOU"/>
</p:tagLst>
</file>

<file path=ppt/tags/tag194.xml><?xml version="1.0" encoding="utf-8"?>
<p:tagLst xmlns:p="http://schemas.openxmlformats.org/presentationml/2006/main">
  <p:tag name="KSO_WM_SLIDE_CONTENT_AREA" val="{&quot;left&quot;:&quot;353.6&quot;,&quot;top&quot;:&quot;80.55&quot;,&quot;width&quot;:&quot;587.55&quot;,&quot;height&quot;:&quot;362.5&quot;}"/>
  <p:tag name="KSO_WM_SPECIAL_SOURCE" val="bdnull"/>
  <p:tag name="KSO_WM_SLIDE_ID" val="custom20237980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7980"/>
  <p:tag name="KSO_WM_SLIDE_LAYOUT" val="a_f"/>
  <p:tag name="KSO_WM_SLIDE_LAYOUT_CNT" val="1_1"/>
</p:tagLst>
</file>

<file path=ppt/tags/tag195.xml><?xml version="1.0" encoding="utf-8"?>
<p:tagLst xmlns:p="http://schemas.openxmlformats.org/presentationml/2006/main">
  <p:tag name="resource_record_key" val="{&quot;65&quot;:[20238324],&quot;70&quot;:[3322162,3322150,3322340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82">
      <a:dk1>
        <a:sysClr val="windowText" lastClr="000000"/>
      </a:dk1>
      <a:lt1>
        <a:sysClr val="window" lastClr="FFFFFF"/>
      </a:lt1>
      <a:dk2>
        <a:srgbClr val="103F48"/>
      </a:dk2>
      <a:lt2>
        <a:srgbClr val="F4FCFE"/>
      </a:lt2>
      <a:accent1>
        <a:srgbClr val="11869C"/>
      </a:accent1>
      <a:accent2>
        <a:srgbClr val="287FB0"/>
      </a:accent2>
      <a:accent3>
        <a:srgbClr val="3F77C4"/>
      </a:accent3>
      <a:accent4>
        <a:srgbClr val="5570D7"/>
      </a:accent4>
      <a:accent5>
        <a:srgbClr val="6C68EB"/>
      </a:accent5>
      <a:accent6>
        <a:srgbClr val="8361FF"/>
      </a:accent6>
      <a:hlink>
        <a:srgbClr val="0563C1"/>
      </a:hlink>
      <a:folHlink>
        <a:srgbClr val="954D72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6722</Words>
  <Application>WPS Presentation</Application>
  <PresentationFormat>Widescreen</PresentationFormat>
  <Paragraphs>400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SimSun</vt:lpstr>
      <vt:lpstr>Wingdings</vt:lpstr>
      <vt:lpstr>MiSans Normal</vt:lpstr>
      <vt:lpstr>Wingdings</vt:lpstr>
      <vt:lpstr>Franklin Gothic Book</vt:lpstr>
      <vt:lpstr>Lucida Bright</vt:lpstr>
      <vt:lpstr>Algerian</vt:lpstr>
      <vt:lpstr>Calibri</vt:lpstr>
      <vt:lpstr>Microsoft YaHei</vt:lpstr>
      <vt:lpstr>Arial Unicode MS</vt:lpstr>
      <vt:lpstr>Calibri Light</vt:lpstr>
      <vt:lpstr>Inter</vt:lpstr>
      <vt:lpstr>Segoe Print</vt:lpstr>
      <vt:lpstr>Office Theme</vt:lpstr>
      <vt:lpstr>1_Office Theme</vt:lpstr>
      <vt:lpstr>Hospital Operations &amp; Patient Flow Performance Dashboard</vt:lpstr>
      <vt:lpstr>Business Problem &amp; Objectives</vt:lpstr>
      <vt:lpstr>Dataset Overview – Hospital Management (Public Dataset- Kaggle)</vt:lpstr>
      <vt:lpstr>Data Model (Star Schema)</vt:lpstr>
      <vt:lpstr>Key DAX Measures</vt:lpstr>
      <vt:lpstr>Key DAX Measures</vt:lpstr>
      <vt:lpstr>Data Preparation (Power Query Editor)</vt:lpstr>
      <vt:lpstr>Role-Based Access Control (RLS) – Doctors &amp; Patients</vt:lpstr>
      <vt:lpstr>Executive Overview – Hospital Performance</vt:lpstr>
      <vt:lpstr>  Patient Flow &amp; Treatment Analysise Overview – Hospital Performance</vt:lpstr>
      <vt:lpstr>  Doctor &amp; Revenue Performance</vt:lpstr>
      <vt:lpstr>PowerPoint 演示文稿</vt:lpstr>
      <vt:lpstr>Why This Project? | Value | Impact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sree</dc:creator>
  <cp:lastModifiedBy>indhu mathi</cp:lastModifiedBy>
  <cp:revision>30</cp:revision>
  <dcterms:created xsi:type="dcterms:W3CDTF">2025-07-23T00:59:00Z</dcterms:created>
  <dcterms:modified xsi:type="dcterms:W3CDTF">2065-01-05T19:16:14Z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E1CBB73639C54C2CBFB9A3666D1C26EE_13</vt:lpwstr>
  </property>
  <property fmtid="{D5CDD505-2E9C-101B-9397-08002B2CF9AE}" pid="3" name="KSOProductBuildVer">
    <vt:lpwstr>1033-12.2.0.23155</vt:lpwstr>
  </property>
</Properties>
</file>